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pending merge: #126, which vendors the Kotlin grammar (PR #126 body: "vendored fwcd/tree-sitter-kotlin grammar"). Without #126 the count is 23.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pending merge: #126 (PR body: "Adds Kotlin (.kt) language support: vendored fwcd/tree-sitter-kotlin grammar"). Without #126: 23 (commit 680a0a3d) and no Kotlin.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766913d0. Merge dates read with gh: #83 2026-09-09, #92 2026-09-10, #106 (merge commit 6f91fed2) 2026-09-10, #127 and #134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pending merge: #126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pending with it.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PENDING MERGE: #135, #136, #126. This whole slide comes from its own commit. Keep it only once all three PRs have landed (or drop the card whose PR missed the release), and re-check every figure below against the merged PR.
ONE MISSING SEMICOLON — pending merge: #135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22% DECLINED IN SILENCE — pending merge: #136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 NEW LANGUAGE MUST NOT CHANGE OLD ANSWERS — pending merge: #126 (Kotlin; PR author xCatG):
- Commit 201ca038: “the PR #126 review found the decline on retrofit, where Response.body's callers fell from 279 to 5 once same-named Kotlin body() methods were indexed. That number belongs to #126's Kotlin binary.”
- The draft 0.6.0 CHANGELOG, from the coordinator's brief on the maintainer fixes: “retrofit, a mixed Java and Kotlin tree: Response.java:body keeps its 279 callers”; “a call reaches the other JVM language only when its own language has no candidate”; “Gate: test/kotlincheck.sh, written red first: 28 of its 48 arms fail on main.”
- The coordinator's brief for this deck: “fixed back to 279, with the invariant that adding .kt never changes a Java-only edge”.
- PR #126 body: “a JVM interop bridge that resolves Kotlin↔Java calls bidirectionally”.
- CAVEAT: PR #126's head (1e21943a) body does not carry the 279 figures or the 28-of-48 count; re-verify them on the merged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docs/QUALITY_DELTA_CATALOG.md — one entry per card, left to right, then top to bottom.
The snippets are the catalog's excerpts, trimmed to fit a card: … marks elided code, long lines wrap, and a comment line stands for code the catalog says was elided or deleted.
1. new-clone-of-reused-helper: registeredMacroNames | vendoredPathPrefixes
   Catalog §1, "new-clone-of-reused-helper: a helper written out longhand beside the one it copies" (catalog commit 553dbadb). Commits: base 05f4b892 → before c7e93089 → after cca0bf8d, in the per-kind dials round (PR #127).
   Row, verbatim (05f4b892..c7e93089): &lt;r kind="new-clone-of-reused-helper" sym="src/quality.h::quality::registeredMacroNames | src/quality.h::quality::vendoredPathPrefixes" was="0" now="3" p="src/quality.h:433" gating="1" next="--expand=src/quality.h:vendoredPathPrefixes"/&gt;. The same report gates two duplication rows (tokens="114") and a verbosity row on readRegisterMacrosConfig (was="58" now="69" bar="60").
   Why it is more than a duplication row: now="3" is the fan-in of the helper the copy duplicated, so three call sites already relied on that shape. Both readers now call mergeBuiltinsWithConfig, and the third member (editplan::callersUnionSize) lost its duplication row with it. The commit ran this on the round that built the dials.
   Reproduce: base=05f4b892 before=c7e93089 after=cca0bf8d; git worktree add --detach ../qd-before $before; ./build/ripwire ../qd-before --quality-delta=$base..$before --scope=src/quality.h --legend=compact → the four rows, gating="4", exit 2; with $base..$after → gating="0", exit 0. Re-run 2026-09-11 with a built_from=766913d02 build: both match the catalog.
2. nesting: runChangeViews was="6" now="8" · complexity was="141" now="178"
   Catalog §6, "nesting: an inline scan inside a per-root loop" (catalog commit 553dbadb). Commits: base e3b52d39 → before 4c526577 → after a8e994d1.
   Rows, verbatim (e3b52d39..4c526577): &lt;r kind="nesting" sym="runChangeViews" was="6" now="8" bar="4" p="src/verbs_change.h:245" gating="1" next="--expand=src/verbs_change.h:runChangeViews"/&gt; and &lt;r kind="complexity" sym="runChangeViews" was="141" now="178" bar="15" p="src/verbs_change.h:245" gating="1" next="--expand=src/verbs_change.h:runChangeViews"/&gt;. A third row gates resolveSinceScope's second git-pipe reader (was="6" now="23" bar="15").
   The inner for/if/break asked whether this root has any change, so it is std::any_of, and the scan is a named function that takes two more levels out of the dispatcher. resolveSinceScope now reads both git answers through popenTrimmed, the pipe reader the tree already had; the commit records a first attempt, a private copy of that reader, which the report flagged as a new-clone-of-reused-helper. The dispatcher keeps a minor row (was="141" now="146"): chronic debt this change neither created nor gated on.
   Reproduce: base=e3b52d39 before=4c526577 after=a8e994d1; git worktree add --detach ../qd-before $before; ./build/ripwire ../qd-before --quality-delta=$base..$before --scope=src/verbs_change.h,src/gitmine.h --legend=compact → the three rows, gating="3", exit 2; with $base..$after → minor rows only, gating="0", exit 0. Re-run 2026-09-11 with a built_from=766913d02 build: both match the catalog.
3. dead-code: mentionFilesCut · namesUnkeptPackageIndex
   Catalog §7, "dead-code: helpers a rewrite left with no caller" (catalog commit 553dbadb). Commits: base edbb978d → before 1ec420f1 → after 06414b52.
   Rows, verbatim (edbb978d..1ec420f1): &lt;r kind="dead-code" sym="src/mention.h::mention_detail::mentionFilesCut" p="src/mention.h:467" gating="1" next="--expand=src/mention.h:mentionFilesCut"/&gt; and &lt;r kind="dead-code" sym="src/mention.h::mention_detail::namesUnkeptPackageIndex" p="src/mention.h:397" gating="1" next="--expand=src/mention.h:namesUnkeptPackageIndex"/&gt;.
   The mention cap's verdict changed to total &gt; kept.size(), computed from mentionFilesNamedTotal, and the predicates that used to answer it lost their callers. The commit's own words are "Deleted, not acked." Dead predicates beside a live verdict leave the next reader unsure which answer is authoritative. The kind could see them only because PR #127 replaced its blanket "headers are exported" exclusion with the rule that names what a language invokes (09d4f5fc).
   The limit, disclosed: namesFileNotKept was deleted too, but no row named it, because its only caller was itself dead. Catalog improvement path IP-8, "Dead code is one hop deep".
   Reproduce: base=edbb978d before=1ec420f1 after=06414b52; git worktree add --detach ../qd-before $before; ./build/ripwire ../qd-before --quality-delta=$base..$before --scope=src/mention.h --legend=compact → both rows, gating="2", exit 2; with $base..$after → new-symbol rows only, gating="0", exit 0. Re-run 2026-09-11 with a built_from=766913d02 build: both match the catalog.
4. duplication: withHeaderAttrAfter | withHeaderField  tokens="122"
   Catalog §3, "duplication, Type-3: two header writers that each located the same digit run" (catalog commit 553dbadb). Commits: base e3b52d39 → before cf24501d → after 6ef4cb0f.
   Row, verbatim (e3b52d39..cf24501d): &lt;r kind="duplication" members="src/recall.h::rw::withHeaderAttrAfter | src/recall.h::rw::withHeaderField" tokens="122" p="src/recall.h:1058" gating="1"/&gt;. withHeaderField spelled the same locator, then replace() instead of insert().
   The locator is now headerFieldDigits, defined once beside the two writers, and each writer states only its own difference: insert or replace. The detector does not agree this is finished. Against the same base the after-tree still gates on the pair: &lt;r kind="duplication" members="src/recall.h::rw::withHeaderAttrAfter | src/recall.h::rw::withHeaderField" tokens="63" p="src/recall.h:1069" gating="1"/&gt;. The catalog classes that residue as a false positive, improvement path IP-4, "An extraction's residue still gates": what the two writers still share is the call to their common helper.
   Reproduce: base=e3b52d39 before=cf24501d after=6ef4cb0f; git worktree add --detach ../qd-before $before; ./build/ripwire ../qd-before --quality-delta=$base..$before --scope=src/recall.h --legend=compact → tokens="122", gating="1", exit 2; with $base..$after → tokens="63", gating="1", exit 2. Re-run 2026-09-11 with a built_from=766913d02 build: both match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pending merge: #126 (PR body: "vendored fwcd/tree-sitter-kotlin grammar"). Without #126 the count is 23 (commit 680a0a3d).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Users/qgames/AppDevelopLocal/project2/ripwire/.claude/worktrees/agent-a667d452e2d8f5276/present/assets/paddle-out.png">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101 hits over 625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14 of the 31 rules that fired contribute ZERO shown rows — 368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Linux binaries now need an x86-64-v3 (AVX2-class) CPU, RHEL 10's own floor; arm64 uses NEON (#127)</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Kotlin gate was written red first.</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 28 of 48 arms red on main</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per-instance JSONL and recipe committed · replaces the two non-comparable tables r1 and r2 needed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files=153 symbols=5122 edges=14182 ambiguous=5982 unresolved=1598.</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598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598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real findings from ripwire's own history — each one re-derived by a command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--quality-delta catches</a:t>
            </a:r>
            <a:endParaRPr lang="en-US" sz="3200" dirty="0"/>
          </a:p>
        </p:txBody>
      </p:sp>
      <p:sp>
        <p:nvSpPr>
          <p:cNvPr id="4" name="Shape 2"/>
          <p:cNvSpPr/>
          <p:nvPr/>
        </p:nvSpPr>
        <p:spPr>
          <a:xfrm>
            <a:off x="566928" y="1591056"/>
            <a:ext cx="5463540" cy="2258568"/>
          </a:xfrm>
          <a:prstGeom prst="roundRect">
            <a:avLst>
              <a:gd name="adj" fmla="val 3644"/>
            </a:avLst>
          </a:prstGeom>
          <a:solidFill>
            <a:srgbClr val="161D28"/>
          </a:solidFill>
          <a:ln w="9525">
            <a:solidFill>
              <a:srgbClr val="232D3D"/>
            </a:solidFill>
            <a:prstDash val="solid"/>
          </a:ln>
        </p:spPr>
      </p:sp>
      <p:sp>
        <p:nvSpPr>
          <p:cNvPr id="5" name="Text 3"/>
          <p:cNvSpPr/>
          <p:nvPr/>
        </p:nvSpPr>
        <p:spPr>
          <a:xfrm>
            <a:off x="694944" y="1645920"/>
            <a:ext cx="22890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new-clone-of-reused-helper</a:t>
            </a:r>
            <a:endParaRPr lang="en-US" sz="1100" dirty="0"/>
          </a:p>
        </p:txBody>
      </p:sp>
      <p:sp>
        <p:nvSpPr>
          <p:cNvPr id="6" name="Text 4"/>
          <p:cNvSpPr/>
          <p:nvPr/>
        </p:nvSpPr>
        <p:spPr>
          <a:xfrm>
            <a:off x="3075432" y="1645920"/>
            <a:ext cx="28270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registeredMacroNames | vendoredPathPrefixes</a:t>
            </a:r>
            <a:endParaRPr lang="en-US" sz="1000" dirty="0"/>
          </a:p>
        </p:txBody>
      </p:sp>
      <p:sp>
        <p:nvSpPr>
          <p:cNvPr id="7" name="Shape 5"/>
          <p:cNvSpPr/>
          <p:nvPr/>
        </p:nvSpPr>
        <p:spPr>
          <a:xfrm>
            <a:off x="694944" y="1975104"/>
            <a:ext cx="2558034" cy="1527048"/>
          </a:xfrm>
          <a:prstGeom prst="rect">
            <a:avLst/>
          </a:prstGeom>
          <a:solidFill>
            <a:srgbClr val="0D1117"/>
          </a:solidFill>
          <a:ln w="6350">
            <a:solidFill>
              <a:srgbClr val="232D3D"/>
            </a:solidFill>
            <a:prstDash val="solid"/>
          </a:ln>
        </p:spPr>
      </p:sp>
      <p:sp>
        <p:nvSpPr>
          <p:cNvPr id="8" name="Text 6"/>
          <p:cNvSpPr/>
          <p:nvPr/>
        </p:nvSpPr>
        <p:spPr>
          <a:xfrm>
            <a:off x="74980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9" name="Text 7"/>
          <p:cNvSpPr/>
          <p:nvPr/>
        </p:nvSpPr>
        <p:spPr>
          <a:xfrm>
            <a:off x="74980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std::vector&lt;std::string&gt; out;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std::string_view p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for( std::string&amp; extra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std::sort( out.begin(), out.end()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out.erase( std::unique( … ), … );</a:t>
            </a:r>
            <a:endParaRPr lang="en-US" sz="800" dirty="0"/>
          </a:p>
        </p:txBody>
      </p:sp>
      <p:sp>
        <p:nvSpPr>
          <p:cNvPr id="10" name="Shape 8"/>
          <p:cNvSpPr/>
          <p:nvPr/>
        </p:nvSpPr>
        <p:spPr>
          <a:xfrm>
            <a:off x="3344418" y="1975104"/>
            <a:ext cx="2558034" cy="1527048"/>
          </a:xfrm>
          <a:prstGeom prst="rect">
            <a:avLst/>
          </a:prstGeom>
          <a:solidFill>
            <a:srgbClr val="0D1117"/>
          </a:solidFill>
          <a:ln w="6350">
            <a:solidFill>
              <a:srgbClr val="232D3D"/>
            </a:solidFill>
            <a:prstDash val="solid"/>
          </a:ln>
        </p:spPr>
      </p:sp>
      <p:sp>
        <p:nvSpPr>
          <p:cNvPr id="11" name="Text 9"/>
          <p:cNvSpPr/>
          <p:nvPr/>
        </p:nvSpPr>
        <p:spPr>
          <a:xfrm>
            <a:off x="3399282"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12" name="Text 10"/>
          <p:cNvSpPr/>
          <p:nvPr/>
        </p:nvSpPr>
        <p:spPr>
          <a:xfrm>
            <a:off x="3399282"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std::vector&lt;std::string&gt;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mergeBuiltinsWithConfig( … builtins,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fromConfig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reserve, append both lists,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sort, unique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vendoredPathPrefixes(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return mergeBuiltinsWithConfig(</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kBuiltinVendoredPrefixes,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readRegisterMacrosConfig( root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.vendoredPaths );</a:t>
            </a:r>
            <a:endParaRPr lang="en-US" sz="800" dirty="0"/>
          </a:p>
        </p:txBody>
      </p:sp>
      <p:sp>
        <p:nvSpPr>
          <p:cNvPr id="13" name="Text 11"/>
          <p:cNvSpPr/>
          <p:nvPr/>
        </p:nvSpPr>
        <p:spPr>
          <a:xfrm>
            <a:off x="694944"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A helper with three callers, copied while building the feature that measures copies.</a:t>
            </a:r>
            <a:endParaRPr lang="en-US" sz="950" dirty="0"/>
          </a:p>
        </p:txBody>
      </p:sp>
      <p:sp>
        <p:nvSpPr>
          <p:cNvPr id="14" name="Shape 12"/>
          <p:cNvSpPr/>
          <p:nvPr/>
        </p:nvSpPr>
        <p:spPr>
          <a:xfrm>
            <a:off x="6158484" y="1591056"/>
            <a:ext cx="5463540" cy="2258568"/>
          </a:xfrm>
          <a:prstGeom prst="roundRect">
            <a:avLst>
              <a:gd name="adj" fmla="val 3644"/>
            </a:avLst>
          </a:prstGeom>
          <a:solidFill>
            <a:srgbClr val="161D28"/>
          </a:solidFill>
          <a:ln w="9525">
            <a:solidFill>
              <a:srgbClr val="232D3D"/>
            </a:solidFill>
            <a:prstDash val="solid"/>
          </a:ln>
        </p:spPr>
      </p:sp>
      <p:sp>
        <p:nvSpPr>
          <p:cNvPr id="15" name="Text 13"/>
          <p:cNvSpPr/>
          <p:nvPr/>
        </p:nvSpPr>
        <p:spPr>
          <a:xfrm>
            <a:off x="6286500" y="1645920"/>
            <a:ext cx="822960"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nesting</a:t>
            </a:r>
            <a:endParaRPr lang="en-US" sz="1100" dirty="0"/>
          </a:p>
        </p:txBody>
      </p:sp>
      <p:sp>
        <p:nvSpPr>
          <p:cNvPr id="16" name="Text 14"/>
          <p:cNvSpPr/>
          <p:nvPr/>
        </p:nvSpPr>
        <p:spPr>
          <a:xfrm>
            <a:off x="7200900" y="1645920"/>
            <a:ext cx="4293108"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runChangeViews was="6" now="8" · complexity was="141" now="178"</a:t>
            </a:r>
            <a:endParaRPr lang="en-US" sz="1000" dirty="0"/>
          </a:p>
        </p:txBody>
      </p:sp>
      <p:sp>
        <p:nvSpPr>
          <p:cNvPr id="17" name="Shape 15"/>
          <p:cNvSpPr/>
          <p:nvPr/>
        </p:nvSpPr>
        <p:spPr>
          <a:xfrm>
            <a:off x="6286500" y="1975104"/>
            <a:ext cx="2558034" cy="1527048"/>
          </a:xfrm>
          <a:prstGeom prst="rect">
            <a:avLst/>
          </a:prstGeom>
          <a:solidFill>
            <a:srgbClr val="0D1117"/>
          </a:solidFill>
          <a:ln w="6350">
            <a:solidFill>
              <a:srgbClr val="232D3D"/>
            </a:solidFill>
            <a:prstDash val="solid"/>
          </a:ln>
        </p:spPr>
      </p:sp>
      <p:sp>
        <p:nvSpPr>
          <p:cNvPr id="18" name="Text 16"/>
          <p:cNvSpPr/>
          <p:nvPr/>
        </p:nvSpPr>
        <p:spPr>
          <a:xfrm>
            <a:off x="6341364"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19" name="Text 17"/>
          <p:cNvSpPr/>
          <p:nvPr/>
        </p:nvSpPr>
        <p:spPr>
          <a:xfrm>
            <a:off x="6341364"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for( … o &lt; ws.size(); ++o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o == r ) { continue;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for( char c : perRootChanged[o]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c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if( !elsewhere.empty()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elsewhere += ws[o].label;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break;</a:t>
            </a:r>
            <a:endParaRPr lang="en-US" sz="800" dirty="0"/>
          </a:p>
        </p:txBody>
      </p:sp>
      <p:sp>
        <p:nvSpPr>
          <p:cNvPr id="20" name="Shape 18"/>
          <p:cNvSpPr/>
          <p:nvPr/>
        </p:nvSpPr>
        <p:spPr>
          <a:xfrm>
            <a:off x="8935974" y="1975104"/>
            <a:ext cx="2558034" cy="1527048"/>
          </a:xfrm>
          <a:prstGeom prst="rect">
            <a:avLst/>
          </a:prstGeom>
          <a:solidFill>
            <a:srgbClr val="0D1117"/>
          </a:solidFill>
          <a:ln w="6350">
            <a:solidFill>
              <a:srgbClr val="232D3D"/>
            </a:solidFill>
            <a:prstDash val="solid"/>
          </a:ln>
        </p:spPr>
      </p:sp>
      <p:sp>
        <p:nvSpPr>
          <p:cNvPr id="21" name="Text 19"/>
          <p:cNvSpPr/>
          <p:nvPr/>
        </p:nvSpPr>
        <p:spPr>
          <a:xfrm>
            <a:off x="8990838" y="2002536"/>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22" name="Text 20"/>
          <p:cNvSpPr/>
          <p:nvPr/>
        </p:nvSpPr>
        <p:spPr>
          <a:xfrm>
            <a:off x="8990838" y="2167128"/>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std::string elsewhere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ws, perRootChanged, r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in situRootsHoldingMatches: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o != self &amp;&amp; std::any_of(</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perRootChanged[o].begin(),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perRootChanged[o].end(),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char c ) { return c != 0;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 labels += ws[o].label;</a:t>
            </a:r>
            <a:endParaRPr lang="en-US" sz="800" dirty="0"/>
          </a:p>
        </p:txBody>
      </p:sp>
      <p:sp>
        <p:nvSpPr>
          <p:cNvPr id="23" name="Text 21"/>
          <p:cNvSpPr/>
          <p:nvPr/>
        </p:nvSpPr>
        <p:spPr>
          <a:xfrm>
            <a:off x="6286500" y="3529584"/>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inner loop asked one question; it is now std::any_of, in a named function.</a:t>
            </a:r>
            <a:endParaRPr lang="en-US" sz="950" dirty="0"/>
          </a:p>
        </p:txBody>
      </p:sp>
      <p:sp>
        <p:nvSpPr>
          <p:cNvPr id="24" name="Shape 22"/>
          <p:cNvSpPr/>
          <p:nvPr/>
        </p:nvSpPr>
        <p:spPr>
          <a:xfrm>
            <a:off x="566928" y="3977640"/>
            <a:ext cx="5463540" cy="2258568"/>
          </a:xfrm>
          <a:prstGeom prst="roundRect">
            <a:avLst>
              <a:gd name="adj" fmla="val 3644"/>
            </a:avLst>
          </a:prstGeom>
          <a:solidFill>
            <a:srgbClr val="161D28"/>
          </a:solidFill>
          <a:ln w="9525">
            <a:solidFill>
              <a:srgbClr val="232D3D"/>
            </a:solidFill>
            <a:prstDash val="solid"/>
          </a:ln>
        </p:spPr>
      </p:sp>
      <p:sp>
        <p:nvSpPr>
          <p:cNvPr id="25" name="Text 23"/>
          <p:cNvSpPr/>
          <p:nvPr/>
        </p:nvSpPr>
        <p:spPr>
          <a:xfrm>
            <a:off x="694944" y="4032504"/>
            <a:ext cx="86410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dead-code</a:t>
            </a:r>
            <a:endParaRPr lang="en-US" sz="1100" dirty="0"/>
          </a:p>
        </p:txBody>
      </p:sp>
      <p:sp>
        <p:nvSpPr>
          <p:cNvPr id="26" name="Text 24"/>
          <p:cNvSpPr/>
          <p:nvPr/>
        </p:nvSpPr>
        <p:spPr>
          <a:xfrm>
            <a:off x="1650492" y="4032504"/>
            <a:ext cx="425196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mentionFilesCut · namesUnkeptPackageIndex</a:t>
            </a:r>
            <a:endParaRPr lang="en-US" sz="1000" dirty="0"/>
          </a:p>
        </p:txBody>
      </p:sp>
      <p:sp>
        <p:nvSpPr>
          <p:cNvPr id="27" name="Shape 25"/>
          <p:cNvSpPr/>
          <p:nvPr/>
        </p:nvSpPr>
        <p:spPr>
          <a:xfrm>
            <a:off x="694944" y="4361688"/>
            <a:ext cx="2558034" cy="1527048"/>
          </a:xfrm>
          <a:prstGeom prst="rect">
            <a:avLst/>
          </a:prstGeom>
          <a:solidFill>
            <a:srgbClr val="0D1117"/>
          </a:solidFill>
          <a:ln w="6350">
            <a:solidFill>
              <a:srgbClr val="232D3D"/>
            </a:solidFill>
            <a:prstDash val="solid"/>
          </a:ln>
        </p:spPr>
      </p:sp>
      <p:sp>
        <p:nvSpPr>
          <p:cNvPr id="28" name="Text 26"/>
          <p:cNvSpPr/>
          <p:nvPr/>
        </p:nvSpPr>
        <p:spPr>
          <a:xfrm>
            <a:off x="74980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29" name="Text 27"/>
          <p:cNvSpPr/>
          <p:nvPr/>
        </p:nvSpPr>
        <p:spPr>
          <a:xfrm>
            <a:off x="74980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inline bool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return !unkept.empty();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inline bool mentionFilesCut(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std::any_of( …, [ &amp; ](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return namesFileNotKept(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0" name="Shape 28"/>
          <p:cNvSpPr/>
          <p:nvPr/>
        </p:nvSpPr>
        <p:spPr>
          <a:xfrm>
            <a:off x="3344418" y="4361688"/>
            <a:ext cx="2558034" cy="1527048"/>
          </a:xfrm>
          <a:prstGeom prst="rect">
            <a:avLst/>
          </a:prstGeom>
          <a:solidFill>
            <a:srgbClr val="0D1117"/>
          </a:solidFill>
          <a:ln w="6350">
            <a:solidFill>
              <a:srgbClr val="232D3D"/>
            </a:solidFill>
            <a:prstDash val="solid"/>
          </a:ln>
        </p:spPr>
      </p:sp>
      <p:sp>
        <p:nvSpPr>
          <p:cNvPr id="31" name="Text 29"/>
          <p:cNvSpPr/>
          <p:nvPr/>
        </p:nvSpPr>
        <p:spPr>
          <a:xfrm>
            <a:off x="3399282"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32" name="Text 30"/>
          <p:cNvSpPr/>
          <p:nvPr/>
        </p:nvSpPr>
        <p:spPr>
          <a:xfrm>
            <a:off x="3399282"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 all three definitions: deleted</a:t>
            </a:r>
            <a:endParaRPr lang="en-US" sz="800" dirty="0"/>
          </a:p>
          <a:p>
            <a:pPr indent="0" marL="0">
              <a:buNone/>
            </a:pP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the live verdict comes from a line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that was already there, unchanged:</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std::uint32_t mentionFilesTotal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mentionFilesNamedTotal(</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ing, raw, mentionedFiles );</a:t>
            </a:r>
            <a:endParaRPr lang="en-US" sz="800" dirty="0"/>
          </a:p>
        </p:txBody>
      </p:sp>
      <p:sp>
        <p:nvSpPr>
          <p:cNvPr id="33" name="Text 31"/>
          <p:cNvSpPr/>
          <p:nvPr/>
        </p:nvSpPr>
        <p:spPr>
          <a:xfrm>
            <a:off x="694944"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Deleted, not acked. namesFileNotKept had no row: its only caller was dead too.</a:t>
            </a:r>
            <a:endParaRPr lang="en-US" sz="950" dirty="0"/>
          </a:p>
        </p:txBody>
      </p:sp>
      <p:sp>
        <p:nvSpPr>
          <p:cNvPr id="34" name="Shape 32"/>
          <p:cNvSpPr/>
          <p:nvPr/>
        </p:nvSpPr>
        <p:spPr>
          <a:xfrm>
            <a:off x="6158484" y="3977640"/>
            <a:ext cx="5463540" cy="2258568"/>
          </a:xfrm>
          <a:prstGeom prst="roundRect">
            <a:avLst>
              <a:gd name="adj" fmla="val 3644"/>
            </a:avLst>
          </a:prstGeom>
          <a:solidFill>
            <a:srgbClr val="161D28"/>
          </a:solidFill>
          <a:ln w="9525">
            <a:solidFill>
              <a:srgbClr val="232D3D"/>
            </a:solidFill>
            <a:prstDash val="solid"/>
          </a:ln>
        </p:spPr>
      </p:sp>
      <p:sp>
        <p:nvSpPr>
          <p:cNvPr id="35" name="Text 33"/>
          <p:cNvSpPr/>
          <p:nvPr/>
        </p:nvSpPr>
        <p:spPr>
          <a:xfrm>
            <a:off x="6286500" y="4032504"/>
            <a:ext cx="1031748" cy="274320"/>
          </a:xfrm>
          <a:prstGeom prst="rect">
            <a:avLst/>
          </a:prstGeom>
          <a:noFill/>
          <a:ln/>
        </p:spPr>
        <p:txBody>
          <a:bodyPr wrap="square" lIns="0" tIns="0" rIns="0" bIns="0" rtlCol="0" anchor="ctr"/>
          <a:lstStyle/>
          <a:p>
            <a:pPr indent="0" marL="0">
              <a:buNone/>
            </a:pPr>
            <a:r>
              <a:rPr lang="en-US" sz="1100" b="1" dirty="0">
                <a:solidFill>
                  <a:srgbClr val="F2B84B"/>
                </a:solidFill>
                <a:latin typeface="Courier New" pitchFamily="34" charset="0"/>
                <a:ea typeface="Courier New" pitchFamily="34" charset="-122"/>
                <a:cs typeface="Courier New" pitchFamily="34" charset="-120"/>
              </a:rPr>
              <a:t>duplication</a:t>
            </a:r>
            <a:endParaRPr lang="en-US" sz="1100" dirty="0"/>
          </a:p>
        </p:txBody>
      </p:sp>
      <p:sp>
        <p:nvSpPr>
          <p:cNvPr id="36" name="Text 34"/>
          <p:cNvSpPr/>
          <p:nvPr/>
        </p:nvSpPr>
        <p:spPr>
          <a:xfrm>
            <a:off x="7409688" y="4032504"/>
            <a:ext cx="4084320" cy="274320"/>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withHeaderAttrAfter | withHeaderField  tokens="122"</a:t>
            </a:r>
            <a:endParaRPr lang="en-US" sz="1000" dirty="0"/>
          </a:p>
        </p:txBody>
      </p:sp>
      <p:sp>
        <p:nvSpPr>
          <p:cNvPr id="37" name="Shape 35"/>
          <p:cNvSpPr/>
          <p:nvPr/>
        </p:nvSpPr>
        <p:spPr>
          <a:xfrm>
            <a:off x="6286500" y="4361688"/>
            <a:ext cx="2558034" cy="1527048"/>
          </a:xfrm>
          <a:prstGeom prst="rect">
            <a:avLst/>
          </a:prstGeom>
          <a:solidFill>
            <a:srgbClr val="0D1117"/>
          </a:solidFill>
          <a:ln w="6350">
            <a:solidFill>
              <a:srgbClr val="232D3D"/>
            </a:solidFill>
            <a:prstDash val="solid"/>
          </a:ln>
        </p:spPr>
      </p:sp>
      <p:sp>
        <p:nvSpPr>
          <p:cNvPr id="38" name="Text 36"/>
          <p:cNvSpPr/>
          <p:nvPr/>
        </p:nvSpPr>
        <p:spPr>
          <a:xfrm>
            <a:off x="6341364"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before</a:t>
            </a:r>
            <a:endParaRPr lang="en-US" sz="750" dirty="0"/>
          </a:p>
        </p:txBody>
      </p:sp>
      <p:sp>
        <p:nvSpPr>
          <p:cNvPr id="39" name="Text 37"/>
          <p:cNvSpPr/>
          <p:nvPr/>
        </p:nvSpPr>
        <p:spPr>
          <a:xfrm>
            <a:off x="6341364"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const std::size_t 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line.find(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std::size_t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pos + afterField.size();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while( at &lt; line.size()</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&gt;= '0'</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&amp;&amp; line[ at ] &lt;= '9'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++at;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line.insert( at, attr );</a:t>
            </a:r>
            <a:endParaRPr lang="en-US" sz="800" dirty="0"/>
          </a:p>
        </p:txBody>
      </p:sp>
      <p:sp>
        <p:nvSpPr>
          <p:cNvPr id="40" name="Shape 38"/>
          <p:cNvSpPr/>
          <p:nvPr/>
        </p:nvSpPr>
        <p:spPr>
          <a:xfrm>
            <a:off x="8935974" y="4361688"/>
            <a:ext cx="2558034" cy="1527048"/>
          </a:xfrm>
          <a:prstGeom prst="rect">
            <a:avLst/>
          </a:prstGeom>
          <a:solidFill>
            <a:srgbClr val="0D1117"/>
          </a:solidFill>
          <a:ln w="6350">
            <a:solidFill>
              <a:srgbClr val="232D3D"/>
            </a:solidFill>
            <a:prstDash val="solid"/>
          </a:ln>
        </p:spPr>
      </p:sp>
      <p:sp>
        <p:nvSpPr>
          <p:cNvPr id="41" name="Text 39"/>
          <p:cNvSpPr/>
          <p:nvPr/>
        </p:nvSpPr>
        <p:spPr>
          <a:xfrm>
            <a:off x="8990838" y="4389120"/>
            <a:ext cx="2448306" cy="155448"/>
          </a:xfrm>
          <a:prstGeom prst="rect">
            <a:avLst/>
          </a:prstGeom>
          <a:noFill/>
          <a:ln/>
        </p:spPr>
        <p:txBody>
          <a:bodyPr wrap="square" lIns="0" tIns="0" rIns="0" bIns="0" rtlCol="0" anchor="ctr"/>
          <a:lstStyle/>
          <a:p>
            <a:pPr indent="0" marL="0">
              <a:buNone/>
            </a:pPr>
            <a:r>
              <a:rPr lang="en-US" sz="750" dirty="0">
                <a:solidFill>
                  <a:srgbClr val="8B95A5"/>
                </a:solidFill>
                <a:latin typeface="Courier New" pitchFamily="34" charset="0"/>
                <a:ea typeface="Courier New" pitchFamily="34" charset="-122"/>
                <a:cs typeface="Courier New" pitchFamily="34" charset="-120"/>
              </a:rPr>
              <a:t>after</a:t>
            </a:r>
            <a:endParaRPr lang="en-US" sz="750" dirty="0"/>
          </a:p>
        </p:txBody>
      </p:sp>
      <p:sp>
        <p:nvSpPr>
          <p:cNvPr id="42" name="Text 40"/>
          <p:cNvSpPr/>
          <p:nvPr/>
        </p:nvSpPr>
        <p:spPr>
          <a:xfrm>
            <a:off x="8990838" y="4553712"/>
            <a:ext cx="2448306" cy="1307592"/>
          </a:xfrm>
          <a:prstGeom prst="rect">
            <a:avLst/>
          </a:prstGeom>
          <a:noFill/>
          <a:ln/>
        </p:spPr>
        <p:txBody>
          <a:bodyPr wrap="square" lIns="0" tIns="0" rIns="0" bIns="0" rtlCol="0" anchor="t"/>
          <a:lstStyle/>
          <a:p>
            <a:pPr indent="0" marL="0">
              <a:buNone/>
            </a:pPr>
            <a:r>
              <a:rPr lang="en-US" sz="800" dirty="0">
                <a:solidFill>
                  <a:srgbClr val="E6EDF3"/>
                </a:solidFill>
                <a:latin typeface="Courier New" pitchFamily="34" charset="0"/>
                <a:ea typeface="Courier New" pitchFamily="34" charset="-122"/>
                <a:cs typeface="Courier New" pitchFamily="34" charset="-120"/>
              </a:rPr>
              <a:t>std::pair&lt;std::size_t, std::size_t&gt;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headerFieldDigits( … line, … 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 find it, walk its digit run</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withHeaderAttrAfter(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const auto [ start, end ]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headerFieldDigits(</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 afterField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if( start != std::string::npos )</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buNone/>
            </a:pPr>
            <a:r>
              <a:rPr lang="en-US" sz="800" dirty="0">
                <a:solidFill>
                  <a:srgbClr val="E6EDF3"/>
                </a:solidFill>
                <a:latin typeface="Courier New" pitchFamily="34" charset="0"/>
                <a:ea typeface="Courier New" pitchFamily="34" charset="-122"/>
                <a:cs typeface="Courier New" pitchFamily="34" charset="-120"/>
              </a:rPr>
              <a:t>    line.insert( end, attr );</a:t>
            </a:r>
            <a:endParaRPr lang="en-US" sz="800" dirty="0"/>
          </a:p>
        </p:txBody>
      </p:sp>
      <p:sp>
        <p:nvSpPr>
          <p:cNvPr id="43" name="Text 41"/>
          <p:cNvSpPr/>
          <p:nvPr/>
        </p:nvSpPr>
        <p:spPr>
          <a:xfrm>
            <a:off x="6286500" y="5916168"/>
            <a:ext cx="5207508" cy="274320"/>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The locator is shared now, yet a 63-token residue still gates: a false positive.</a:t>
            </a:r>
            <a:endParaRPr lang="en-US" sz="950" dirty="0"/>
          </a:p>
        </p:txBody>
      </p:sp>
      <p:sp>
        <p:nvSpPr>
          <p:cNvPr id="44" name="Text 4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each pair is copied from docs/QUALITY_DELTA_CATALOG.md, where the command that reproduces it is recorded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11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598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2026-09-11T12:18:40Z</dcterms:created>
  <dcterms:modified xsi:type="dcterms:W3CDTF">2026-09-11T12:18:40Z</dcterms:modified>
</cp:coreProperties>
</file>