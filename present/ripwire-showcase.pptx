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strict file@10</c:v>
                </c:pt>
              </c:strCache>
            </c:strRef>
          </c:tx>
          <c:spPr>
            <a:solidFill>
              <a:srgbClr val="56D6E8"/>
            </a:solidFill>
            <a:effectLst/>
          </c:spPr>
          <c:invertIfNegative val="0"/>
          <c:dLbls>
            <c:numFmt formatCode="0.0&quot;%&quot;" sourceLinked="0"/>
            <c:txPr>
              <a:bodyPr/>
              <a:lstStyle/>
              <a:p>
                <a:pPr>
                  <a:defRPr b="0" i="0" strike="noStrike" sz="1050" u="none">
                    <a:solidFill>
                      <a:srgbClr val="E6EDF3"/>
                    </a:solidFill>
                    <a:latin typeface="Arial"/>
                  </a:defRPr>
                </a:pPr>
              </a:p>
            </c:txPr>
            <c:showLegendKey val="0"/>
            <c:showVal val="1"/>
            <c:showCatName val="0"/>
            <c:showSerName val="0"/>
            <c:showPercent val="0"/>
            <c:showBubbleSize val="0"/>
            <c:showLeaderLines val="0"/>
          </c:dLbls>
          <c:dPt>
            <c:idx val="0"/>
            <c:invertIfNegative val="0"/>
            <c:bubble3D val="0"/>
            <c:spPr>
              <a:solidFill>
                <a:srgbClr val="56D6E8"/>
              </a:solidFill>
              <a:effectLst/>
            </c:spPr>
          </c:dPt>
          <c:dPt>
            <c:idx val="1"/>
            <c:invertIfNegative val="0"/>
            <c:bubble3D val="0"/>
            <c:spPr>
              <a:solidFill>
                <a:srgbClr val="3A4353"/>
              </a:solidFill>
              <a:effectLst/>
            </c:spPr>
          </c:dPt>
          <c:dPt>
            <c:idx val="2"/>
            <c:invertIfNegative val="0"/>
            <c:bubble3D val="0"/>
            <c:spPr>
              <a:solidFill>
                <a:srgbClr val="3A4353"/>
              </a:solidFill>
              <a:effectLst/>
            </c:spPr>
          </c:dPt>
          <c:dPt>
            <c:idx val="3"/>
            <c:invertIfNegative val="0"/>
            <c:bubble3D val="0"/>
            <c:spPr>
              <a:solidFill>
                <a:srgbClr val="3A4353"/>
              </a:solidFill>
              <a:effectLst/>
            </c:spPr>
          </c:dPt>
          <c:dPt>
            <c:idx val="4"/>
            <c:invertIfNegative val="0"/>
            <c:bubble3D val="0"/>
            <c:spPr>
              <a:solidFill>
                <a:srgbClr val="3A4353"/>
              </a:solidFill>
              <a:effectLst/>
            </c:spPr>
          </c:dPt>
          <c:dPt>
            <c:idx val="5"/>
            <c:invertIfNegative val="0"/>
            <c:bubble3D val="0"/>
            <c:spPr>
              <a:solidFill>
                <a:srgbClr val="3A4353"/>
              </a:solidFill>
              <a:effectLst/>
            </c:spPr>
          </c:dPt>
          <c:dPt>
            <c:idx val="6"/>
            <c:invertIfNegative val="0"/>
            <c:bubble3D val="0"/>
            <c:spPr>
              <a:solidFill>
                <a:srgbClr val="3A4353"/>
              </a:solidFill>
              <a:effectLst/>
            </c:spPr>
          </c:dPt>
          <c:dPt>
            <c:idx val="7"/>
            <c:invertIfNegative val="0"/>
            <c:bubble3D val="0"/>
            <c:spPr>
              <a:solidFill>
                <a:srgbClr val="3A4353"/>
              </a:solidFill>
              <a:effectLst/>
            </c:spPr>
          </c:dPt>
          <c:cat>
            <c:multiLvlStrRef>
              <c:f>Sheet1!$A$2:$A$9</c:f>
              <c:multiLvlStrCache>
                <c:ptCount val="8"/>
                <c:lvl>
                  <c:pt idx="0">
                    <c:v>ripwire --for</c:v>
                  </c:pt>
                  <c:pt idx="1">
                    <c:v>codebase-memory-mcp 0.9.0</c:v>
                  </c:pt>
                  <c:pt idx="2">
                    <c:v>repowise 0.37.0</c:v>
                  </c:pt>
                  <c:pt idx="3">
                    <c:v>graphify 0.9.34</c:v>
                  </c:pt>
                  <c:pt idx="4">
                    <c:v>aider repo-map 0.86.2</c:v>
                  </c:pt>
                  <c:pt idx="5">
                    <c:v>codeseek 0.1.31 (idents)</c:v>
                  </c:pt>
                  <c:pt idx="6">
                    <c:v>aider (no-persona control)</c:v>
                  </c:pt>
                  <c:pt idx="7">
                    <c:v>codeseek (raw fallback)</c:v>
                  </c:pt>
                </c:lvl>
              </c:multiLvlStrCache>
            </c:multiLvlStrRef>
          </c:cat>
          <c:val>
            <c:numRef>
              <c:f>Sheet1!$B$2:$B$9</c:f>
              <c:numCache>
                <c:formatCode>General</c:formatCode>
                <c:ptCount val="8"/>
                <c:pt idx="0">
                  <c:v>58.3</c:v>
                </c:pt>
                <c:pt idx="1">
                  <c:v>40</c:v>
                </c:pt>
                <c:pt idx="2">
                  <c:v>33.3</c:v>
                </c:pt>
                <c:pt idx="3">
                  <c:v>31.7</c:v>
                </c:pt>
                <c:pt idx="4">
                  <c:v>20</c:v>
                </c:pt>
                <c:pt idx="5">
                  <c:v>15</c:v>
                </c:pt>
                <c:pt idx="6">
                  <c:v>10</c:v>
                </c:pt>
                <c:pt idx="7">
                  <c:v>0</c:v>
                </c:pt>
              </c:numCache>
            </c:numRef>
          </c:val>
        </c:ser>
        <c:dLbls>
          <c:numFmt formatCode="0.0&quot;%&quot;" sourceLinked="0"/>
          <c:txPr>
            <a:bodyPr/>
            <a:lstStyle/>
            <a:p>
              <a:pPr>
                <a:defRPr b="0" i="0" strike="noStrike" sz="1050" u="none">
                  <a:solidFill>
                    <a:srgbClr val="E6EDF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E6EDF3"/>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b"/>
        <c:majorGridlines>
          <c:spPr>
            <a:ln w="6350" cap="flat">
              <a:solidFill>
                <a:srgbClr val="232D3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B95A5"/>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chart>
  <c:spPr>
    <a:solidFill>
      <a:srgbClr val="0D1117"/>
    </a:solidFill>
    <a:ln w="12700" cap="flat">
      <a:solidFill>
        <a:srgbClr val="0D1117"/>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strict file@10</c:v>
                </c:pt>
              </c:strCache>
            </c:strRef>
          </c:tx>
          <c:spPr>
            <a:solidFill>
              <a:srgbClr val="3A4353"/>
            </a:solidFill>
            <a:effectLst/>
          </c:spPr>
          <c:invertIfNegative val="0"/>
          <c:dLbls>
            <c:numFmt formatCode="0.0" sourceLinked="0"/>
            <c:txPr>
              <a:bodyPr/>
              <a:lstStyle/>
              <a:p>
                <a:pPr>
                  <a:defRPr b="0" i="0" strike="noStrike" sz="1500" u="none">
                    <a:solidFill>
                      <a:srgbClr val="E6EDF3"/>
                    </a:solidFill>
                    <a:latin typeface="Arial"/>
                  </a:defRPr>
                </a:pPr>
              </a:p>
            </c:txPr>
            <c:showLegendKey val="0"/>
            <c:showVal val="1"/>
            <c:showCatName val="0"/>
            <c:showSerName val="0"/>
            <c:showPercent val="0"/>
            <c:showBubbleSize val="0"/>
            <c:showLeaderLines val="0"/>
          </c:dLbls>
          <c:dPt>
            <c:idx val="0"/>
            <c:invertIfNegative val="0"/>
            <c:bubble3D val="0"/>
            <c:spPr>
              <a:solidFill>
                <a:srgbClr val="3A4353"/>
              </a:solidFill>
              <a:effectLst/>
            </c:spPr>
          </c:dPt>
          <c:dPt>
            <c:idx val="1"/>
            <c:invertIfNegative val="0"/>
            <c:bubble3D val="0"/>
            <c:spPr>
              <a:solidFill>
                <a:srgbClr val="4AC26B"/>
              </a:solidFill>
              <a:effectLst/>
            </c:spPr>
          </c:dPt>
          <c:cat>
            <c:multiLvlStrRef>
              <c:f>Sheet1!$A$2:$A$3</c:f>
              <c:multiLvlStrCache>
                <c:ptCount val="2"/>
                <c:lvl>
                  <c:pt idx="0">
                    <c:v>pre-routing baseline</c:v>
                  </c:pt>
                  <c:pt idx="1">
                    <c:v>routed --for (shipping)</c:v>
                  </c:pt>
                </c:lvl>
              </c:multiLvlStrCache>
            </c:multiLvlStrRef>
          </c:cat>
          <c:val>
            <c:numRef>
              <c:f>Sheet1!$B$2:$B$3</c:f>
              <c:numCache>
                <c:formatCode>General</c:formatCode>
                <c:ptCount val="2"/>
                <c:pt idx="0">
                  <c:v>27.6</c:v>
                </c:pt>
                <c:pt idx="1">
                  <c:v>60.9</c:v>
                </c:pt>
              </c:numCache>
            </c:numRef>
          </c:val>
        </c:ser>
        <c:dLbls>
          <c:numFmt formatCode="0.0" sourceLinked="0"/>
          <c:txPr>
            <a:bodyPr/>
            <a:lstStyle/>
            <a:p>
              <a:pPr>
                <a:defRPr b="0" i="0" strike="noStrike" sz="1500" u="none">
                  <a:solidFill>
                    <a:srgbClr val="E6EDF3"/>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E6EDF3"/>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232D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5A5"/>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chart>
  <c:spPr>
    <a:solidFill>
      <a:srgbClr val="0D1117"/>
    </a:solidFill>
    <a:ln w="12700" cap="flat">
      <a:solidFill>
        <a:srgbClr val="0D1117"/>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(cover)
- "23 vendored tree-sitter grammars": commit 680a0a3d, "It is 23: 22 upstream projects under third_party/deps/, with tree-sitter-typescript supplying both typescript and tsx"; PR #106's title, "Dart: a 23rd grammar …"; README.md, "23 vendored grammars".
- The wave under "The ripgrep of AI context.": present/assets/paddle-out.png, rendered from docs/assets/paddle-out.svg (commit 680a0a3d; PR #133 moved the wave from the README hero to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(0.6.0 at a glance). Window: after the v0.5.0 tag (commit bacfa3b7, 2026-09-07) through main 766913d0. Merge dates read with gh: #83 2026-09-09, #92 2026-09-10, #106 (merge commit 6f91fed2) 2026-09-10, #127 and #134 2026-09-11.
- Title words “faster where it hurt”: the draft 0.6.0 release notes' heading. “Rip'n Fast”: README.md's H1, “Rip'n Fast. Fewer Tokens. Better Code.”
A NEW LANGUAGE
- Dart: merge commit 6f91fed2, “merge(dart): a 23rd grammar …” — “On flutter/packages (3,706 .dart files) this indexes 71,726 Dart symbols and none of that corpus's 289 degraded parses is a .dart file.” Lane by @calvinchengx (#75).
- Six arrays: 6f91fed2 — “moves six per-language array extents off the spelled-out last enumerator (std::size_t( Lang::Elixir ) + 1) and onto model.h's kLangCount”; with two tallies reverted, --skipped over two .cpp and two .dart files “prints indexed=4 with a single &lt;lang n=cpp …&gt; row: two indexed files gone from the census, with nothing saying a row is missing.”
RIP'N FAST
- 159.7 → 9.2 s: PR #83 body, table “--grep | 159.7 s | 9.2 s” (warm, llvm-project); cause “recomputed on every still-ambiguous receiver-typed call”, “Each receiver type's cone is now computed once”.
- −19.9%, 194.1 → 155.6 s: PR #127 body table, llvm-project cold map --no-cache, 194.14 → 155.60 CPU s, −19.9%, n=1, output identical. PR #130 body: “22 walks converted”. “byte-identical”: #127 “Every row cmp-identical between the two binaries.”
- −27.6%, 8.13 → 5.88 s: PR #127 body table, go warm --pack-task, n=5, identical. Lane K: src/infra/strkern.h “(NEON/AVX2/scalar); the query-time tokenizer rewritten as mask algebra”.
HONEST WHERE IT COUNTS
- 2,107 → 3: PR #134 body, “memgraph --callers=SafeString::move | 2,107 | 3”.
- 12/12 → 8/12, 2% → 12%, 0 wrong: PR #127 lane Q, “12 landed commits: 12/12 → 8/12 gating, TRUE 2% → 12%, WRONG → 0”.
- 13/25 → 0, 0.797 → 1.000: PR #127 lane R, “harmful 13/25 → 0, precision 0.797 → 1.000”; the brief names the set “the adversarial prose set”.
FEWER TOKENS, NOTHING HIDDEN
- 46,385 → 4,473: PR #92 body, “46,385 → 4,473 tokens (10.4x)”, “Nothing is deleted”, “every disclosure one call away” (title).
- 6 → 50 / 12, 16% → 54%: PR #127 lane H, “kHandoffSymbolsPerFile 6 → 50 code / 12 prose (containment 16 → 54%, additive)”.
- Paging: PR #127 lane H2, “--doc-drift, --flags/--flip, --situ disclose their cuts and page; answer rows never page”; gate-pin note, “the 25-row cap on tests-to-run was RETIRED … the arm now asserts every row listed”.
FOOTER
- PR #127 body: “x86-64 floor is -march=x86-64-v3 (AVX2, BMI1/2, FMA — RHEL 10's own floor). Prebuilt Linux x86 binaries now require AVX2-class CPUs. NEON on arm64.”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scale rung)
- 182,555 files: PR #127 body, “with llvm-project (182,555 files) as the scale rung”; PR #83 body, “llvm-project (182,555 files)”.
- Kicker “Rip'n Fast”: README.md's H1.
ROW 1, O(C²) CHILD WALKS
- Mechanism: the #127 presentation brief — “indexed ts_node_child(n,i) loops re-walk the child list on every call, which is O(children²)”; “Only wide FLAT child lists trigger it (comments as extras, C/C++ include guards), so no standard corpus could see it.”
- 24 walks, 18 arms at 11–125×: the brief, “24 walks converted to one cursor helper (src/infra/tschildren.h); 18 isolation arms proven red-first at 11–125×”; PR #127 lanes W and W2/W3.
- 22 more at 13–126×: PR #130 body, “22 walks converted, every one proven quadratic on the pre-change binary first … 13x..126x its control under a 16 000-comment flood”; “3 loops stay indexed with the reason written at the loop”; “156 generated fixture × verb pairs and the 21 committed ones are byte-identical”.
- 194.1 → 155.6 s, −19.9%, n = 1: PR #127 body table, llvm-project cold map --no-cache, 194.14 → 155.60. Wall −25%: the brief, “wall −25%”.
ROW 2, THE INHERITANCE CONE
- PR #83 body: “86,667 cones for 2,984 distinct receiver types”; “143 s of 154 s”; table --grep 159.7 s → 9.2 s and default map 248 s → 10 s; “default maps byte-identical pre/post on go and llvm-project”.
ROW 3, THE CACHE THAT EVICTED ITSELF
- The brief: “One llvm root needs 1.76 GB of cache against a 2 GB oldest-first sweep. Once the sweep stopped evicting the working root's own families, a repeated --for went from 274 s to 26 s CPU.” “Two cache-key builders hashed the root with different FNV seeds (one of them truncated), so every root minted two key families. There is one key now.” PR #127 lanes C and C2.
BARS
- PR #127 body table, cold map --no-cache, Δ median: ripwire (own tree) −2.1% (n=5), go −1.7% (n=5), rocksdb −6.7% (n=5), llvm-project −19.9% (n=1). The body: “the cold parse (--no-cache) carries the child-walk and field-id lanes … the O(C²) walks only bite on wide flat child lists, which C/C++ include guards and comment floods produce”. The bars therefore carry both lanes, as that table does.
- Title and footer: all three rows were measured on llvm-project (#127 body and brief; #83 body). Only the child walk is sourced as invisible elsewhere — the brief, “no standard corpus could see it” — so the footer claims that for the first row alone.
WHY LLVM-PROJECT — each item verified on 2026-09-11 against the page named; anything not verified was dropped
- 2012 ACM Software System Award: https://llvm.org/ — “LLVM has been awarded the 2012 ACM Software System Award!”
- Clang (C/C++/Objective-C): https://llvm.org/ lists “Clang (C/C++/Objective-C compiler)” among the sub-projects.
- Chromium: https://chromium.googlesource.com/chromium/src/+/main/docs/clang.md — “Chromium ships a prebuilt clang binary”; “This is the only supported compiler for building Chromium.”
- Android NDK: https://developer.android.com/ndk/guides/other_build_systems — “The Clang compiler in the NDK is useable with only minimal configuration required to define your target environment.” https://developer.android.com/ndk/downloads/revision_history — r18b: “GCC has been removed.”
- Apple: https://developer.apple.com/xcode/cpp/ — “Apple supports C++ with the Apple Clang compiler (included in Xcode)”.
- PS4: https://llvm.org/devmtg/2013-11/slides/Robinson-PS4Toolchain.pdf (Paul T. Robinson, Sony Computer Entertainment, LLVM Dev Meeting 2013) — “Compiler – LLVM with the Clang front end”. Only the PS4 deck was read, so later consoles are not claimed.
- Swift: https://www.swift.org/documentation/swift-compiler/ — “IR generation (implemented in lib/IRGen) lowers SIL to LLVM IR, at which point LLVM can continue to optimize it and generate machine code.”
- Rust: https://rustc-dev-guide.rust-lang.org/overview.html — “Since rustc uses LLVM for code generation, the first step is to convert the MIR to LLVM-IR.”
- Julia: https://docs.julialang.org/en/v1/devdocs/jit/ — “It is primarily built on LLVM's On-Request-Compilation (ORCv2) technology”.
- Zig: https://ziglang.org/download/0.15.1/release-notes.html — “the LLVM backend is still the default” on several targets, and the self-hosted x86 backend “emit[s] slower machine code than the LLVM backend”. Zig also has self-hosted backends, hence “has an LLVM backend”, not “uses only LLVM”.
- Kotlin/Native: https://kotlinlang.org/docs/native-overview.html — “Kotlin/Native includes an LLVM-based backend for the Kotlin compiler”.
- CUDA: https://docs.nvidia.com/cuda/nvvm-ir-spec/ — “The NVVM compiler (which is based on LLVM) generates PTX code from NVVM IR.” https://llvm.org/docs/CompileCudaWithLLVM.html — “This document describes how to compile CUDA code with clang”.
- Metal: the Metal Shading Language Specification, https://developer.apple.com/metal/Metal-Shading-Language-Specification.pdf — “Metal uses clang and LLVM so you get a compiler that delivers optimized performance on the GPU.” Read through a search-index extract of Apple's PDF: the file is larger than the fetch limit.
- MLIR: https://mlir.llvm.org/ (source at github.com/llvm/llvm-project/tree/main/mlir). TensorFlow: https://www.tensorflow.org/mlir — MLIR “unifies the infrastructure required to execute high performance machine learning models in TensorFlow and similar ML frameworks”. OpenAI Triton: https://github.com/triton-lang/triton — “Backend rewritten to use MLIR”; “Triton uses LLVM to generate code for GPUs and CPUs.” Mojo: https://mojolang.org/docs/vision — “KGEN is built using MLIR Core”.
- Emscripten: https://emscripten.org/ — “a complete compiler toolchain to WebAssembly, using LLVM”.
- AMD ROCm: https://rocm.docs.amd.com/projects/llvm-project/en/latest/ — “The AMD llvm-project is a fork of llvm/llvm-project.”
- Intel oneAPI DPC++/C++: https://www.intel.com/content/www/us/en/developer/tools/oneapi/dpc-compiler.html — “Uses well-proven LLVM compiler technology”.
- DROPPED as unverified: XLA/OpenXLA as MLIR-based (the openxla.org pages fetched did not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(three stories, all merged to main)
STD::MOVE — PR #134 body (merged 2026-09-11):
- “A C++ call written std::X(...) bound to the repository's lone in-repo definition named X. It bound at full confidence, with no amb= or prov= marker.” “On memgraph, SafeString::move became map row #1 with 2,107 false callers from std::move.” “In ripwire's own graph, std::min/std::max/std::sort bound fastmath and svector members.”
- Table: “memgraph --callers=SafeString::move | 2,107 | 3”; “ripwire --callers=min / max / sort | 131 / 67 / 7 | 5 / 14 / 2”. “The three remaining memgraph callers are two SafeString unit tests and one std::ranges::move; see the first gap below.”
- Fix: “only candidates scoped inside std. Otherwise the call is counted through the existing external path (external=) and gets no edge.”
- Gate: “test/stdqualcheck.sh (35 checks, fresh fixture): pre-fix binary: 19 FAIL / 16 PASS, where the 16 are controls”.
THE PROBE THAT LIED — commits b4ebf0bb and 150fb6d3 (in #127, on main) and test/strkerncheck.sh:
- b4ebf0bb: “Correction of a fact the run-8 commit stated: run 7's probe did NOT execute an AVX2 instruction that Rosetta then survived — clang had folded the one-add probe to a scalar addb despite its volatile (otool: zero ymm/VEX opcodes), so it printed 'ok' on every runtime and never chose the baseline slice.” “the gate disassembles it (otool -tv, or objdump -d) and requires one opcode of each class — ymm, pdep, pext, lzcnt, tzcnt, vfmadd, vcvtph2ps — so a future compiler that folds the probe makes it route to the baseline slice rather than lie”.
- 150fb6d3: “Run 7: the macos-14 runner's Rosetta 2 executed the one-instruction AVX2 probe and then SIGILL'd the v3 slice” (the reason b4ebf0bb corrects); “The probe is now compiled with the floor itself and touches every extension it implies”.
- test/strkerncheck.sh: “clang folded that to a scalar addb despite the volatile (otool: zero ymm/VEX opcodes), so it printed ok on every runtime”.
THE AUDIT'S INSTRUMENT WAS WRONG TWICE — the #127 presentation brief, PR #127's body, commits 209f97a4 and 5723b2c0:
- The brief: “A 14× super-linear reading was a cache-eviction artifact, and the recorded cap sweep had measured retrieval caps on a population of zero.”
- 209f97a4: “run_corpus recorded len(stdout) and discarded returncode”; “The denominator counted 56 rows that emit nothing at all”; “a 10.4 MB cache blob that --batch= then read back, ‘responding’ to 103 of 108 caps”; “Every row now carries a state (ok / rc=N / unparseable / unexpanded / timeout)”; “A run in which NOTHING answered … now refuses to report a split”; “the destination must resolve outside the corpus”.
- PR #127 lane H: “re-derived split 64 of 151 answering rows (was published as 59/195)”.
- 5723b2c0: “fix(cache): the budget sweep pins the root you are working in, and says what it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 no example is shown on purpose.
The examples come from docs/QUALITY_DELTA_CATALOG.md, which a separate lane is writing with real, reproduced findings. It is not in the tree as of main 766913d0.
To fill: add 3 to 6 { kind, finding, before, after, why } entries to QD_EXAMPLES at the top of present/deck5_ripwire_build.js, copied from the catalog, then rebuild. The notes list each entry against the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66928" y="502920"/>
            <a:ext cx="11055096" cy="3429000"/>
          </a:xfrm>
          <a:prstGeom prst="roundRect">
            <a:avLst>
              <a:gd name="adj" fmla="val 3200"/>
            </a:avLst>
          </a:prstGeom>
          <a:solidFill>
            <a:srgbClr val="161D28"/>
          </a:solidFill>
          <a:ln w="9525">
            <a:solidFill>
              <a:srgbClr val="232D3D"/>
            </a:solidFill>
            <a:prstDash val="solid"/>
          </a:ln>
        </p:spPr>
      </p:sp>
      <p:sp>
        <p:nvSpPr>
          <p:cNvPr id="3" name="Shape 1"/>
          <p:cNvSpPr/>
          <p:nvPr/>
        </p:nvSpPr>
        <p:spPr>
          <a:xfrm>
            <a:off x="822960" y="676656"/>
            <a:ext cx="128016" cy="128016"/>
          </a:xfrm>
          <a:prstGeom prst="ellipse">
            <a:avLst/>
          </a:prstGeom>
          <a:solidFill>
            <a:srgbClr val="2A3547"/>
          </a:solidFill>
          <a:ln w="12700">
            <a:solidFill>
              <a:srgbClr val="2A3547"/>
            </a:solidFill>
            <a:prstDash val="solid"/>
          </a:ln>
        </p:spPr>
      </p:sp>
      <p:sp>
        <p:nvSpPr>
          <p:cNvPr id="4" name="Shape 2"/>
          <p:cNvSpPr/>
          <p:nvPr/>
        </p:nvSpPr>
        <p:spPr>
          <a:xfrm>
            <a:off x="1042416" y="676656"/>
            <a:ext cx="128016" cy="128016"/>
          </a:xfrm>
          <a:prstGeom prst="ellipse">
            <a:avLst/>
          </a:prstGeom>
          <a:solidFill>
            <a:srgbClr val="2A3547"/>
          </a:solidFill>
          <a:ln w="12700">
            <a:solidFill>
              <a:srgbClr val="2A3547"/>
            </a:solidFill>
            <a:prstDash val="solid"/>
          </a:ln>
        </p:spPr>
      </p:sp>
      <p:sp>
        <p:nvSpPr>
          <p:cNvPr id="5" name="Shape 3"/>
          <p:cNvSpPr/>
          <p:nvPr/>
        </p:nvSpPr>
        <p:spPr>
          <a:xfrm>
            <a:off x="1261872" y="676656"/>
            <a:ext cx="128016" cy="128016"/>
          </a:xfrm>
          <a:prstGeom prst="ellipse">
            <a:avLst/>
          </a:prstGeom>
          <a:solidFill>
            <a:srgbClr val="2A3547"/>
          </a:solidFill>
          <a:ln w="12700">
            <a:solidFill>
              <a:srgbClr val="2A3547"/>
            </a:solidFill>
            <a:prstDash val="solid"/>
          </a:ln>
        </p:spPr>
      </p:sp>
      <p:sp>
        <p:nvSpPr>
          <p:cNvPr id="6" name="Text 4"/>
          <p:cNvSpPr/>
          <p:nvPr/>
        </p:nvSpPr>
        <p:spPr>
          <a:xfrm>
            <a:off x="932688" y="868680"/>
            <a:ext cx="5486400" cy="1188720"/>
          </a:xfrm>
          <a:prstGeom prst="rect">
            <a:avLst/>
          </a:prstGeom>
          <a:noFill/>
          <a:ln/>
        </p:spPr>
        <p:txBody>
          <a:bodyPr wrap="square" lIns="0" tIns="0" rIns="0" bIns="0" rtlCol="0" anchor="ctr"/>
          <a:lstStyle/>
          <a:p>
            <a:pPr indent="0" marL="0">
              <a:buNone/>
            </a:pPr>
            <a:r>
              <a:rPr lang="en-US" sz="7200" b="1" dirty="0">
                <a:solidFill>
                  <a:srgbClr val="56D6E8"/>
                </a:solidFill>
                <a:latin typeface="Courier New" pitchFamily="34" charset="0"/>
                <a:ea typeface="Courier New" pitchFamily="34" charset="-122"/>
                <a:cs typeface="Courier New" pitchFamily="34" charset="-120"/>
              </a:rPr>
              <a:t>rip</a:t>
            </a:r>
            <a:pPr indent="0" marL="0">
              <a:buNone/>
            </a:pPr>
            <a:r>
              <a:rPr lang="en-US" sz="7200" b="1" dirty="0">
                <a:solidFill>
                  <a:srgbClr val="F2B84B"/>
                </a:solidFill>
                <a:latin typeface="Courier New" pitchFamily="34" charset="0"/>
                <a:ea typeface="Courier New" pitchFamily="34" charset="-122"/>
                <a:cs typeface="Courier New" pitchFamily="34" charset="-120"/>
              </a:rPr>
              <a:t>wire</a:t>
            </a:r>
            <a:endParaRPr lang="en-US" sz="7200" dirty="0"/>
          </a:p>
        </p:txBody>
      </p:sp>
      <p:sp>
        <p:nvSpPr>
          <p:cNvPr id="7" name="Text 5"/>
          <p:cNvSpPr/>
          <p:nvPr/>
        </p:nvSpPr>
        <p:spPr>
          <a:xfrm>
            <a:off x="950976" y="2057400"/>
            <a:ext cx="5486400" cy="502920"/>
          </a:xfrm>
          <a:prstGeom prst="rect">
            <a:avLst/>
          </a:prstGeom>
          <a:noFill/>
          <a:ln/>
        </p:spPr>
        <p:txBody>
          <a:bodyPr wrap="square" lIns="0" tIns="0" rIns="0" bIns="0" rtlCol="0" anchor="ctr"/>
          <a:lstStyle/>
          <a:p>
            <a:pPr indent="0" marL="0">
              <a:buNone/>
            </a:pPr>
            <a:r>
              <a:rPr lang="en-US" sz="2600" b="1" dirty="0">
                <a:solidFill>
                  <a:srgbClr val="E6EDF3"/>
                </a:solidFill>
                <a:latin typeface="Arial" pitchFamily="34" charset="0"/>
                <a:ea typeface="Arial" pitchFamily="34" charset="-122"/>
                <a:cs typeface="Arial" pitchFamily="34" charset="-120"/>
              </a:rPr>
              <a:t>The ripgrep of AI context.</a:t>
            </a:r>
            <a:endParaRPr lang="en-US" sz="2600" dirty="0"/>
          </a:p>
        </p:txBody>
      </p:sp>
      <p:pic>
        <p:nvPicPr>
          <p:cNvPr id="8" name="Image 0" descr="/Users/qgames/AppDevelopLocal/project2/ripwire/.claude/worktrees/agent-a667d452e2d8f5276/present/assets/paddle-out.png">    </p:cNvPr>
          <p:cNvPicPr>
            <a:picLocks noChangeAspect="1"/>
          </p:cNvPicPr>
          <p:nvPr/>
        </p:nvPicPr>
        <p:blipFill>
          <a:blip r:embed="rId1"/>
          <a:stretch>
            <a:fillRect/>
          </a:stretch>
        </p:blipFill>
        <p:spPr>
          <a:xfrm>
            <a:off x="896112" y="2724912"/>
            <a:ext cx="4206240" cy="859536"/>
          </a:xfrm>
          <a:prstGeom prst="rect">
            <a:avLst/>
          </a:prstGeom>
        </p:spPr>
      </p:pic>
      <p:sp>
        <p:nvSpPr>
          <p:cNvPr id="9" name="Text 6"/>
          <p:cNvSpPr/>
          <p:nvPr/>
        </p:nvSpPr>
        <p:spPr>
          <a:xfrm>
            <a:off x="6693408" y="1097280"/>
            <a:ext cx="4572000" cy="2377440"/>
          </a:xfrm>
          <a:prstGeom prst="rect">
            <a:avLst/>
          </a:prstGeom>
          <a:noFill/>
          <a:ln/>
        </p:spPr>
        <p:txBody>
          <a:bodyPr wrap="square" lIns="0" tIns="0" rIns="0" bIns="0" rtlCol="0" anchor="ctr"/>
          <a:lstStyle/>
          <a:p>
            <a:pPr indent="0" marL="0">
              <a:buNone/>
            </a:pPr>
            <a:r>
              <a:rPr lang="en-US" sz="1800" dirty="0">
                <a:solidFill>
                  <a:srgbClr val="8B95A5"/>
                </a:solidFill>
                <a:latin typeface="Arial" pitchFamily="34" charset="0"/>
                <a:ea typeface="Arial" pitchFamily="34" charset="-122"/>
                <a:cs typeface="Arial" pitchFamily="34" charset="-120"/>
              </a:rPr>
              <a:t>A zero-runtime-dependency C++23 CLI that maps any codebase into a ranked, deterministic call graph for coding agents — and puts a tripwire on every claim it emits.</a:t>
            </a:r>
            <a:endParaRPr lang="en-US" sz="1800" dirty="0"/>
          </a:p>
        </p:txBody>
      </p:sp>
      <p:sp>
        <p:nvSpPr>
          <p:cNvPr id="10" name="Shape 7"/>
          <p:cNvSpPr/>
          <p:nvPr/>
        </p:nvSpPr>
        <p:spPr>
          <a:xfrm>
            <a:off x="566928" y="4206240"/>
            <a:ext cx="3931920" cy="1783080"/>
          </a:xfrm>
          <a:prstGeom prst="roundRect">
            <a:avLst>
              <a:gd name="adj" fmla="val 4615"/>
            </a:avLst>
          </a:prstGeom>
          <a:solidFill>
            <a:srgbClr val="161D28"/>
          </a:solidFill>
          <a:ln w="9525">
            <a:solidFill>
              <a:srgbClr val="232D3D"/>
            </a:solidFill>
            <a:prstDash val="solid"/>
          </a:ln>
        </p:spPr>
      </p:sp>
      <p:sp>
        <p:nvSpPr>
          <p:cNvPr id="11" name="Text 8"/>
          <p:cNvSpPr/>
          <p:nvPr/>
        </p:nvSpPr>
        <p:spPr>
          <a:xfrm>
            <a:off x="795528" y="4389120"/>
            <a:ext cx="3474720" cy="365760"/>
          </a:xfrm>
          <a:prstGeom prst="rect">
            <a:avLst/>
          </a:prstGeom>
          <a:noFill/>
          <a:ln/>
        </p:spPr>
        <p:txBody>
          <a:bodyPr wrap="square" lIns="0" tIns="0" rIns="0" bIns="0" rtlCol="0" anchor="ctr"/>
          <a:lstStyle/>
          <a:p>
            <a:pPr indent="0" marL="0">
              <a:buNone/>
            </a:pPr>
            <a:r>
              <a:rPr lang="en-US" sz="1500" b="1" dirty="0">
                <a:solidFill>
                  <a:srgbClr val="56D6E8"/>
                </a:solidFill>
                <a:latin typeface="Arial" pitchFamily="34" charset="0"/>
                <a:ea typeface="Arial" pitchFamily="34" charset="-122"/>
                <a:cs typeface="Arial" pitchFamily="34" charset="-120"/>
              </a:rPr>
              <a:t>rip</a:t>
            </a:r>
            <a:pPr indent="0" marL="0">
              <a:buNone/>
            </a:pPr>
            <a:r>
              <a:rPr lang="en-US" sz="1500" b="1" dirty="0">
                <a:solidFill>
                  <a:srgbClr val="E6EDF3"/>
                </a:solidFill>
                <a:latin typeface="Arial" pitchFamily="34" charset="0"/>
                <a:ea typeface="Arial" pitchFamily="34" charset="-122"/>
                <a:cs typeface="Arial" pitchFamily="34" charset="-120"/>
              </a:rPr>
              <a:t> — the speed half</a:t>
            </a:r>
            <a:endParaRPr lang="en-US" sz="1500" dirty="0"/>
          </a:p>
        </p:txBody>
      </p:sp>
      <p:sp>
        <p:nvSpPr>
          <p:cNvPr id="12" name="Text 9"/>
          <p:cNvSpPr/>
          <p:nvPr/>
        </p:nvSpPr>
        <p:spPr>
          <a:xfrm>
            <a:off x="795528" y="4846320"/>
            <a:ext cx="3474720" cy="868680"/>
          </a:xfrm>
          <a:prstGeom prst="rect">
            <a:avLst/>
          </a:prstGeom>
          <a:noFill/>
          <a:ln/>
        </p:spPr>
        <p:txBody>
          <a:bodyPr wrap="square" lIns="0" tIns="0" rIns="0" bIns="0" rtlCol="0" anchor="t"/>
          <a:lstStyle/>
          <a:p>
            <a:pPr indent="0" marL="0">
              <a:buNone/>
            </a:pPr>
            <a:r>
              <a:rPr lang="en-US" sz="1250" dirty="0">
                <a:solidFill>
                  <a:srgbClr val="8B95A5"/>
                </a:solidFill>
                <a:latin typeface="Arial" pitchFamily="34" charset="0"/>
                <a:ea typeface="Arial" pitchFamily="34" charset="-122"/>
                <a:cs typeface="Arial" pitchFamily="34" charset="-120"/>
              </a:rPr>
              <a:t>Structural answers in tens of milliseconds, from a call graph it built itself.</a:t>
            </a:r>
            <a:endParaRPr lang="en-US" sz="1250" dirty="0"/>
          </a:p>
        </p:txBody>
      </p:sp>
      <p:sp>
        <p:nvSpPr>
          <p:cNvPr id="13" name="Shape 10"/>
          <p:cNvSpPr/>
          <p:nvPr/>
        </p:nvSpPr>
        <p:spPr>
          <a:xfrm>
            <a:off x="4773168" y="4206240"/>
            <a:ext cx="6848856" cy="1783080"/>
          </a:xfrm>
          <a:prstGeom prst="roundRect">
            <a:avLst>
              <a:gd name="adj" fmla="val 4615"/>
            </a:avLst>
          </a:prstGeom>
          <a:solidFill>
            <a:srgbClr val="1F1B13"/>
          </a:solidFill>
          <a:ln w="19050">
            <a:solidFill>
              <a:srgbClr val="F2B84B"/>
            </a:solidFill>
            <a:prstDash val="solid"/>
          </a:ln>
        </p:spPr>
      </p:sp>
      <p:sp>
        <p:nvSpPr>
          <p:cNvPr id="14" name="Text 11"/>
          <p:cNvSpPr/>
          <p:nvPr/>
        </p:nvSpPr>
        <p:spPr>
          <a:xfrm>
            <a:off x="5047488" y="4352544"/>
            <a:ext cx="6300216" cy="457200"/>
          </a:xfrm>
          <a:prstGeom prst="rect">
            <a:avLst/>
          </a:prstGeom>
          <a:noFill/>
          <a:ln/>
        </p:spPr>
        <p:txBody>
          <a:bodyPr wrap="square" lIns="0" tIns="0" rIns="0" bIns="0" rtlCol="0" anchor="ctr"/>
          <a:lstStyle/>
          <a:p>
            <a:pPr indent="0" marL="0">
              <a:buNone/>
            </a:pPr>
            <a:r>
              <a:rPr lang="en-US" sz="2000" b="1" dirty="0">
                <a:solidFill>
                  <a:srgbClr val="F2B84B"/>
                </a:solidFill>
                <a:latin typeface="Arial" pitchFamily="34" charset="0"/>
                <a:ea typeface="Arial" pitchFamily="34" charset="-122"/>
                <a:cs typeface="Arial" pitchFamily="34" charset="-120"/>
              </a:rPr>
              <a:t>wire</a:t>
            </a:r>
            <a:pPr indent="0" marL="0">
              <a:buNone/>
            </a:pPr>
            <a:r>
              <a:rPr lang="en-US" sz="2000" b="1" dirty="0">
                <a:solidFill>
                  <a:srgbClr val="E6EDF3"/>
                </a:solidFill>
                <a:latin typeface="Arial" pitchFamily="34" charset="0"/>
                <a:ea typeface="Arial" pitchFamily="34" charset="-122"/>
                <a:cs typeface="Arial" pitchFamily="34" charset="-120"/>
              </a:rPr>
              <a:t> — the other half: honesty</a:t>
            </a:r>
            <a:endParaRPr lang="en-US" sz="2000" dirty="0"/>
          </a:p>
        </p:txBody>
      </p:sp>
      <p:sp>
        <p:nvSpPr>
          <p:cNvPr id="15" name="Text 12"/>
          <p:cNvSpPr/>
          <p:nvPr/>
        </p:nvSpPr>
        <p:spPr>
          <a:xfrm>
            <a:off x="5047488" y="4846320"/>
            <a:ext cx="6300216" cy="566928"/>
          </a:xfrm>
          <a:prstGeom prst="rect">
            <a:avLst/>
          </a:prstGeom>
          <a:noFill/>
          <a:ln/>
        </p:spPr>
        <p:txBody>
          <a:bodyPr wrap="square" lIns="0" tIns="0" rIns="0" bIns="0" rtlCol="0" anchor="t"/>
          <a:lstStyle/>
          <a:p>
            <a:pPr indent="0" marL="0">
              <a:buNone/>
            </a:pPr>
            <a:r>
              <a:rPr lang="en-US" sz="1500" dirty="0">
                <a:solidFill>
                  <a:srgbClr val="E6EDF3"/>
                </a:solidFill>
                <a:latin typeface="Arial" pitchFamily="34" charset="0"/>
                <a:ea typeface="Arial" pitchFamily="34" charset="-122"/>
                <a:cs typeface="Arial" pitchFamily="34" charset="-120"/>
              </a:rPr>
              <a:t>Unprovable totals ship labelled as floors. A zero means none found — never none exists.</a:t>
            </a:r>
            <a:endParaRPr lang="en-US" sz="1500" dirty="0"/>
          </a:p>
        </p:txBody>
      </p:sp>
      <p:sp>
        <p:nvSpPr>
          <p:cNvPr id="16" name="Text 13"/>
          <p:cNvSpPr/>
          <p:nvPr/>
        </p:nvSpPr>
        <p:spPr>
          <a:xfrm>
            <a:off x="5047488" y="5468112"/>
            <a:ext cx="6300216" cy="384048"/>
          </a:xfrm>
          <a:prstGeom prst="rect">
            <a:avLst/>
          </a:prstGeom>
          <a:noFill/>
          <a:ln/>
        </p:spPr>
        <p:txBody>
          <a:bodyPr wrap="square" lIns="0" tIns="0" rIns="0" bIns="0" rtlCol="0" anchor="t"/>
          <a:lstStyle/>
          <a:p>
            <a:pPr indent="0" marL="0">
              <a:buNone/>
            </a:pPr>
            <a:r>
              <a:rPr lang="en-US" sz="1250" dirty="0">
                <a:solidFill>
                  <a:srgbClr val="8B95A5"/>
                </a:solidFill>
                <a:latin typeface="Arial" pitchFamily="34" charset="0"/>
                <a:ea typeface="Arial" pitchFamily="34" charset="-122"/>
                <a:cs typeface="Arial" pitchFamily="34" charset="-120"/>
              </a:rPr>
              <a:t>Every truncation is disclosed, and every guess says how many it chose from.</a:t>
            </a:r>
            <a:endParaRPr lang="en-US" sz="1250" dirty="0"/>
          </a:p>
        </p:txBody>
      </p:sp>
      <p:sp>
        <p:nvSpPr>
          <p:cNvPr id="17"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Apache-2.0  ·  single binary  ·  hermetic build (proven with the network off)  ·  23 vendored tree-sitter grammars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problem</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Your agent reads the whole library to answer one question</a:t>
            </a:r>
            <a:endParaRPr lang="en-US" sz="3400" dirty="0"/>
          </a:p>
        </p:txBody>
      </p:sp>
      <p:sp>
        <p:nvSpPr>
          <p:cNvPr id="4" name="Text 2"/>
          <p:cNvSpPr/>
          <p:nvPr/>
        </p:nvSpPr>
        <p:spPr>
          <a:xfrm>
            <a:off x="566928" y="1783080"/>
            <a:ext cx="5577840" cy="2926080"/>
          </a:xfrm>
          <a:prstGeom prst="rect">
            <a:avLst/>
          </a:prstGeom>
          <a:noFill/>
          <a:ln/>
        </p:spPr>
        <p:txBody>
          <a:bodyPr wrap="square" lIns="0" tIns="0" rIns="0" bIns="0" rtlCol="0" anchor="ctr"/>
          <a:lstStyle/>
          <a:p>
            <a:pPr indent="0" marL="0">
              <a:buNone/>
            </a:pPr>
            <a:r>
              <a:rPr lang="en-US" sz="1650" dirty="0">
                <a:solidFill>
                  <a:srgbClr val="E6EDF3"/>
                </a:solidFill>
                <a:latin typeface="Arial" pitchFamily="34" charset="0"/>
                <a:ea typeface="Arial" pitchFamily="34" charset="-122"/>
                <a:cs typeface="Arial" pitchFamily="34" charset="-120"/>
              </a:rPr>
              <a:t>Blind grep, then whole-file reads. Most of what enters the context window is never used — it is paid for anyway, on every step of every task.
</a:t>
            </a:r>
            <a:pPr indent="0" marL="0">
              <a:buNone/>
            </a:pPr>
            <a:r>
              <a:rPr lang="en-US" sz="1650" dirty="0">
                <a:solidFill>
                  <a:srgbClr val="E6EDF3"/>
                </a:solidFill>
                <a:latin typeface="Arial" pitchFamily="34" charset="0"/>
                <a:ea typeface="Arial" pitchFamily="34" charset="-122"/>
                <a:cs typeface="Arial" pitchFamily="34" charset="-120"/>
              </a:rPr>
              <a:t>And bigger context is not better context: irrelevant text actively degrades the answer. The job is selection — a small, ranked, structural map beats a pile of open files.</a:t>
            </a:r>
            <a:endParaRPr lang="en-US" sz="1650" dirty="0"/>
          </a:p>
        </p:txBody>
      </p:sp>
      <p:sp>
        <p:nvSpPr>
          <p:cNvPr id="5" name="Shape 3"/>
          <p:cNvSpPr/>
          <p:nvPr/>
        </p:nvSpPr>
        <p:spPr>
          <a:xfrm>
            <a:off x="6629400" y="1783080"/>
            <a:ext cx="4892040" cy="1965960"/>
          </a:xfrm>
          <a:prstGeom prst="roundRect">
            <a:avLst>
              <a:gd name="adj" fmla="val 4186"/>
            </a:avLst>
          </a:prstGeom>
          <a:solidFill>
            <a:srgbClr val="161D28"/>
          </a:solidFill>
          <a:ln w="9525">
            <a:solidFill>
              <a:srgbClr val="232D3D"/>
            </a:solidFill>
            <a:prstDash val="solid"/>
          </a:ln>
        </p:spPr>
      </p:sp>
      <p:sp>
        <p:nvSpPr>
          <p:cNvPr id="6" name="Text 4"/>
          <p:cNvSpPr/>
          <p:nvPr/>
        </p:nvSpPr>
        <p:spPr>
          <a:xfrm>
            <a:off x="6720840" y="2011680"/>
            <a:ext cx="4709160" cy="868680"/>
          </a:xfrm>
          <a:prstGeom prst="rect">
            <a:avLst/>
          </a:prstGeom>
          <a:noFill/>
          <a:ln/>
        </p:spPr>
        <p:txBody>
          <a:bodyPr wrap="square" lIns="0" tIns="0" rIns="0" bIns="0" rtlCol="0" anchor="ctr"/>
          <a:lstStyle/>
          <a:p>
            <a:pPr algn="ctr" indent="0" marL="0">
              <a:buNone/>
            </a:pPr>
            <a:r>
              <a:rPr lang="en-US" sz="4400" b="1" dirty="0">
                <a:solidFill>
                  <a:srgbClr val="56D6E8"/>
                </a:solidFill>
                <a:latin typeface="Arial" pitchFamily="34" charset="0"/>
                <a:ea typeface="Arial" pitchFamily="34" charset="-122"/>
                <a:cs typeface="Arial" pitchFamily="34" charset="-120"/>
              </a:rPr>
              <a:t>0.108 s</a:t>
            </a:r>
            <a:endParaRPr lang="en-US" sz="4400" dirty="0"/>
          </a:p>
        </p:txBody>
      </p:sp>
      <p:sp>
        <p:nvSpPr>
          <p:cNvPr id="7" name="Text 5"/>
          <p:cNvSpPr/>
          <p:nvPr/>
        </p:nvSpPr>
        <p:spPr>
          <a:xfrm>
            <a:off x="6720840" y="2825496"/>
            <a:ext cx="4709160" cy="685800"/>
          </a:xfrm>
          <a:prstGeom prst="rect">
            <a:avLst/>
          </a:prstGeom>
          <a:noFill/>
          <a:ln/>
        </p:spPr>
        <p:txBody>
          <a:bodyPr wrap="square" lIns="0" tIns="0" rIns="0" bIns="0" rtlCol="0" anchor="ctr"/>
          <a:lstStyle/>
          <a:p>
            <a:pPr algn="ctr" indent="0" marL="0">
              <a:buNone/>
            </a:pPr>
            <a:r>
              <a:rPr lang="en-US" sz="1250" dirty="0">
                <a:solidFill>
                  <a:srgbClr val="8B95A5"/>
                </a:solidFill>
                <a:latin typeface="Arial" pitchFamily="34" charset="0"/>
                <a:ea typeface="Arial" pitchFamily="34" charset="-122"/>
                <a:cs typeface="Arial" pitchFamily="34" charset="-120"/>
              </a:rPr>
              <a:t>median answer, warm index — round 4, all arms one machine one day, N = 60</a:t>
            </a:r>
            <a:endParaRPr lang="en-US" sz="1250" dirty="0"/>
          </a:p>
        </p:txBody>
      </p:sp>
      <p:sp>
        <p:nvSpPr>
          <p:cNvPr id="8" name="Shape 6"/>
          <p:cNvSpPr/>
          <p:nvPr/>
        </p:nvSpPr>
        <p:spPr>
          <a:xfrm>
            <a:off x="6629400" y="3931920"/>
            <a:ext cx="4892040" cy="1965960"/>
          </a:xfrm>
          <a:prstGeom prst="roundRect">
            <a:avLst>
              <a:gd name="adj" fmla="val 4186"/>
            </a:avLst>
          </a:prstGeom>
          <a:solidFill>
            <a:srgbClr val="161D28"/>
          </a:solidFill>
          <a:ln w="9525">
            <a:solidFill>
              <a:srgbClr val="232D3D"/>
            </a:solidFill>
            <a:prstDash val="solid"/>
          </a:ln>
        </p:spPr>
      </p:sp>
      <p:sp>
        <p:nvSpPr>
          <p:cNvPr id="9" name="Text 7"/>
          <p:cNvSpPr/>
          <p:nvPr/>
        </p:nvSpPr>
        <p:spPr>
          <a:xfrm>
            <a:off x="6720840" y="4160520"/>
            <a:ext cx="4709160" cy="868680"/>
          </a:xfrm>
          <a:prstGeom prst="rect">
            <a:avLst/>
          </a:prstGeom>
          <a:noFill/>
          <a:ln/>
        </p:spPr>
        <p:txBody>
          <a:bodyPr wrap="square" lIns="0" tIns="0" rIns="0" bIns="0" rtlCol="0" anchor="ctr"/>
          <a:lstStyle/>
          <a:p>
            <a:pPr algn="ctr" indent="0" marL="0">
              <a:buNone/>
            </a:pPr>
            <a:r>
              <a:rPr lang="en-US" sz="4400" b="1" dirty="0">
                <a:solidFill>
                  <a:srgbClr val="4AC26B"/>
                </a:solidFill>
                <a:latin typeface="Arial" pitchFamily="34" charset="0"/>
                <a:ea typeface="Arial" pitchFamily="34" charset="-122"/>
                <a:cs typeface="Arial" pitchFamily="34" charset="-120"/>
              </a:rPr>
              <a:t>−39.4%</a:t>
            </a:r>
            <a:endParaRPr lang="en-US" sz="4400" dirty="0"/>
          </a:p>
        </p:txBody>
      </p:sp>
      <p:sp>
        <p:nvSpPr>
          <p:cNvPr id="10" name="Text 8"/>
          <p:cNvSpPr/>
          <p:nvPr/>
        </p:nvSpPr>
        <p:spPr>
          <a:xfrm>
            <a:off x="6720840" y="4974336"/>
            <a:ext cx="4709160" cy="685800"/>
          </a:xfrm>
          <a:prstGeom prst="rect">
            <a:avLst/>
          </a:prstGeom>
          <a:noFill/>
          <a:ln/>
        </p:spPr>
        <p:txBody>
          <a:bodyPr wrap="square" lIns="0" tIns="0" rIns="0" bIns="0" rtlCol="0" anchor="ctr"/>
          <a:lstStyle/>
          <a:p>
            <a:pPr algn="ctr" indent="0" marL="0">
              <a:buNone/>
            </a:pPr>
            <a:r>
              <a:rPr lang="en-US" sz="1250" dirty="0">
                <a:solidFill>
                  <a:srgbClr val="8B95A5"/>
                </a:solidFill>
                <a:latin typeface="Arial" pitchFamily="34" charset="0"/>
                <a:ea typeface="Arial" pitchFamily="34" charset="-122"/>
                <a:cs typeface="Arial" pitchFamily="34" charset="-120"/>
              </a:rPr>
              <a:t>token ceiling vs the un-routed baseline — LocBench cost ledger, N = 243</a:t>
            </a:r>
            <a:endParaRPr lang="en-US" sz="1250" dirty="0"/>
          </a:p>
        </p:txBody>
      </p:sp>
      <p:sp>
        <p:nvSpPr>
          <p:cNvPr id="11" name="Text 9"/>
          <p:cNvSpPr/>
          <p:nvPr/>
        </p:nvSpPr>
        <p:spPr>
          <a:xfrm>
            <a:off x="566928" y="5029200"/>
            <a:ext cx="5577840" cy="109728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Speed caveat travels with the number: ripwire answers from a warm, pre-built index, and round 4 measured its index cost too — 0.31 s, tabulated beside the competitors' rather than omitted.</a:t>
            </a:r>
            <a:endParaRPr lang="en-US" sz="1150" dirty="0"/>
          </a:p>
        </p:txBody>
      </p:sp>
      <p:sp>
        <p:nvSpPr>
          <p:cNvPr id="12" name="Text 1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bench/headtohead/r4-2026-08-06/ · bench/locbench/ — every figure on this deck names its instrument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one binary, the whole pipeline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Crawl → parse → resolve → rank → emit. Deterministic, end to end.</a:t>
            </a:r>
            <a:endParaRPr lang="en-US" sz="3400" dirty="0"/>
          </a:p>
        </p:txBody>
      </p:sp>
      <p:sp>
        <p:nvSpPr>
          <p:cNvPr id="4" name="Shape 2"/>
          <p:cNvSpPr/>
          <p:nvPr/>
        </p:nvSpPr>
        <p:spPr>
          <a:xfrm>
            <a:off x="566928" y="2011680"/>
            <a:ext cx="2057400" cy="1371600"/>
          </a:xfrm>
          <a:prstGeom prst="roundRect">
            <a:avLst>
              <a:gd name="adj" fmla="val 6000"/>
            </a:avLst>
          </a:prstGeom>
          <a:solidFill>
            <a:srgbClr val="1B2432"/>
          </a:solidFill>
          <a:ln w="9525">
            <a:solidFill>
              <a:srgbClr val="232D3D"/>
            </a:solidFill>
            <a:prstDash val="solid"/>
          </a:ln>
        </p:spPr>
      </p:sp>
      <p:sp>
        <p:nvSpPr>
          <p:cNvPr id="5" name="Text 3"/>
          <p:cNvSpPr/>
          <p:nvPr/>
        </p:nvSpPr>
        <p:spPr>
          <a:xfrm>
            <a:off x="676656"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crawl</a:t>
            </a:r>
            <a:endParaRPr lang="en-US" sz="1700" dirty="0"/>
          </a:p>
        </p:txBody>
      </p:sp>
      <p:sp>
        <p:nvSpPr>
          <p:cNvPr id="6" name="Text 4"/>
          <p:cNvSpPr/>
          <p:nvPr/>
        </p:nvSpPr>
        <p:spPr>
          <a:xfrm>
            <a:off x="676656"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tree, no VCS needed</a:t>
            </a:r>
            <a:endParaRPr lang="en-US" sz="1150" dirty="0"/>
          </a:p>
        </p:txBody>
      </p:sp>
      <p:sp>
        <p:nvSpPr>
          <p:cNvPr id="7" name="Text 5"/>
          <p:cNvSpPr/>
          <p:nvPr/>
        </p:nvSpPr>
        <p:spPr>
          <a:xfrm>
            <a:off x="2587752"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2825496" y="2011680"/>
            <a:ext cx="2057400" cy="1371600"/>
          </a:xfrm>
          <a:prstGeom prst="roundRect">
            <a:avLst>
              <a:gd name="adj" fmla="val 6000"/>
            </a:avLst>
          </a:prstGeom>
          <a:solidFill>
            <a:srgbClr val="1B2432"/>
          </a:solidFill>
          <a:ln w="9525">
            <a:solidFill>
              <a:srgbClr val="232D3D"/>
            </a:solidFill>
            <a:prstDash val="solid"/>
          </a:ln>
        </p:spPr>
      </p:sp>
      <p:sp>
        <p:nvSpPr>
          <p:cNvPr id="9" name="Text 7"/>
          <p:cNvSpPr/>
          <p:nvPr/>
        </p:nvSpPr>
        <p:spPr>
          <a:xfrm>
            <a:off x="2935224"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parse</a:t>
            </a:r>
            <a:endParaRPr lang="en-US" sz="1700" dirty="0"/>
          </a:p>
        </p:txBody>
      </p:sp>
      <p:sp>
        <p:nvSpPr>
          <p:cNvPr id="10" name="Text 8"/>
          <p:cNvSpPr/>
          <p:nvPr/>
        </p:nvSpPr>
        <p:spPr>
          <a:xfrm>
            <a:off x="2935224"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tree-sitter, 23 vendored grammars</a:t>
            </a:r>
            <a:endParaRPr lang="en-US" sz="1150" dirty="0"/>
          </a:p>
        </p:txBody>
      </p:sp>
      <p:sp>
        <p:nvSpPr>
          <p:cNvPr id="11" name="Text 9"/>
          <p:cNvSpPr/>
          <p:nvPr/>
        </p:nvSpPr>
        <p:spPr>
          <a:xfrm>
            <a:off x="4846320"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084064" y="2011680"/>
            <a:ext cx="2057400" cy="1371600"/>
          </a:xfrm>
          <a:prstGeom prst="roundRect">
            <a:avLst>
              <a:gd name="adj" fmla="val 6000"/>
            </a:avLst>
          </a:prstGeom>
          <a:solidFill>
            <a:srgbClr val="1B2432"/>
          </a:solidFill>
          <a:ln w="9525">
            <a:solidFill>
              <a:srgbClr val="232D3D"/>
            </a:solidFill>
            <a:prstDash val="solid"/>
          </a:ln>
        </p:spPr>
      </p:sp>
      <p:sp>
        <p:nvSpPr>
          <p:cNvPr id="13" name="Text 11"/>
          <p:cNvSpPr/>
          <p:nvPr/>
        </p:nvSpPr>
        <p:spPr>
          <a:xfrm>
            <a:off x="5193792"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resolve</a:t>
            </a:r>
            <a:endParaRPr lang="en-US" sz="1700" dirty="0"/>
          </a:p>
        </p:txBody>
      </p:sp>
      <p:sp>
        <p:nvSpPr>
          <p:cNvPr id="14" name="Text 12"/>
          <p:cNvSpPr/>
          <p:nvPr/>
        </p:nvSpPr>
        <p:spPr>
          <a:xfrm>
            <a:off x="5193792"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references → call graph</a:t>
            </a:r>
            <a:endParaRPr lang="en-US" sz="1150" dirty="0"/>
          </a:p>
        </p:txBody>
      </p:sp>
      <p:sp>
        <p:nvSpPr>
          <p:cNvPr id="15" name="Text 13"/>
          <p:cNvSpPr/>
          <p:nvPr/>
        </p:nvSpPr>
        <p:spPr>
          <a:xfrm>
            <a:off x="7104888"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7342632" y="2011680"/>
            <a:ext cx="2057400" cy="1371600"/>
          </a:xfrm>
          <a:prstGeom prst="roundRect">
            <a:avLst>
              <a:gd name="adj" fmla="val 6000"/>
            </a:avLst>
          </a:prstGeom>
          <a:solidFill>
            <a:srgbClr val="1B2432"/>
          </a:solidFill>
          <a:ln w="9525">
            <a:solidFill>
              <a:srgbClr val="232D3D"/>
            </a:solidFill>
            <a:prstDash val="solid"/>
          </a:ln>
        </p:spPr>
      </p:sp>
      <p:sp>
        <p:nvSpPr>
          <p:cNvPr id="17" name="Text 15"/>
          <p:cNvSpPr/>
          <p:nvPr/>
        </p:nvSpPr>
        <p:spPr>
          <a:xfrm>
            <a:off x="7452360"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rank</a:t>
            </a:r>
            <a:endParaRPr lang="en-US" sz="1700" dirty="0"/>
          </a:p>
        </p:txBody>
      </p:sp>
      <p:sp>
        <p:nvSpPr>
          <p:cNvPr id="18" name="Text 16"/>
          <p:cNvSpPr/>
          <p:nvPr/>
        </p:nvSpPr>
        <p:spPr>
          <a:xfrm>
            <a:off x="7452360"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Personalized PageRank</a:t>
            </a:r>
            <a:endParaRPr lang="en-US" sz="1150" dirty="0"/>
          </a:p>
        </p:txBody>
      </p:sp>
      <p:sp>
        <p:nvSpPr>
          <p:cNvPr id="19" name="Text 17"/>
          <p:cNvSpPr/>
          <p:nvPr/>
        </p:nvSpPr>
        <p:spPr>
          <a:xfrm>
            <a:off x="9363456"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9601200" y="2011680"/>
            <a:ext cx="2057400" cy="1371600"/>
          </a:xfrm>
          <a:prstGeom prst="roundRect">
            <a:avLst>
              <a:gd name="adj" fmla="val 6000"/>
            </a:avLst>
          </a:prstGeom>
          <a:solidFill>
            <a:srgbClr val="1B2432"/>
          </a:solidFill>
          <a:ln w="9525">
            <a:solidFill>
              <a:srgbClr val="232D3D"/>
            </a:solidFill>
            <a:prstDash val="solid"/>
          </a:ln>
        </p:spPr>
      </p:sp>
      <p:sp>
        <p:nvSpPr>
          <p:cNvPr id="21" name="Text 19"/>
          <p:cNvSpPr/>
          <p:nvPr/>
        </p:nvSpPr>
        <p:spPr>
          <a:xfrm>
            <a:off x="9710928"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emit</a:t>
            </a:r>
            <a:endParaRPr lang="en-US" sz="1700" dirty="0"/>
          </a:p>
        </p:txBody>
      </p:sp>
      <p:sp>
        <p:nvSpPr>
          <p:cNvPr id="22" name="Text 20"/>
          <p:cNvSpPr/>
          <p:nvPr/>
        </p:nvSpPr>
        <p:spPr>
          <a:xfrm>
            <a:off x="9710928"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minified XML, one line</a:t>
            </a:r>
            <a:endParaRPr lang="en-US" sz="1150" dirty="0"/>
          </a:p>
        </p:txBody>
      </p:sp>
      <p:sp>
        <p:nvSpPr>
          <p:cNvPr id="23" name="Shape 21"/>
          <p:cNvSpPr/>
          <p:nvPr/>
        </p:nvSpPr>
        <p:spPr>
          <a:xfrm>
            <a:off x="566928" y="3639312"/>
            <a:ext cx="11055096" cy="713232"/>
          </a:xfrm>
          <a:prstGeom prst="roundRect">
            <a:avLst>
              <a:gd name="adj" fmla="val 11538"/>
            </a:avLst>
          </a:prstGeom>
          <a:solidFill>
            <a:srgbClr val="161D28"/>
          </a:solidFill>
          <a:ln w="9525">
            <a:solidFill>
              <a:srgbClr val="232D3D"/>
            </a:solidFill>
            <a:prstDash val="solid"/>
          </a:ln>
        </p:spPr>
      </p:sp>
      <p:sp>
        <p:nvSpPr>
          <p:cNvPr id="24" name="Text 22"/>
          <p:cNvSpPr/>
          <p:nvPr/>
        </p:nvSpPr>
        <p:spPr>
          <a:xfrm>
            <a:off x="749808" y="3685032"/>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byte-identical</a:t>
            </a:r>
            <a:endParaRPr lang="en-US" sz="1350" dirty="0"/>
          </a:p>
        </p:txBody>
      </p:sp>
      <p:sp>
        <p:nvSpPr>
          <p:cNvPr id="25" name="Text 23"/>
          <p:cNvSpPr/>
          <p:nvPr/>
        </p:nvSpPr>
        <p:spPr>
          <a:xfrm>
            <a:off x="3493008" y="3685032"/>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two runs, same bytes — a gate on every push, not a tendency; warm equals cold</a:t>
            </a:r>
            <a:endParaRPr lang="en-US" sz="1200" dirty="0"/>
          </a:p>
        </p:txBody>
      </p:sp>
      <p:sp>
        <p:nvSpPr>
          <p:cNvPr id="26" name="Shape 24"/>
          <p:cNvSpPr/>
          <p:nvPr/>
        </p:nvSpPr>
        <p:spPr>
          <a:xfrm>
            <a:off x="566928" y="4425696"/>
            <a:ext cx="11055096" cy="713232"/>
          </a:xfrm>
          <a:prstGeom prst="roundRect">
            <a:avLst>
              <a:gd name="adj" fmla="val 11538"/>
            </a:avLst>
          </a:prstGeom>
          <a:solidFill>
            <a:srgbClr val="161D28"/>
          </a:solidFill>
          <a:ln w="9525">
            <a:solidFill>
              <a:srgbClr val="232D3D"/>
            </a:solidFill>
            <a:prstDash val="solid"/>
          </a:ln>
        </p:spPr>
      </p:sp>
      <p:sp>
        <p:nvSpPr>
          <p:cNvPr id="27" name="Text 25"/>
          <p:cNvSpPr/>
          <p:nvPr/>
        </p:nvSpPr>
        <p:spPr>
          <a:xfrm>
            <a:off x="749808" y="4471416"/>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zero runtime deps</a:t>
            </a:r>
            <a:endParaRPr lang="en-US" sz="1350" dirty="0"/>
          </a:p>
        </p:txBody>
      </p:sp>
      <p:sp>
        <p:nvSpPr>
          <p:cNvPr id="28" name="Text 26"/>
          <p:cNvSpPr/>
          <p:nvPr/>
        </p:nvSpPr>
        <p:spPr>
          <a:xfrm>
            <a:off x="3493008" y="4471416"/>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CMake + a C++23 compiler; builds with the network off — vendored everything</a:t>
            </a:r>
            <a:endParaRPr lang="en-US" sz="1200" dirty="0"/>
          </a:p>
        </p:txBody>
      </p:sp>
      <p:sp>
        <p:nvSpPr>
          <p:cNvPr id="29" name="Shape 27"/>
          <p:cNvSpPr/>
          <p:nvPr/>
        </p:nvSpPr>
        <p:spPr>
          <a:xfrm>
            <a:off x="566928" y="5212080"/>
            <a:ext cx="11055096" cy="713232"/>
          </a:xfrm>
          <a:prstGeom prst="roundRect">
            <a:avLst>
              <a:gd name="adj" fmla="val 11538"/>
            </a:avLst>
          </a:prstGeom>
          <a:solidFill>
            <a:srgbClr val="161D28"/>
          </a:solidFill>
          <a:ln w="9525">
            <a:solidFill>
              <a:srgbClr val="232D3D"/>
            </a:solidFill>
            <a:prstDash val="solid"/>
          </a:ln>
        </p:spPr>
      </p:sp>
      <p:sp>
        <p:nvSpPr>
          <p:cNvPr id="30" name="Text 28"/>
          <p:cNvSpPr/>
          <p:nvPr/>
        </p:nvSpPr>
        <p:spPr>
          <a:xfrm>
            <a:off x="749808" y="5257800"/>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the languages</a:t>
            </a:r>
            <a:endParaRPr lang="en-US" sz="1350" dirty="0"/>
          </a:p>
        </p:txBody>
      </p:sp>
      <p:sp>
        <p:nvSpPr>
          <p:cNvPr id="31" name="Text 29"/>
          <p:cNvSpPr/>
          <p:nvPr/>
        </p:nvSpPr>
        <p:spPr>
          <a:xfrm>
            <a:off x="3493008" y="5257800"/>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Rust · C++ · ObjC/C++ · C · Metal · CUDA · Python · Go · Swift · TypeScript · JavaScript · Java · Ruby · PHP · Lua · Elixir · Dart · Bash · C# · JSON · TOML · YAML · Markdown — 23 vendored grammars; markdown headings are real symbols</a:t>
            </a:r>
            <a:endParaRPr lang="en-US" sz="1200" dirty="0"/>
          </a:p>
        </p:txBody>
      </p:sp>
      <p:sp>
        <p:nvSpPr>
          <p:cNvPr id="32" name="Shape 30"/>
          <p:cNvSpPr/>
          <p:nvPr/>
        </p:nvSpPr>
        <p:spPr>
          <a:xfrm>
            <a:off x="566928" y="5998464"/>
            <a:ext cx="11055096" cy="713232"/>
          </a:xfrm>
          <a:prstGeom prst="roundRect">
            <a:avLst>
              <a:gd name="adj" fmla="val 11538"/>
            </a:avLst>
          </a:prstGeom>
          <a:solidFill>
            <a:srgbClr val="161D28"/>
          </a:solidFill>
          <a:ln w="9525">
            <a:solidFill>
              <a:srgbClr val="232D3D"/>
            </a:solidFill>
            <a:prstDash val="solid"/>
          </a:ln>
        </p:spPr>
      </p:sp>
      <p:sp>
        <p:nvSpPr>
          <p:cNvPr id="33" name="Text 31"/>
          <p:cNvSpPr/>
          <p:nvPr/>
        </p:nvSpPr>
        <p:spPr>
          <a:xfrm>
            <a:off x="749808" y="6044184"/>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agent-native</a:t>
            </a:r>
            <a:endParaRPr lang="en-US" sz="1350" dirty="0"/>
          </a:p>
        </p:txBody>
      </p:sp>
      <p:sp>
        <p:nvSpPr>
          <p:cNvPr id="34" name="Text 32"/>
          <p:cNvSpPr/>
          <p:nvPr/>
        </p:nvSpPr>
        <p:spPr>
          <a:xfrm>
            <a:off x="3493008" y="6044184"/>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an MCP server and 179 long flags behind one `--help` that is always the authority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every feature, one screen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Seven families of questions it answers</a:t>
            </a:r>
            <a:endParaRPr lang="en-US" sz="3400" dirty="0"/>
          </a:p>
        </p:txBody>
      </p:sp>
      <p:sp>
        <p:nvSpPr>
          <p:cNvPr id="4" name="Shape 2"/>
          <p:cNvSpPr/>
          <p:nvPr/>
        </p:nvSpPr>
        <p:spPr>
          <a:xfrm>
            <a:off x="566928" y="1691640"/>
            <a:ext cx="11055096" cy="603504"/>
          </a:xfrm>
          <a:prstGeom prst="roundRect">
            <a:avLst>
              <a:gd name="adj" fmla="val 13636"/>
            </a:avLst>
          </a:prstGeom>
          <a:solidFill>
            <a:srgbClr val="161D28"/>
          </a:solidFill>
          <a:ln w="9525">
            <a:solidFill>
              <a:srgbClr val="232D3D"/>
            </a:solidFill>
            <a:prstDash val="solid"/>
          </a:ln>
        </p:spPr>
      </p:sp>
      <p:sp>
        <p:nvSpPr>
          <p:cNvPr id="5" name="Text 3"/>
          <p:cNvSpPr/>
          <p:nvPr/>
        </p:nvSpPr>
        <p:spPr>
          <a:xfrm>
            <a:off x="731520" y="1728216"/>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understand cold</a:t>
            </a:r>
            <a:endParaRPr lang="en-US" sz="1250" dirty="0"/>
          </a:p>
        </p:txBody>
      </p:sp>
      <p:sp>
        <p:nvSpPr>
          <p:cNvPr id="6" name="Text 4"/>
          <p:cNvSpPr/>
          <p:nvPr/>
        </p:nvSpPr>
        <p:spPr>
          <a:xfrm>
            <a:off x="2990088" y="1728216"/>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What is this repo, and what matters in it?</a:t>
            </a:r>
            <a:endParaRPr lang="en-US" sz="1100" dirty="0"/>
          </a:p>
        </p:txBody>
      </p:sp>
      <p:sp>
        <p:nvSpPr>
          <p:cNvPr id="7" name="Text 5"/>
          <p:cNvSpPr/>
          <p:nvPr/>
        </p:nvSpPr>
        <p:spPr>
          <a:xfrm>
            <a:off x="6327648" y="1728216"/>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--for  --tree  --lego  --exemplar  --recall  --pack-task  --token-budget</a:t>
            </a:r>
            <a:endParaRPr lang="en-US" sz="900" dirty="0"/>
          </a:p>
        </p:txBody>
      </p:sp>
      <p:sp>
        <p:nvSpPr>
          <p:cNvPr id="8" name="Shape 6"/>
          <p:cNvSpPr/>
          <p:nvPr/>
        </p:nvSpPr>
        <p:spPr>
          <a:xfrm>
            <a:off x="566928" y="2368296"/>
            <a:ext cx="11055096" cy="603504"/>
          </a:xfrm>
          <a:prstGeom prst="roundRect">
            <a:avLst>
              <a:gd name="adj" fmla="val 13636"/>
            </a:avLst>
          </a:prstGeom>
          <a:solidFill>
            <a:srgbClr val="161D28"/>
          </a:solidFill>
          <a:ln w="9525">
            <a:solidFill>
              <a:srgbClr val="232D3D"/>
            </a:solidFill>
            <a:prstDash val="solid"/>
          </a:ln>
        </p:spPr>
      </p:sp>
      <p:sp>
        <p:nvSpPr>
          <p:cNvPr id="9" name="Text 7"/>
          <p:cNvSpPr/>
          <p:nvPr/>
        </p:nvSpPr>
        <p:spPr>
          <a:xfrm>
            <a:off x="731520" y="2404872"/>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navigate</a:t>
            </a:r>
            <a:endParaRPr lang="en-US" sz="1250" dirty="0"/>
          </a:p>
        </p:txBody>
      </p:sp>
      <p:sp>
        <p:nvSpPr>
          <p:cNvPr id="10" name="Text 8"/>
          <p:cNvSpPr/>
          <p:nvPr/>
        </p:nvSpPr>
        <p:spPr>
          <a:xfrm>
            <a:off x="2990088" y="2404872"/>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Who calls this? Safe to change or delete? Which tests?</a:t>
            </a:r>
            <a:endParaRPr lang="en-US" sz="1100" dirty="0"/>
          </a:p>
        </p:txBody>
      </p:sp>
      <p:sp>
        <p:nvSpPr>
          <p:cNvPr id="11" name="Text 9"/>
          <p:cNvSpPr/>
          <p:nvPr/>
        </p:nvSpPr>
        <p:spPr>
          <a:xfrm>
            <a:off x="6327648" y="2404872"/>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--callers  --callees  --uses  --impact  --path  --connect  --affected  --situ  --test-gate  --from-trace  --pattern  --safe-delete</a:t>
            </a:r>
            <a:endParaRPr lang="en-US" sz="900" dirty="0"/>
          </a:p>
        </p:txBody>
      </p:sp>
      <p:sp>
        <p:nvSpPr>
          <p:cNvPr id="12" name="Shape 10"/>
          <p:cNvSpPr/>
          <p:nvPr/>
        </p:nvSpPr>
        <p:spPr>
          <a:xfrm>
            <a:off x="566928" y="3044952"/>
            <a:ext cx="11055096" cy="603504"/>
          </a:xfrm>
          <a:prstGeom prst="roundRect">
            <a:avLst>
              <a:gd name="adj" fmla="val 13636"/>
            </a:avLst>
          </a:prstGeom>
          <a:solidFill>
            <a:srgbClr val="161D28"/>
          </a:solidFill>
          <a:ln w="9525">
            <a:solidFill>
              <a:srgbClr val="232D3D"/>
            </a:solidFill>
            <a:prstDash val="solid"/>
          </a:ln>
        </p:spPr>
      </p:sp>
      <p:sp>
        <p:nvSpPr>
          <p:cNvPr id="13" name="Text 11"/>
          <p:cNvSpPr/>
          <p:nvPr/>
        </p:nvSpPr>
        <p:spPr>
          <a:xfrm>
            <a:off x="731520" y="3081528"/>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detail ladder</a:t>
            </a:r>
            <a:endParaRPr lang="en-US" sz="1250" dirty="0"/>
          </a:p>
        </p:txBody>
      </p:sp>
      <p:sp>
        <p:nvSpPr>
          <p:cNvPr id="14" name="Text 12"/>
          <p:cNvSpPr/>
          <p:nvPr/>
        </p:nvSpPr>
        <p:spPr>
          <a:xfrm>
            <a:off x="2990088" y="3081528"/>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Show me more — but only where it pays.</a:t>
            </a:r>
            <a:endParaRPr lang="en-US" sz="1100" dirty="0"/>
          </a:p>
        </p:txBody>
      </p:sp>
      <p:sp>
        <p:nvSpPr>
          <p:cNvPr id="15" name="Text 13"/>
          <p:cNvSpPr/>
          <p:nvPr/>
        </p:nvSpPr>
        <p:spPr>
          <a:xfrm>
            <a:off x="6327648" y="3081528"/>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--detail  --pack-signatures  --outline  --expand  --compress</a:t>
            </a:r>
            <a:endParaRPr lang="en-US" sz="900" dirty="0"/>
          </a:p>
        </p:txBody>
      </p:sp>
      <p:sp>
        <p:nvSpPr>
          <p:cNvPr id="16" name="Shape 14"/>
          <p:cNvSpPr/>
          <p:nvPr/>
        </p:nvSpPr>
        <p:spPr>
          <a:xfrm>
            <a:off x="566928" y="3721608"/>
            <a:ext cx="11055096" cy="603504"/>
          </a:xfrm>
          <a:prstGeom prst="roundRect">
            <a:avLst>
              <a:gd name="adj" fmla="val 13636"/>
            </a:avLst>
          </a:prstGeom>
          <a:solidFill>
            <a:srgbClr val="161D28"/>
          </a:solidFill>
          <a:ln w="9525">
            <a:solidFill>
              <a:srgbClr val="232D3D"/>
            </a:solidFill>
            <a:prstDash val="solid"/>
          </a:ln>
        </p:spPr>
      </p:sp>
      <p:sp>
        <p:nvSpPr>
          <p:cNvPr id="17" name="Text 15"/>
          <p:cNvSpPr/>
          <p:nvPr/>
        </p:nvSpPr>
        <p:spPr>
          <a:xfrm>
            <a:off x="731520" y="3758184"/>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quality &amp; risk</a:t>
            </a:r>
            <a:endParaRPr lang="en-US" sz="1250" dirty="0"/>
          </a:p>
        </p:txBody>
      </p:sp>
      <p:sp>
        <p:nvSpPr>
          <p:cNvPr id="18" name="Text 16"/>
          <p:cNvSpPr/>
          <p:nvPr/>
        </p:nvSpPr>
        <p:spPr>
          <a:xfrm>
            <a:off x="2990088" y="3758184"/>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Where is the risk, and did I just add some?</a:t>
            </a:r>
            <a:endParaRPr lang="en-US" sz="1100" dirty="0"/>
          </a:p>
        </p:txBody>
      </p:sp>
      <p:sp>
        <p:nvSpPr>
          <p:cNvPr id="19" name="Text 17"/>
          <p:cNvSpPr/>
          <p:nvPr/>
        </p:nvSpPr>
        <p:spPr>
          <a:xfrm>
            <a:off x="6327648" y="3758184"/>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--quality-panel  --quality-delta  --dmm  --readability  --ensemble  --context-ratio  --nonlocal-state  --field-affinity  --hotspots  --lint  --clones</a:t>
            </a:r>
            <a:endParaRPr lang="en-US" sz="900" dirty="0"/>
          </a:p>
        </p:txBody>
      </p:sp>
      <p:sp>
        <p:nvSpPr>
          <p:cNvPr id="20" name="Shape 18"/>
          <p:cNvSpPr/>
          <p:nvPr/>
        </p:nvSpPr>
        <p:spPr>
          <a:xfrm>
            <a:off x="566928" y="4398264"/>
            <a:ext cx="11055096" cy="603504"/>
          </a:xfrm>
          <a:prstGeom prst="roundRect">
            <a:avLst>
              <a:gd name="adj" fmla="val 13636"/>
            </a:avLst>
          </a:prstGeom>
          <a:solidFill>
            <a:srgbClr val="161D28"/>
          </a:solidFill>
          <a:ln w="9525">
            <a:solidFill>
              <a:srgbClr val="232D3D"/>
            </a:solidFill>
            <a:prstDash val="solid"/>
          </a:ln>
        </p:spPr>
      </p:sp>
      <p:sp>
        <p:nvSpPr>
          <p:cNvPr id="21" name="Text 19"/>
          <p:cNvSpPr/>
          <p:nvPr/>
        </p:nvSpPr>
        <p:spPr>
          <a:xfrm>
            <a:off x="731520" y="4434840"/>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self-diagnosis</a:t>
            </a:r>
            <a:endParaRPr lang="en-US" sz="1250" dirty="0"/>
          </a:p>
        </p:txBody>
      </p:sp>
      <p:sp>
        <p:nvSpPr>
          <p:cNvPr id="22" name="Text 20"/>
          <p:cNvSpPr/>
          <p:nvPr/>
        </p:nvSpPr>
        <p:spPr>
          <a:xfrm>
            <a:off x="2990088" y="4434840"/>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Is my setup actually working?</a:t>
            </a:r>
            <a:endParaRPr lang="en-US" sz="1100" dirty="0"/>
          </a:p>
        </p:txBody>
      </p:sp>
      <p:sp>
        <p:nvSpPr>
          <p:cNvPr id="23" name="Text 21"/>
          <p:cNvSpPr/>
          <p:nvPr/>
        </p:nvSpPr>
        <p:spPr>
          <a:xfrm>
            <a:off x="6327648" y="4434840"/>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--doctor  --skipped</a:t>
            </a:r>
            <a:endParaRPr lang="en-US" sz="900" dirty="0"/>
          </a:p>
        </p:txBody>
      </p:sp>
      <p:sp>
        <p:nvSpPr>
          <p:cNvPr id="24" name="Shape 22"/>
          <p:cNvSpPr/>
          <p:nvPr/>
        </p:nvSpPr>
        <p:spPr>
          <a:xfrm>
            <a:off x="566928" y="5074920"/>
            <a:ext cx="11055096" cy="603504"/>
          </a:xfrm>
          <a:prstGeom prst="roundRect">
            <a:avLst>
              <a:gd name="adj" fmla="val 13636"/>
            </a:avLst>
          </a:prstGeom>
          <a:solidFill>
            <a:srgbClr val="161D28"/>
          </a:solidFill>
          <a:ln w="9525">
            <a:solidFill>
              <a:srgbClr val="232D3D"/>
            </a:solidFill>
            <a:prstDash val="solid"/>
          </a:ln>
        </p:spPr>
      </p:sp>
      <p:sp>
        <p:nvSpPr>
          <p:cNvPr id="25" name="Text 23"/>
          <p:cNvSpPr/>
          <p:nvPr/>
        </p:nvSpPr>
        <p:spPr>
          <a:xfrm>
            <a:off x="731520" y="5111496"/>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security</a:t>
            </a:r>
            <a:endParaRPr lang="en-US" sz="1250" dirty="0"/>
          </a:p>
        </p:txBody>
      </p:sp>
      <p:sp>
        <p:nvSpPr>
          <p:cNvPr id="26" name="Text 24"/>
          <p:cNvSpPr/>
          <p:nvPr/>
        </p:nvSpPr>
        <p:spPr>
          <a:xfrm>
            <a:off x="2990088" y="5111496"/>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Is this agent skill file safe to install?</a:t>
            </a:r>
            <a:endParaRPr lang="en-US" sz="1100" dirty="0"/>
          </a:p>
        </p:txBody>
      </p:sp>
      <p:sp>
        <p:nvSpPr>
          <p:cNvPr id="27" name="Text 25"/>
          <p:cNvSpPr/>
          <p:nvPr/>
        </p:nvSpPr>
        <p:spPr>
          <a:xfrm>
            <a:off x="6327648" y="5111496"/>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--scan-skill  --scan-skills</a:t>
            </a:r>
            <a:endParaRPr lang="en-US" sz="900" dirty="0"/>
          </a:p>
        </p:txBody>
      </p:sp>
      <p:sp>
        <p:nvSpPr>
          <p:cNvPr id="28" name="Shape 26"/>
          <p:cNvSpPr/>
          <p:nvPr/>
        </p:nvSpPr>
        <p:spPr>
          <a:xfrm>
            <a:off x="566928" y="5751576"/>
            <a:ext cx="11055096" cy="603504"/>
          </a:xfrm>
          <a:prstGeom prst="roundRect">
            <a:avLst>
              <a:gd name="adj" fmla="val 13636"/>
            </a:avLst>
          </a:prstGeom>
          <a:solidFill>
            <a:srgbClr val="161D28"/>
          </a:solidFill>
          <a:ln w="9525">
            <a:solidFill>
              <a:srgbClr val="232D3D"/>
            </a:solidFill>
            <a:prstDash val="solid"/>
          </a:ln>
        </p:spPr>
      </p:sp>
      <p:sp>
        <p:nvSpPr>
          <p:cNvPr id="29" name="Text 27"/>
          <p:cNvSpPr/>
          <p:nvPr/>
        </p:nvSpPr>
        <p:spPr>
          <a:xfrm>
            <a:off x="731520" y="5788152"/>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knobs &amp; modes</a:t>
            </a:r>
            <a:endParaRPr lang="en-US" sz="1250" dirty="0"/>
          </a:p>
        </p:txBody>
      </p:sp>
      <p:sp>
        <p:nvSpPr>
          <p:cNvPr id="30" name="Text 28"/>
          <p:cNvSpPr/>
          <p:nvPr/>
        </p:nvSpPr>
        <p:spPr>
          <a:xfrm>
            <a:off x="2990088" y="5788152"/>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Shape, format, cache, budget.</a:t>
            </a:r>
            <a:endParaRPr lang="en-US" sz="1100" dirty="0"/>
          </a:p>
        </p:txBody>
      </p:sp>
      <p:sp>
        <p:nvSpPr>
          <p:cNvPr id="31" name="Text 29"/>
          <p:cNvSpPr/>
          <p:nvPr/>
        </p:nvSpPr>
        <p:spPr>
          <a:xfrm>
            <a:off x="6327648" y="5788152"/>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--json  --format  --mcp</a:t>
            </a:r>
            <a:endParaRPr lang="en-US" sz="90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--help is generated from the binary's own flag table — 179 long flags; docs/COMMANDS.md carries an entry for every one of them, 161 with a recorded invocation and its output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reach for it at the moment, not the manual</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reflexes: which verb fires when</a:t>
            </a:r>
            <a:endParaRPr lang="en-US" sz="3400" dirty="0"/>
          </a:p>
        </p:txBody>
      </p:sp>
      <p:sp>
        <p:nvSpPr>
          <p:cNvPr id="4" name="Shape 2"/>
          <p:cNvSpPr/>
          <p:nvPr/>
        </p:nvSpPr>
        <p:spPr>
          <a:xfrm>
            <a:off x="566928" y="1737360"/>
            <a:ext cx="5440680" cy="987552"/>
          </a:xfrm>
          <a:prstGeom prst="roundRect">
            <a:avLst>
              <a:gd name="adj" fmla="val 8333"/>
            </a:avLst>
          </a:prstGeom>
          <a:solidFill>
            <a:srgbClr val="161D28"/>
          </a:solidFill>
          <a:ln w="9525">
            <a:solidFill>
              <a:srgbClr val="232D3D"/>
            </a:solidFill>
            <a:prstDash val="solid"/>
          </a:ln>
        </p:spPr>
      </p:sp>
      <p:sp>
        <p:nvSpPr>
          <p:cNvPr id="5" name="Text 3"/>
          <p:cNvSpPr/>
          <p:nvPr/>
        </p:nvSpPr>
        <p:spPr>
          <a:xfrm>
            <a:off x="731520" y="1810512"/>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Landing cold on a task</a:t>
            </a:r>
            <a:endParaRPr lang="en-US" sz="1300" dirty="0"/>
          </a:p>
        </p:txBody>
      </p:sp>
      <p:sp>
        <p:nvSpPr>
          <p:cNvPr id="6" name="Text 4"/>
          <p:cNvSpPr/>
          <p:nvPr/>
        </p:nvSpPr>
        <p:spPr>
          <a:xfrm>
            <a:off x="731520" y="2121408"/>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--for="&lt;task&gt;"  ·  --pack-task</a:t>
            </a:r>
            <a:endParaRPr lang="en-US" sz="1150" dirty="0"/>
          </a:p>
        </p:txBody>
      </p:sp>
      <p:sp>
        <p:nvSpPr>
          <p:cNvPr id="7" name="Text 5"/>
          <p:cNvSpPr/>
          <p:nvPr/>
        </p:nvSpPr>
        <p:spPr>
          <a:xfrm>
            <a:off x="731520" y="2395728"/>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ranked, budgeted context in one call</a:t>
            </a:r>
            <a:endParaRPr lang="en-US" sz="1050" dirty="0"/>
          </a:p>
        </p:txBody>
      </p:sp>
      <p:sp>
        <p:nvSpPr>
          <p:cNvPr id="8" name="Shape 6"/>
          <p:cNvSpPr/>
          <p:nvPr/>
        </p:nvSpPr>
        <p:spPr>
          <a:xfrm>
            <a:off x="6181344" y="1737360"/>
            <a:ext cx="5440680" cy="987552"/>
          </a:xfrm>
          <a:prstGeom prst="roundRect">
            <a:avLst>
              <a:gd name="adj" fmla="val 8333"/>
            </a:avLst>
          </a:prstGeom>
          <a:solidFill>
            <a:srgbClr val="161D28"/>
          </a:solidFill>
          <a:ln w="9525">
            <a:solidFill>
              <a:srgbClr val="232D3D"/>
            </a:solidFill>
            <a:prstDash val="solid"/>
          </a:ln>
        </p:spPr>
      </p:sp>
      <p:sp>
        <p:nvSpPr>
          <p:cNvPr id="9" name="Text 7"/>
          <p:cNvSpPr/>
          <p:nvPr/>
        </p:nvSpPr>
        <p:spPr>
          <a:xfrm>
            <a:off x="6345936" y="1810512"/>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Stack trace in hand</a:t>
            </a:r>
            <a:endParaRPr lang="en-US" sz="1300" dirty="0"/>
          </a:p>
        </p:txBody>
      </p:sp>
      <p:sp>
        <p:nvSpPr>
          <p:cNvPr id="10" name="Text 8"/>
          <p:cNvSpPr/>
          <p:nvPr/>
        </p:nvSpPr>
        <p:spPr>
          <a:xfrm>
            <a:off x="6345936" y="2121408"/>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--from-trace</a:t>
            </a:r>
            <a:endParaRPr lang="en-US" sz="1150" dirty="0"/>
          </a:p>
        </p:txBody>
      </p:sp>
      <p:sp>
        <p:nvSpPr>
          <p:cNvPr id="11" name="Text 9"/>
          <p:cNvSpPr/>
          <p:nvPr/>
        </p:nvSpPr>
        <p:spPr>
          <a:xfrm>
            <a:off x="6345936" y="2395728"/>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frames mapped to symbols, innermost body included</a:t>
            </a:r>
            <a:endParaRPr lang="en-US" sz="1050" dirty="0"/>
          </a:p>
        </p:txBody>
      </p:sp>
      <p:sp>
        <p:nvSpPr>
          <p:cNvPr id="12" name="Shape 10"/>
          <p:cNvSpPr/>
          <p:nvPr/>
        </p:nvSpPr>
        <p:spPr>
          <a:xfrm>
            <a:off x="566928" y="2871216"/>
            <a:ext cx="5440680" cy="987552"/>
          </a:xfrm>
          <a:prstGeom prst="roundRect">
            <a:avLst>
              <a:gd name="adj" fmla="val 8333"/>
            </a:avLst>
          </a:prstGeom>
          <a:solidFill>
            <a:srgbClr val="161D28"/>
          </a:solidFill>
          <a:ln w="9525">
            <a:solidFill>
              <a:srgbClr val="232D3D"/>
            </a:solidFill>
            <a:prstDash val="solid"/>
          </a:ln>
        </p:spPr>
      </p:sp>
      <p:sp>
        <p:nvSpPr>
          <p:cNvPr id="13" name="Text 11"/>
          <p:cNvSpPr/>
          <p:nvPr/>
        </p:nvSpPr>
        <p:spPr>
          <a:xfrm>
            <a:off x="731520" y="2944368"/>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“Is it safe to change X?”</a:t>
            </a:r>
            <a:endParaRPr lang="en-US" sz="1300" dirty="0"/>
          </a:p>
        </p:txBody>
      </p:sp>
      <p:sp>
        <p:nvSpPr>
          <p:cNvPr id="14" name="Text 12"/>
          <p:cNvSpPr/>
          <p:nvPr/>
        </p:nvSpPr>
        <p:spPr>
          <a:xfrm>
            <a:off x="731520" y="3255264"/>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--impact  ·  --uses</a:t>
            </a:r>
            <a:endParaRPr lang="en-US" sz="1150" dirty="0"/>
          </a:p>
        </p:txBody>
      </p:sp>
      <p:sp>
        <p:nvSpPr>
          <p:cNvPr id="15" name="Text 13"/>
          <p:cNvSpPr/>
          <p:nvPr/>
        </p:nvSpPr>
        <p:spPr>
          <a:xfrm>
            <a:off x="731520" y="3529584"/>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whole blast radius, not just 1-hop callers</a:t>
            </a:r>
            <a:endParaRPr lang="en-US" sz="1050" dirty="0"/>
          </a:p>
        </p:txBody>
      </p:sp>
      <p:sp>
        <p:nvSpPr>
          <p:cNvPr id="16" name="Shape 14"/>
          <p:cNvSpPr/>
          <p:nvPr/>
        </p:nvSpPr>
        <p:spPr>
          <a:xfrm>
            <a:off x="6181344" y="2871216"/>
            <a:ext cx="5440680" cy="987552"/>
          </a:xfrm>
          <a:prstGeom prst="roundRect">
            <a:avLst>
              <a:gd name="adj" fmla="val 8333"/>
            </a:avLst>
          </a:prstGeom>
          <a:solidFill>
            <a:srgbClr val="161D28"/>
          </a:solidFill>
          <a:ln w="9525">
            <a:solidFill>
              <a:srgbClr val="232D3D"/>
            </a:solidFill>
            <a:prstDash val="solid"/>
          </a:ln>
        </p:spPr>
      </p:sp>
      <p:sp>
        <p:nvSpPr>
          <p:cNvPr id="17" name="Text 15"/>
          <p:cNvSpPr/>
          <p:nvPr/>
        </p:nvSpPr>
        <p:spPr>
          <a:xfrm>
            <a:off x="6345936" y="2944368"/>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Just edited a symbol</a:t>
            </a:r>
            <a:endParaRPr lang="en-US" sz="1300" dirty="0"/>
          </a:p>
        </p:txBody>
      </p:sp>
      <p:sp>
        <p:nvSpPr>
          <p:cNvPr id="18" name="Text 16"/>
          <p:cNvSpPr/>
          <p:nvPr/>
        </p:nvSpPr>
        <p:spPr>
          <a:xfrm>
            <a:off x="6345936" y="3255264"/>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--edit-check</a:t>
            </a:r>
            <a:endParaRPr lang="en-US" sz="1150" dirty="0"/>
          </a:p>
        </p:txBody>
      </p:sp>
      <p:sp>
        <p:nvSpPr>
          <p:cNvPr id="19" name="Text 17"/>
          <p:cNvSpPr/>
          <p:nvPr/>
        </p:nvSpPr>
        <p:spPr>
          <a:xfrm>
            <a:off x="6345936" y="3529584"/>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did the contract change, who breaks — ~ms, warm</a:t>
            </a:r>
            <a:endParaRPr lang="en-US" sz="1050" dirty="0"/>
          </a:p>
        </p:txBody>
      </p:sp>
      <p:sp>
        <p:nvSpPr>
          <p:cNvPr id="20" name="Shape 18"/>
          <p:cNvSpPr/>
          <p:nvPr/>
        </p:nvSpPr>
        <p:spPr>
          <a:xfrm>
            <a:off x="566928" y="4005072"/>
            <a:ext cx="5440680" cy="987552"/>
          </a:xfrm>
          <a:prstGeom prst="roundRect">
            <a:avLst>
              <a:gd name="adj" fmla="val 8333"/>
            </a:avLst>
          </a:prstGeom>
          <a:solidFill>
            <a:srgbClr val="161D28"/>
          </a:solidFill>
          <a:ln w="9525">
            <a:solidFill>
              <a:srgbClr val="232D3D"/>
            </a:solidFill>
            <a:prstDash val="solid"/>
          </a:ln>
        </p:spPr>
      </p:sp>
      <p:sp>
        <p:nvSpPr>
          <p:cNvPr id="21" name="Text 19"/>
          <p:cNvSpPr/>
          <p:nvPr/>
        </p:nvSpPr>
        <p:spPr>
          <a:xfrm>
            <a:off x="731520" y="4078224"/>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About to write a helper</a:t>
            </a:r>
            <a:endParaRPr lang="en-US" sz="1300" dirty="0"/>
          </a:p>
        </p:txBody>
      </p:sp>
      <p:sp>
        <p:nvSpPr>
          <p:cNvPr id="22" name="Text 20"/>
          <p:cNvSpPr/>
          <p:nvPr/>
        </p:nvSpPr>
        <p:spPr>
          <a:xfrm>
            <a:off x="731520" y="4389120"/>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--exemplar  ·  --grep</a:t>
            </a:r>
            <a:endParaRPr lang="en-US" sz="1150" dirty="0"/>
          </a:p>
        </p:txBody>
      </p:sp>
      <p:sp>
        <p:nvSpPr>
          <p:cNvPr id="23" name="Text 21"/>
          <p:cNvSpPr/>
          <p:nvPr/>
        </p:nvSpPr>
        <p:spPr>
          <a:xfrm>
            <a:off x="731520" y="4663440"/>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imitate the house pattern; catch the duplicate early</a:t>
            </a:r>
            <a:endParaRPr lang="en-US" sz="1050" dirty="0"/>
          </a:p>
        </p:txBody>
      </p:sp>
      <p:sp>
        <p:nvSpPr>
          <p:cNvPr id="24" name="Shape 22"/>
          <p:cNvSpPr/>
          <p:nvPr/>
        </p:nvSpPr>
        <p:spPr>
          <a:xfrm>
            <a:off x="6181344" y="4005072"/>
            <a:ext cx="5440680" cy="987552"/>
          </a:xfrm>
          <a:prstGeom prst="roundRect">
            <a:avLst>
              <a:gd name="adj" fmla="val 8333"/>
            </a:avLst>
          </a:prstGeom>
          <a:solidFill>
            <a:srgbClr val="161D28"/>
          </a:solidFill>
          <a:ln w="9525">
            <a:solidFill>
              <a:srgbClr val="232D3D"/>
            </a:solidFill>
            <a:prstDash val="solid"/>
          </a:ln>
        </p:spPr>
      </p:sp>
      <p:sp>
        <p:nvSpPr>
          <p:cNvPr id="25" name="Text 23"/>
          <p:cNvSpPr/>
          <p:nvPr/>
        </p:nvSpPr>
        <p:spPr>
          <a:xfrm>
            <a:off x="6345936" y="4078224"/>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Landing several branches</a:t>
            </a:r>
            <a:endParaRPr lang="en-US" sz="1300" dirty="0"/>
          </a:p>
        </p:txBody>
      </p:sp>
      <p:sp>
        <p:nvSpPr>
          <p:cNvPr id="26" name="Text 24"/>
          <p:cNvSpPr/>
          <p:nvPr/>
        </p:nvSpPr>
        <p:spPr>
          <a:xfrm>
            <a:off x="6345936" y="4389120"/>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--merge-scout</a:t>
            </a:r>
            <a:endParaRPr lang="en-US" sz="1150" dirty="0"/>
          </a:p>
        </p:txBody>
      </p:sp>
      <p:sp>
        <p:nvSpPr>
          <p:cNvPr id="27" name="Text 25"/>
          <p:cNvSpPr/>
          <p:nvPr/>
        </p:nvSpPr>
        <p:spPr>
          <a:xfrm>
            <a:off x="6345936" y="4663440"/>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pairwise conflict sites + a landing order</a:t>
            </a:r>
            <a:endParaRPr lang="en-US" sz="1050" dirty="0"/>
          </a:p>
        </p:txBody>
      </p:sp>
      <p:sp>
        <p:nvSpPr>
          <p:cNvPr id="28" name="Shape 26"/>
          <p:cNvSpPr/>
          <p:nvPr/>
        </p:nvSpPr>
        <p:spPr>
          <a:xfrm>
            <a:off x="566928" y="5138928"/>
            <a:ext cx="5440680" cy="987552"/>
          </a:xfrm>
          <a:prstGeom prst="roundRect">
            <a:avLst>
              <a:gd name="adj" fmla="val 8333"/>
            </a:avLst>
          </a:prstGeom>
          <a:solidFill>
            <a:srgbClr val="161D28"/>
          </a:solidFill>
          <a:ln w="9525">
            <a:solidFill>
              <a:srgbClr val="232D3D"/>
            </a:solidFill>
            <a:prstDash val="solid"/>
          </a:ln>
        </p:spPr>
      </p:sp>
      <p:sp>
        <p:nvSpPr>
          <p:cNvPr id="29" name="Text 27"/>
          <p:cNvSpPr/>
          <p:nvPr/>
        </p:nvSpPr>
        <p:spPr>
          <a:xfrm>
            <a:off x="731520" y="5212080"/>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Before you call it done</a:t>
            </a:r>
            <a:endParaRPr lang="en-US" sz="1300" dirty="0"/>
          </a:p>
        </p:txBody>
      </p:sp>
      <p:sp>
        <p:nvSpPr>
          <p:cNvPr id="30" name="Text 28"/>
          <p:cNvSpPr/>
          <p:nvPr/>
        </p:nvSpPr>
        <p:spPr>
          <a:xfrm>
            <a:off x="731520" y="5522976"/>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--quality-delta  ·  --test-gate</a:t>
            </a:r>
            <a:endParaRPr lang="en-US" sz="1150" dirty="0"/>
          </a:p>
        </p:txBody>
      </p:sp>
      <p:sp>
        <p:nvSpPr>
          <p:cNvPr id="31" name="Text 29"/>
          <p:cNvSpPr/>
          <p:nvPr/>
        </p:nvSpPr>
        <p:spPr>
          <a:xfrm>
            <a:off x="731520" y="5797296"/>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only what you made worse; exactly which tests to run</a:t>
            </a:r>
            <a:endParaRPr lang="en-US" sz="1050" dirty="0"/>
          </a:p>
        </p:txBody>
      </p:sp>
      <p:sp>
        <p:nvSpPr>
          <p:cNvPr id="32" name="Shape 30"/>
          <p:cNvSpPr/>
          <p:nvPr/>
        </p:nvSpPr>
        <p:spPr>
          <a:xfrm>
            <a:off x="6181344" y="5138928"/>
            <a:ext cx="5440680" cy="987552"/>
          </a:xfrm>
          <a:prstGeom prst="roundRect">
            <a:avLst>
              <a:gd name="adj" fmla="val 8333"/>
            </a:avLst>
          </a:prstGeom>
          <a:solidFill>
            <a:srgbClr val="161D28"/>
          </a:solidFill>
          <a:ln w="9525">
            <a:solidFill>
              <a:srgbClr val="232D3D"/>
            </a:solidFill>
            <a:prstDash val="solid"/>
          </a:ln>
        </p:spPr>
      </p:sp>
      <p:sp>
        <p:nvSpPr>
          <p:cNvPr id="33" name="Text 31"/>
          <p:cNvSpPr/>
          <p:nvPr/>
        </p:nvSpPr>
        <p:spPr>
          <a:xfrm>
            <a:off x="6345936" y="5212080"/>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Handing the area on</a:t>
            </a:r>
            <a:endParaRPr lang="en-US" sz="1300" dirty="0"/>
          </a:p>
        </p:txBody>
      </p:sp>
      <p:sp>
        <p:nvSpPr>
          <p:cNvPr id="34" name="Text 32"/>
          <p:cNvSpPr/>
          <p:nvPr/>
        </p:nvSpPr>
        <p:spPr>
          <a:xfrm>
            <a:off x="6345936" y="5522976"/>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--handoff  ·  --note-add</a:t>
            </a:r>
            <a:endParaRPr lang="en-US" sz="1150" dirty="0"/>
          </a:p>
        </p:txBody>
      </p:sp>
      <p:sp>
        <p:nvSpPr>
          <p:cNvPr id="35" name="Text 33"/>
          <p:cNvSpPr/>
          <p:nvPr/>
        </p:nvSpPr>
        <p:spPr>
          <a:xfrm>
            <a:off x="6345936" y="5797296"/>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verified-vs-heuristic packet the next agent needs</a:t>
            </a:r>
            <a:endParaRPr lang="en-US" sz="1050" dirty="0"/>
          </a:p>
        </p:txBody>
      </p:sp>
      <p:sp>
        <p:nvSpPr>
          <p:cNvPr id="36" name="Text 3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and --pr-context when you are reviewing someone else's diff — per-file blast radius, tests-to-run, hotspot flags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new since 2026-08-15 — each figure re-derived on the binary that ships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2026-08-15 to 2026-08-23 added</a:t>
            </a:r>
            <a:endParaRPr lang="en-US" sz="3200" dirty="0"/>
          </a:p>
        </p:txBody>
      </p:sp>
      <p:sp>
        <p:nvSpPr>
          <p:cNvPr id="4" name="Shape 2"/>
          <p:cNvSpPr/>
          <p:nvPr/>
        </p:nvSpPr>
        <p:spPr>
          <a:xfrm>
            <a:off x="566928" y="1572768"/>
            <a:ext cx="11055096" cy="722376"/>
          </a:xfrm>
          <a:prstGeom prst="roundRect">
            <a:avLst>
              <a:gd name="adj" fmla="val 11392"/>
            </a:avLst>
          </a:prstGeom>
          <a:solidFill>
            <a:srgbClr val="161D28"/>
          </a:solidFill>
          <a:ln w="9525">
            <a:solidFill>
              <a:srgbClr val="232D3D"/>
            </a:solidFill>
            <a:prstDash val="solid"/>
          </a:ln>
        </p:spPr>
      </p:sp>
      <p:sp>
        <p:nvSpPr>
          <p:cNvPr id="5" name="Text 3"/>
          <p:cNvSpPr/>
          <p:nvPr/>
        </p:nvSpPr>
        <p:spPr>
          <a:xfrm>
            <a:off x="731520" y="1618488"/>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--pattern</a:t>
            </a:r>
            <a:endParaRPr lang="en-US" sz="1200" dirty="0"/>
          </a:p>
        </p:txBody>
      </p:sp>
      <p:sp>
        <p:nvSpPr>
          <p:cNvPr id="6" name="Text 4"/>
          <p:cNvSpPr/>
          <p:nvPr/>
        </p:nvSpPr>
        <p:spPr>
          <a:xfrm>
            <a:off x="731520" y="1938528"/>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search by code SHAPE, not by node kinds</a:t>
            </a:r>
            <a:endParaRPr lang="en-US" sz="900" dirty="0"/>
          </a:p>
        </p:txBody>
      </p:sp>
      <p:sp>
        <p:nvSpPr>
          <p:cNvPr id="7" name="Text 5"/>
          <p:cNvSpPr/>
          <p:nvPr/>
        </p:nvSpPr>
        <p:spPr>
          <a:xfrm>
            <a:off x="3264408" y="1618488"/>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foo($X, ...) across 13 grammar objects / 11 languages. On this repo VERIFY($X) finds 101 hits over 625 eligible files, each with its enclosing symbol. A pattern no served grammar resolves REFUSES (exit 1) instead of reporting hits=0.</a:t>
            </a:r>
            <a:endParaRPr lang="en-US" sz="1050" dirty="0"/>
          </a:p>
        </p:txBody>
      </p:sp>
      <p:sp>
        <p:nvSpPr>
          <p:cNvPr id="8" name="Shape 6"/>
          <p:cNvSpPr/>
          <p:nvPr/>
        </p:nvSpPr>
        <p:spPr>
          <a:xfrm>
            <a:off x="566928" y="2368296"/>
            <a:ext cx="11055096" cy="722376"/>
          </a:xfrm>
          <a:prstGeom prst="roundRect">
            <a:avLst>
              <a:gd name="adj" fmla="val 11392"/>
            </a:avLst>
          </a:prstGeom>
          <a:solidFill>
            <a:srgbClr val="161D28"/>
          </a:solidFill>
          <a:ln w="9525">
            <a:solidFill>
              <a:srgbClr val="232D3D"/>
            </a:solidFill>
            <a:prstDash val="solid"/>
          </a:ln>
        </p:spPr>
      </p:sp>
      <p:sp>
        <p:nvSpPr>
          <p:cNvPr id="9" name="Text 7"/>
          <p:cNvSpPr/>
          <p:nvPr/>
        </p:nvSpPr>
        <p:spPr>
          <a:xfrm>
            <a:off x="731520" y="2414016"/>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--safe-delete</a:t>
            </a:r>
            <a:endParaRPr lang="en-US" sz="1200" dirty="0"/>
          </a:p>
        </p:txBody>
      </p:sp>
      <p:sp>
        <p:nvSpPr>
          <p:cNvPr id="10" name="Text 8"/>
          <p:cNvSpPr/>
          <p:nvPr/>
        </p:nvSpPr>
        <p:spPr>
          <a:xfrm>
            <a:off x="731520" y="2734056"/>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“can I delete this?” in one call</a:t>
            </a:r>
            <a:endParaRPr lang="en-US" sz="900" dirty="0"/>
          </a:p>
        </p:txBody>
      </p:sp>
      <p:sp>
        <p:nvSpPr>
          <p:cNvPr id="11" name="Text 9"/>
          <p:cNvSpPr/>
          <p:nvPr/>
        </p:nvSpPr>
        <p:spPr>
          <a:xfrm>
            <a:off x="3264408" y="2414016"/>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callers + transitive radius + every read/write/import site + how much of that radius a test reaches. risk= names what was FOUND — never a go/no-go verdict.</a:t>
            </a:r>
            <a:endParaRPr lang="en-US" sz="1050" dirty="0"/>
          </a:p>
        </p:txBody>
      </p:sp>
      <p:sp>
        <p:nvSpPr>
          <p:cNvPr id="12" name="Shape 10"/>
          <p:cNvSpPr/>
          <p:nvPr/>
        </p:nvSpPr>
        <p:spPr>
          <a:xfrm>
            <a:off x="566928" y="3163824"/>
            <a:ext cx="11055096" cy="722376"/>
          </a:xfrm>
          <a:prstGeom prst="roundRect">
            <a:avLst>
              <a:gd name="adj" fmla="val 11392"/>
            </a:avLst>
          </a:prstGeom>
          <a:solidFill>
            <a:srgbClr val="161D28"/>
          </a:solidFill>
          <a:ln w="9525">
            <a:solidFill>
              <a:srgbClr val="232D3D"/>
            </a:solidFill>
            <a:prstDash val="solid"/>
          </a:ln>
        </p:spPr>
      </p:sp>
      <p:sp>
        <p:nvSpPr>
          <p:cNvPr id="13" name="Text 11"/>
          <p:cNvSpPr/>
          <p:nvPr/>
        </p:nvSpPr>
        <p:spPr>
          <a:xfrm>
            <a:off x="731520" y="3209544"/>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--impact importers=</a:t>
            </a:r>
            <a:endParaRPr lang="en-US" sz="1200" dirty="0"/>
          </a:p>
        </p:txBody>
      </p:sp>
      <p:sp>
        <p:nvSpPr>
          <p:cNvPr id="14" name="Text 12"/>
          <p:cNvSpPr/>
          <p:nvPr/>
        </p:nvSpPr>
        <p:spPr>
          <a:xfrm>
            <a:off x="731520" y="3529584"/>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second, weaker reach</a:t>
            </a:r>
            <a:endParaRPr lang="en-US" sz="900" dirty="0"/>
          </a:p>
        </p:txBody>
      </p:sp>
      <p:sp>
        <p:nvSpPr>
          <p:cNvPr id="15" name="Text 13"/>
          <p:cNvSpPr/>
          <p:nvPr/>
        </p:nvSpPr>
        <p:spPr>
          <a:xfrm>
            <a:off x="3264408" y="3209544"/>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the files that include/require a file defining SYM, with their own cap pair — NEVER summed into reaches=, because files and symbols are different units. IngestResult: reaches=0, importers=70.</a:t>
            </a:r>
            <a:endParaRPr lang="en-US" sz="1050" dirty="0"/>
          </a:p>
        </p:txBody>
      </p:sp>
      <p:sp>
        <p:nvSpPr>
          <p:cNvPr id="16" name="Shape 14"/>
          <p:cNvSpPr/>
          <p:nvPr/>
        </p:nvSpPr>
        <p:spPr>
          <a:xfrm>
            <a:off x="566928" y="3959352"/>
            <a:ext cx="11055096" cy="722376"/>
          </a:xfrm>
          <a:prstGeom prst="roundRect">
            <a:avLst>
              <a:gd name="adj" fmla="val 11392"/>
            </a:avLst>
          </a:prstGeom>
          <a:solidFill>
            <a:srgbClr val="161D28"/>
          </a:solidFill>
          <a:ln w="9525">
            <a:solidFill>
              <a:srgbClr val="232D3D"/>
            </a:solidFill>
            <a:prstDash val="solid"/>
          </a:ln>
        </p:spPr>
      </p:sp>
      <p:sp>
        <p:nvSpPr>
          <p:cNvPr id="17" name="Text 15"/>
          <p:cNvSpPr/>
          <p:nvPr/>
        </p:nvSpPr>
        <p:spPr>
          <a:xfrm>
            <a:off x="731520" y="4005072"/>
            <a:ext cx="2331720" cy="310896"/>
          </a:xfrm>
          <a:prstGeom prst="rect">
            <a:avLst/>
          </a:prstGeom>
          <a:noFill/>
          <a:ln/>
        </p:spPr>
        <p:txBody>
          <a:bodyPr wrap="square" lIns="0" tIns="0" rIns="0" bIns="0" rtlCol="0" anchor="ctr"/>
          <a:lstStyle/>
          <a:p>
            <a:pPr indent="0" marL="0">
              <a:buNone/>
            </a:pPr>
            <a:r>
              <a:rPr lang="en-US" sz="1200" b="1" dirty="0">
                <a:solidFill>
                  <a:srgbClr val="4AC26B"/>
                </a:solidFill>
                <a:latin typeface="Courier New" pitchFamily="34" charset="0"/>
                <a:ea typeface="Courier New" pitchFamily="34" charset="-122"/>
                <a:cs typeface="Courier New" pitchFamily="34" charset="-120"/>
              </a:rPr>
              <a:t>compact --for bundles</a:t>
            </a:r>
            <a:endParaRPr lang="en-US" sz="1200" dirty="0"/>
          </a:p>
        </p:txBody>
      </p:sp>
      <p:sp>
        <p:nvSpPr>
          <p:cNvPr id="18" name="Text 16"/>
          <p:cNvSpPr/>
          <p:nvPr/>
        </p:nvSpPr>
        <p:spPr>
          <a:xfrm>
            <a:off x="731520" y="4325112"/>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bodies were 52.7% of every conceptual byte</a:t>
            </a:r>
            <a:endParaRPr lang="en-US" sz="900" dirty="0"/>
          </a:p>
        </p:txBody>
      </p:sp>
      <p:sp>
        <p:nvSpPr>
          <p:cNvPr id="19" name="Text 17"/>
          <p:cNvSpPr/>
          <p:nvPr/>
        </p:nvSpPr>
        <p:spPr>
          <a:xfrm>
            <a:off x="3264408" y="4005072"/>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the subtoken+body route now ships the ranked map plus one-hop edge context, disclosed as bundle=compact bodies=0. 15-query class B: 184,857 B → 95,256 B, −48.5%, all 11 decisive markers still present. --auto-bodies is a permanent opt-out.</a:t>
            </a:r>
            <a:endParaRPr lang="en-US" sz="1050" dirty="0"/>
          </a:p>
        </p:txBody>
      </p:sp>
      <p:sp>
        <p:nvSpPr>
          <p:cNvPr id="20" name="Shape 18"/>
          <p:cNvSpPr/>
          <p:nvPr/>
        </p:nvSpPr>
        <p:spPr>
          <a:xfrm>
            <a:off x="566928" y="4754880"/>
            <a:ext cx="11055096" cy="722376"/>
          </a:xfrm>
          <a:prstGeom prst="roundRect">
            <a:avLst>
              <a:gd name="adj" fmla="val 11392"/>
            </a:avLst>
          </a:prstGeom>
          <a:solidFill>
            <a:srgbClr val="161D28"/>
          </a:solidFill>
          <a:ln w="9525">
            <a:solidFill>
              <a:srgbClr val="232D3D"/>
            </a:solidFill>
            <a:prstDash val="solid"/>
          </a:ln>
        </p:spPr>
      </p:sp>
      <p:sp>
        <p:nvSpPr>
          <p:cNvPr id="21" name="Text 19"/>
          <p:cNvSpPr/>
          <p:nvPr/>
        </p:nvSpPr>
        <p:spPr>
          <a:xfrm>
            <a:off x="731520" y="4800600"/>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corroborated callers</a:t>
            </a:r>
            <a:endParaRPr lang="en-US" sz="1200" dirty="0"/>
          </a:p>
        </p:txBody>
      </p:sp>
      <p:sp>
        <p:nvSpPr>
          <p:cNvPr id="22" name="Text 20"/>
          <p:cNvSpPr/>
          <p:nvPr/>
        </p:nvSpPr>
        <p:spPr>
          <a:xfrm>
            <a:off x="731520" y="5120640"/>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shared= on --pack-task rows</a:t>
            </a:r>
            <a:endParaRPr lang="en-US" sz="900" dirty="0"/>
          </a:p>
        </p:txBody>
      </p:sp>
      <p:sp>
        <p:nvSpPr>
          <p:cNvPr id="23" name="Text 21"/>
          <p:cNvSpPr/>
          <p:nvPr/>
        </p:nvSpPr>
        <p:spPr>
          <a:xfrm>
            <a:off x="3264408" y="4800600"/>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a neighbour reached by four of the bundle's anchors sorts above one reached by a single anchor — omitted at 1, which is what every 1-hop row satisfies anyway.</a:t>
            </a:r>
            <a:endParaRPr lang="en-US" sz="1050" dirty="0"/>
          </a:p>
        </p:txBody>
      </p:sp>
      <p:sp>
        <p:nvSpPr>
          <p:cNvPr id="24" name="Shape 22"/>
          <p:cNvSpPr/>
          <p:nvPr/>
        </p:nvSpPr>
        <p:spPr>
          <a:xfrm>
            <a:off x="566928" y="5550408"/>
            <a:ext cx="11055096" cy="722376"/>
          </a:xfrm>
          <a:prstGeom prst="roundRect">
            <a:avLst>
              <a:gd name="adj" fmla="val 11392"/>
            </a:avLst>
          </a:prstGeom>
          <a:solidFill>
            <a:srgbClr val="161D28"/>
          </a:solidFill>
          <a:ln w="9525">
            <a:solidFill>
              <a:srgbClr val="232D3D"/>
            </a:solidFill>
            <a:prstDash val="solid"/>
          </a:ln>
        </p:spPr>
      </p:sp>
      <p:sp>
        <p:nvSpPr>
          <p:cNvPr id="25" name="Text 23"/>
          <p:cNvSpPr/>
          <p:nvPr/>
        </p:nvSpPr>
        <p:spPr>
          <a:xfrm>
            <a:off x="731520" y="5596128"/>
            <a:ext cx="2331720" cy="31089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per-rule --lint roll-up</a:t>
            </a:r>
            <a:endParaRPr lang="en-US" sz="1200" dirty="0"/>
          </a:p>
        </p:txBody>
      </p:sp>
      <p:sp>
        <p:nvSpPr>
          <p:cNvPr id="26" name="Text 24"/>
          <p:cNvSpPr/>
          <p:nvPr/>
        </p:nvSpPr>
        <p:spPr>
          <a:xfrm>
            <a:off x="731520" y="5916168"/>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a capped view stops hiding whole rules</a:t>
            </a:r>
            <a:endParaRPr lang="en-US" sz="900" dirty="0"/>
          </a:p>
        </p:txBody>
      </p:sp>
      <p:sp>
        <p:nvSpPr>
          <p:cNvPr id="27" name="Text 25"/>
          <p:cNvSpPr/>
          <p:nvPr/>
        </p:nvSpPr>
        <p:spPr>
          <a:xfrm>
            <a:off x="3264408" y="5596128"/>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on this repository 14 of the 31 rules that fired contribute ZERO shown rows — 368 findings whose only evidence is their count=. A rule no corpus language registers carries applicable=0, so its zero is inertness, not a measurement.</a:t>
            </a:r>
            <a:endParaRPr lang="en-US" sz="1050" dirty="0"/>
          </a:p>
        </p:txBody>
      </p:sp>
      <p:sp>
        <p:nvSpPr>
          <p:cNvPr id="28" name="Shape 26"/>
          <p:cNvSpPr/>
          <p:nvPr/>
        </p:nvSpPr>
        <p:spPr>
          <a:xfrm>
            <a:off x="566928" y="6355080"/>
            <a:ext cx="11055096" cy="0"/>
          </a:xfrm>
          <a:prstGeom prst="roundRect">
            <a:avLst>
              <a:gd name="adj" fmla="val Infinity"/>
            </a:avLst>
          </a:prstGeom>
          <a:solidFill>
            <a:srgbClr val="1B2432"/>
          </a:solidFill>
          <a:ln w="9525">
            <a:solidFill>
              <a:srgbClr val="232D3D"/>
            </a:solidFill>
            <a:prstDash val="solid"/>
          </a:ln>
        </p:spPr>
      </p:sp>
      <p:sp>
        <p:nvSpPr>
          <p:cNvPr id="29" name="Text 27"/>
          <p:cNvSpPr/>
          <p:nvPr/>
        </p:nvSpPr>
        <p:spPr>
          <a:xfrm>
            <a:off x="566928" y="6327648"/>
            <a:ext cx="11055096" cy="457200"/>
          </a:xfrm>
          <a:prstGeom prst="rect">
            <a:avLst/>
          </a:prstGeom>
          <a:noFill/>
          <a:ln/>
        </p:spPr>
        <p:txBody>
          <a:bodyPr wrap="square" lIns="0" tIns="0" rIns="0" bIns="0" rtlCol="0" anchor="ctr"/>
          <a:lstStyle/>
          <a:p>
            <a:pPr indent="0" marL="0">
              <a:buNone/>
            </a:pPr>
            <a:r>
              <a:rPr lang="en-US" sz="1000" b="1" dirty="0">
                <a:solidFill>
                  <a:srgbClr val="E6EDF3"/>
                </a:solidFill>
                <a:latin typeface="Arial" pitchFamily="34" charset="0"/>
                <a:ea typeface="Arial" pitchFamily="34" charset="-122"/>
                <a:cs typeface="Arial" pitchFamily="34" charset="-120"/>
              </a:rPr>
              <a:t>And two languages: PHP and Lua, </a:t>
            </a:r>
            <a:pPr indent="0" marL="0">
              <a:buNone/>
            </a:pPr>
            <a:r>
              <a:rPr lang="en-US" sz="1000" dirty="0">
                <a:solidFill>
                  <a:srgbClr val="8B95A5"/>
                </a:solidFill>
                <a:latin typeface="Arial" pitchFamily="34" charset="0"/>
                <a:ea typeface="Arial" pitchFamily="34" charset="-122"/>
                <a:cs typeface="Arial" pitchFamily="34" charset="-120"/>
              </a:rPr>
              <a:t>each shipped with its floor stated rather than implied — PHP's run-time dispatch ($fn(), call_user_func, __call) names its callee at run time and is a declared floor; a Lua corpus reports no inheritance edges, because metatable inheritance has no syntax to read.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new since 2026-08-23 — each figure measured, dated, and re-derivable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2026-08-23 to 2026-08-30 added</a:t>
            </a:r>
            <a:endParaRPr lang="en-US" sz="3200" dirty="0"/>
          </a:p>
        </p:txBody>
      </p:sp>
      <p:sp>
        <p:nvSpPr>
          <p:cNvPr id="4" name="Shape 2"/>
          <p:cNvSpPr/>
          <p:nvPr/>
        </p:nvSpPr>
        <p:spPr>
          <a:xfrm>
            <a:off x="566928" y="1572768"/>
            <a:ext cx="11055096" cy="1389888"/>
          </a:xfrm>
          <a:prstGeom prst="roundRect">
            <a:avLst>
              <a:gd name="adj" fmla="val 5921"/>
            </a:avLst>
          </a:prstGeom>
          <a:solidFill>
            <a:srgbClr val="161D28"/>
          </a:solidFill>
          <a:ln w="9525">
            <a:solidFill>
              <a:srgbClr val="232D3D"/>
            </a:solidFill>
            <a:prstDash val="solid"/>
          </a:ln>
        </p:spPr>
      </p:sp>
      <p:sp>
        <p:nvSpPr>
          <p:cNvPr id="5" name="Text 3"/>
          <p:cNvSpPr/>
          <p:nvPr/>
        </p:nvSpPr>
        <p:spPr>
          <a:xfrm>
            <a:off x="731520" y="1664208"/>
            <a:ext cx="2331720" cy="365760"/>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--slice-flow</a:t>
            </a:r>
            <a:endParaRPr lang="en-US" sz="1300" dirty="0"/>
          </a:p>
        </p:txBody>
      </p:sp>
      <p:sp>
        <p:nvSpPr>
          <p:cNvPr id="6" name="Text 4"/>
          <p:cNvSpPr/>
          <p:nvPr/>
        </p:nvSpPr>
        <p:spPr>
          <a:xfrm>
            <a:off x="731520" y="2048256"/>
            <a:ext cx="2331720" cy="77724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cross-statement data-flow slicing</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(ARISE, arXiv:2605.03117)</a:t>
            </a:r>
            <a:endParaRPr lang="en-US" sz="900" dirty="0"/>
          </a:p>
        </p:txBody>
      </p:sp>
      <p:sp>
        <p:nvSpPr>
          <p:cNvPr id="7" name="Text 5"/>
          <p:cNvSpPr/>
          <p:nvPr/>
        </p:nvSpPr>
        <p:spPr>
          <a:xfrm>
            <a:off x="3264408" y="1664208"/>
            <a:ext cx="8229600" cy="1207008"/>
          </a:xfrm>
          <a:prstGeom prst="rect">
            <a:avLst/>
          </a:prstGeom>
          <a:noFill/>
          <a:ln/>
        </p:spPr>
        <p:txBody>
          <a:bodyPr wrap="square" lIns="0" tIns="0" rIns="0" bIns="0" rtlCol="0" anchor="ctr"/>
          <a:lstStyle/>
          <a:p>
            <a:pPr indent="0" marL="0">
              <a:buNone/>
            </a:pPr>
            <a:r>
              <a:rPr lang="en-US" sz="1100" dirty="0">
                <a:solidFill>
                  <a:srgbClr val="E6EDF3"/>
                </a:solidFill>
                <a:latin typeface="Arial" pitchFamily="34" charset="0"/>
                <a:ea typeface="Arial" pitchFamily="34" charset="-122"/>
                <a:cs typeface="Arial" pitchFamily="34" charset="-120"/>
              </a:rPr>
              <a:t>The paper's own slicer — reaching-definition edges, a seed plus a direction, a bounded BFS that stops at function boundaries — implemented and MEASURED on a registered fix-commit protocol: flow rows lift function-level added-line recall 0.163 → 0.198 at 25% of --expand's whole-body bytes (whose recall is 1.0 by construction). 7 commits / 38 instances, cpp only — a thin corpus, reported as thin.</a:t>
            </a:r>
            <a:endParaRPr lang="en-US" sz="1100" dirty="0"/>
          </a:p>
        </p:txBody>
      </p:sp>
      <p:sp>
        <p:nvSpPr>
          <p:cNvPr id="8" name="Shape 6"/>
          <p:cNvSpPr/>
          <p:nvPr/>
        </p:nvSpPr>
        <p:spPr>
          <a:xfrm>
            <a:off x="566928" y="3127248"/>
            <a:ext cx="11055096" cy="1389888"/>
          </a:xfrm>
          <a:prstGeom prst="roundRect">
            <a:avLst>
              <a:gd name="adj" fmla="val 5921"/>
            </a:avLst>
          </a:prstGeom>
          <a:solidFill>
            <a:srgbClr val="161D28"/>
          </a:solidFill>
          <a:ln w="9525">
            <a:solidFill>
              <a:srgbClr val="232D3D"/>
            </a:solidFill>
            <a:prstDash val="solid"/>
          </a:ln>
        </p:spPr>
      </p:sp>
      <p:sp>
        <p:nvSpPr>
          <p:cNvPr id="9" name="Text 7"/>
          <p:cNvSpPr/>
          <p:nvPr/>
        </p:nvSpPr>
        <p:spPr>
          <a:xfrm>
            <a:off x="731520" y="3218688"/>
            <a:ext cx="2331720" cy="365760"/>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--slice, first numbers</a:t>
            </a:r>
            <a:endParaRPr lang="en-US" sz="1300" dirty="0"/>
          </a:p>
        </p:txBody>
      </p:sp>
      <p:sp>
        <p:nvSpPr>
          <p:cNvPr id="10" name="Text 8"/>
          <p:cNvSpPr/>
          <p:nvPr/>
        </p:nvSpPr>
        <p:spPr>
          <a:xfrm>
            <a:off x="731520" y="3602736"/>
            <a:ext cx="2331720" cy="77724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2026-08-28 registered contract,</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finally measured</a:t>
            </a:r>
            <a:endParaRPr lang="en-US" sz="900" dirty="0"/>
          </a:p>
        </p:txBody>
      </p:sp>
      <p:sp>
        <p:nvSpPr>
          <p:cNvPr id="11" name="Text 9"/>
          <p:cNvSpPr/>
          <p:nvPr/>
        </p:nvSpPr>
        <p:spPr>
          <a:xfrm>
            <a:off x="3264408" y="3218688"/>
            <a:ext cx="8229600" cy="1207008"/>
          </a:xfrm>
          <a:prstGeom prst="rect">
            <a:avLst/>
          </a:prstGeom>
          <a:noFill/>
          <a:ln/>
        </p:spPr>
        <p:txBody>
          <a:bodyPr wrap="square" lIns="0" tIns="0" rIns="0" bIns="0" rtlCol="0" anchor="ctr"/>
          <a:lstStyle/>
          <a:p>
            <a:pPr indent="0" marL="0">
              <a:buNone/>
            </a:pPr>
            <a:r>
              <a:rPr lang="en-US" sz="1100" dirty="0">
                <a:solidFill>
                  <a:srgbClr val="E6EDF3"/>
                </a:solidFill>
                <a:latin typeface="Arial" pitchFamily="34" charset="0"/>
                <a:ea typeface="Arial" pitchFamily="34" charset="-122"/>
                <a:cs typeface="Arial" pitchFamily="34" charset="-120"/>
              </a:rPr>
              <a:t>Per-variable line-recall 0.726, hit-all rate 0.632 — a FLOOR under a noisy relevance oracle: every inspected miss was the protocol's word-regex matching identifiers inside comments and string literals, occurrences the slicer correctly refuses to call variable uses. No inspected instance showed a real occurrence the slice dropped.</a:t>
            </a:r>
            <a:endParaRPr lang="en-US" sz="1100" dirty="0"/>
          </a:p>
        </p:txBody>
      </p:sp>
      <p:sp>
        <p:nvSpPr>
          <p:cNvPr id="12" name="Shape 10"/>
          <p:cNvSpPr/>
          <p:nvPr/>
        </p:nvSpPr>
        <p:spPr>
          <a:xfrm>
            <a:off x="566928" y="4681728"/>
            <a:ext cx="11055096" cy="1389888"/>
          </a:xfrm>
          <a:prstGeom prst="roundRect">
            <a:avLst>
              <a:gd name="adj" fmla="val 5921"/>
            </a:avLst>
          </a:prstGeom>
          <a:solidFill>
            <a:srgbClr val="161D28"/>
          </a:solidFill>
          <a:ln w="9525">
            <a:solidFill>
              <a:srgbClr val="232D3D"/>
            </a:solidFill>
            <a:prstDash val="solid"/>
          </a:ln>
        </p:spPr>
      </p:sp>
      <p:sp>
        <p:nvSpPr>
          <p:cNvPr id="13" name="Text 11"/>
          <p:cNvSpPr/>
          <p:nvPr/>
        </p:nvSpPr>
        <p:spPr>
          <a:xfrm>
            <a:off x="731520" y="4773168"/>
            <a:ext cx="2331720" cy="365760"/>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~1350× on --expand</a:t>
            </a:r>
            <a:endParaRPr lang="en-US" sz="1300" dirty="0"/>
          </a:p>
        </p:txBody>
      </p:sp>
      <p:sp>
        <p:nvSpPr>
          <p:cNvPr id="14" name="Text 12"/>
          <p:cNvSpPr/>
          <p:nvPr/>
        </p:nvSpPr>
        <p:spPr>
          <a:xfrm>
            <a:off x="731520" y="5157216"/>
            <a:ext cx="2331720" cy="77724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secret-redaction sweep was</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quadratic in LINE length</a:t>
            </a:r>
            <a:endParaRPr lang="en-US" sz="900" dirty="0"/>
          </a:p>
        </p:txBody>
      </p:sp>
      <p:sp>
        <p:nvSpPr>
          <p:cNvPr id="15" name="Text 13"/>
          <p:cNvSpPr/>
          <p:nvPr/>
        </p:nvSpPr>
        <p:spPr>
          <a:xfrm>
            <a:off x="3264408" y="4773168"/>
            <a:ext cx="8229600" cy="1207008"/>
          </a:xfrm>
          <a:prstGeom prst="rect">
            <a:avLst/>
          </a:prstGeom>
          <a:noFill/>
          <a:ln/>
        </p:spPr>
        <p:txBody>
          <a:bodyPr wrap="square" lIns="0" tIns="0" rIns="0" bIns="0" rtlCol="0" anchor="ctr"/>
          <a:lstStyle/>
          <a:p>
            <a:pPr indent="0" marL="0">
              <a:buNone/>
            </a:pPr>
            <a:r>
              <a:rPr lang="en-US" sz="1100" dirty="0">
                <a:solidFill>
                  <a:srgbClr val="E6EDF3"/>
                </a:solidFill>
                <a:latin typeface="Arial" pitchFamily="34" charset="0"/>
                <a:ea typeface="Arial" pitchFamily="34" charset="-122"/>
                <a:cs typeface="Arial" pitchFamily="34" charset="-120"/>
              </a:rPr>
              <a:t>One selector in a 2.1 MB / 768-line minified yarn bundle NEVER completed — killed at 1,343.9 s of user CPU with an empty output file; 196.7 s is the only clean lower bound — and now answers in 0.46 s warm. The 20 KB single-line fixture: 23.02 s → 0.017 s. A pure memoization, so an output no-op: 120/120 invocations byte-identical; gated on behaviour, the timings a ledger row and never a red-CI threshold.</a:t>
            </a:r>
            <a:endParaRPr lang="en-US" sz="1100" dirty="0"/>
          </a:p>
        </p:txBody>
      </p:sp>
      <p:sp>
        <p:nvSpPr>
          <p:cNvPr id="16"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sources: docs/EVALS.md §--slice-flow (registered protocol + per-instance ledger) · bench/PROFILE.md 2026-08-30 — no number travels without its caveat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new since 2026-08-30 — the window this deck did not cover until now</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2026-08-30 to 2026-09-06 added</a:t>
            </a:r>
            <a:endParaRPr lang="en-US" sz="3200" dirty="0"/>
          </a:p>
        </p:txBody>
      </p:sp>
      <p:sp>
        <p:nvSpPr>
          <p:cNvPr id="4" name="Shape 2"/>
          <p:cNvSpPr/>
          <p:nvPr/>
        </p:nvSpPr>
        <p:spPr>
          <a:xfrm>
            <a:off x="566928" y="1554480"/>
            <a:ext cx="11055096" cy="1069848"/>
          </a:xfrm>
          <a:prstGeom prst="roundRect">
            <a:avLst>
              <a:gd name="adj" fmla="val 7692"/>
            </a:avLst>
          </a:prstGeom>
          <a:solidFill>
            <a:srgbClr val="161D28"/>
          </a:solidFill>
          <a:ln w="9525">
            <a:solidFill>
              <a:srgbClr val="232D3D"/>
            </a:solidFill>
            <a:prstDash val="solid"/>
          </a:ln>
        </p:spPr>
      </p:sp>
      <p:sp>
        <p:nvSpPr>
          <p:cNvPr id="5" name="Text 3"/>
          <p:cNvSpPr/>
          <p:nvPr/>
        </p:nvSpPr>
        <p:spPr>
          <a:xfrm>
            <a:off x="731520" y="1636776"/>
            <a:ext cx="2331720" cy="457200"/>
          </a:xfrm>
          <a:prstGeom prst="rect">
            <a:avLst/>
          </a:prstGeom>
          <a:noFill/>
          <a:ln/>
        </p:spPr>
        <p:txBody>
          <a:bodyPr wrap="square" lIns="0" tIns="0" rIns="0" bIns="0" rtlCol="0" anchor="ctr"/>
          <a:lstStyle/>
          <a:p>
            <a:pPr indent="0" marL="0">
              <a:buNone/>
            </a:pPr>
            <a:r>
              <a:rPr lang="en-US" sz="1200" b="1" dirty="0">
                <a:solidFill>
                  <a:srgbClr val="4AC26B"/>
                </a:solidFill>
                <a:latin typeface="Courier New" pitchFamily="34" charset="0"/>
                <a:ea typeface="Courier New" pitchFamily="34" charset="-122"/>
                <a:cs typeface="Courier New" pitchFamily="34" charset="-120"/>
              </a:rPr>
              <a:t>.gitignore, honoured</a:t>
            </a:r>
            <a:endParaRPr lang="en-US" sz="1200" dirty="0"/>
          </a:p>
          <a:p>
            <a:pPr indent="0" marL="0">
              <a:buNone/>
            </a:pPr>
            <a:r>
              <a:rPr lang="en-US" sz="1200" b="1" dirty="0">
                <a:solidFill>
                  <a:srgbClr val="4AC26B"/>
                </a:solidFill>
                <a:latin typeface="Courier New" pitchFamily="34" charset="0"/>
                <a:ea typeface="Courier New" pitchFamily="34" charset="-122"/>
                <a:cs typeface="Courier New" pitchFamily="34" charset="-120"/>
              </a:rPr>
              <a:t>by default</a:t>
            </a:r>
            <a:endParaRPr lang="en-US" sz="1200" dirty="0"/>
          </a:p>
        </p:txBody>
      </p:sp>
      <p:sp>
        <p:nvSpPr>
          <p:cNvPr id="6" name="Text 4"/>
          <p:cNvSpPr/>
          <p:nvPr/>
        </p:nvSpPr>
        <p:spPr>
          <a:xfrm>
            <a:off x="731520" y="2103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named for ripgrep, whose</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defining default this is</a:t>
            </a:r>
            <a:endParaRPr lang="en-US" sz="900" dirty="0"/>
          </a:p>
        </p:txBody>
      </p:sp>
      <p:sp>
        <p:nvSpPr>
          <p:cNvPr id="7" name="Text 5"/>
          <p:cNvSpPr/>
          <p:nvPr/>
        </p:nvSpPr>
        <p:spPr>
          <a:xfrm>
            <a:off x="3264408" y="1627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The crawl walked ignored files; in a git work tree it now consults git's own rules and skips what the repository already declared uninteresting. This root, three checkouts under an ignored bench/external/: files= 8,674 → 1,522, cold 2.81 s → 0.52 s, warm 0.63 s → 0.10 s — and --no-ignore restores the previous walk exactly. Nothing drops silently: ignored_files= is exact, ignored_dirs= says the walk STOPPED there so those contents are UNKNOWN rather than zero, and both are ABSENT when the rules dropped nothing — so a tree with nothing ignored is byte-identical to what it produced before.</a:t>
            </a:r>
            <a:endParaRPr lang="en-US" sz="1000" dirty="0"/>
          </a:p>
        </p:txBody>
      </p:sp>
      <p:sp>
        <p:nvSpPr>
          <p:cNvPr id="8" name="Shape 6"/>
          <p:cNvSpPr/>
          <p:nvPr/>
        </p:nvSpPr>
        <p:spPr>
          <a:xfrm>
            <a:off x="566928" y="2697480"/>
            <a:ext cx="11055096" cy="1069848"/>
          </a:xfrm>
          <a:prstGeom prst="roundRect">
            <a:avLst>
              <a:gd name="adj" fmla="val 7692"/>
            </a:avLst>
          </a:prstGeom>
          <a:solidFill>
            <a:srgbClr val="161D28"/>
          </a:solidFill>
          <a:ln w="9525">
            <a:solidFill>
              <a:srgbClr val="232D3D"/>
            </a:solidFill>
            <a:prstDash val="solid"/>
          </a:ln>
        </p:spPr>
      </p:sp>
      <p:sp>
        <p:nvSpPr>
          <p:cNvPr id="9" name="Text 7"/>
          <p:cNvSpPr/>
          <p:nvPr/>
        </p:nvSpPr>
        <p:spPr>
          <a:xfrm>
            <a:off x="731520" y="2779776"/>
            <a:ext cx="2331720" cy="457200"/>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--html --color-by</a:t>
            </a:r>
            <a:endParaRPr lang="en-US" sz="1200" dirty="0"/>
          </a:p>
        </p:txBody>
      </p:sp>
      <p:sp>
        <p:nvSpPr>
          <p:cNvPr id="10" name="Text 8"/>
          <p:cNvSpPr/>
          <p:nvPr/>
        </p:nvSpPr>
        <p:spPr>
          <a:xfrm>
            <a:off x="731520" y="3246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map, rendered —</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no server, no CDN</a:t>
            </a:r>
            <a:endParaRPr lang="en-US" sz="900" dirty="0"/>
          </a:p>
        </p:txBody>
      </p:sp>
      <p:sp>
        <p:nvSpPr>
          <p:cNvPr id="11" name="Text 9"/>
          <p:cNvSpPr/>
          <p:nvPr/>
        </p:nvSpPr>
        <p:spPr>
          <a:xfrm>
            <a:off x="3264408" y="2770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One self-contained HTML file: a force-directed call graph you click to recentre. --color-by=lang|community|cx|churn|tested sets the INITIAL colour only — the page embeds all five and keeps a live selector, so switching lens costs no second run. One five-stop blue-to-orange scale rather than the usual green-to-red, so reading it never depends on telling red from green.</a:t>
            </a:r>
            <a:endParaRPr lang="en-US" sz="1000" dirty="0"/>
          </a:p>
        </p:txBody>
      </p:sp>
      <p:sp>
        <p:nvSpPr>
          <p:cNvPr id="12" name="Shape 10"/>
          <p:cNvSpPr/>
          <p:nvPr/>
        </p:nvSpPr>
        <p:spPr>
          <a:xfrm>
            <a:off x="566928" y="3840480"/>
            <a:ext cx="11055096" cy="1069848"/>
          </a:xfrm>
          <a:prstGeom prst="roundRect">
            <a:avLst>
              <a:gd name="adj" fmla="val 7692"/>
            </a:avLst>
          </a:prstGeom>
          <a:solidFill>
            <a:srgbClr val="161D28"/>
          </a:solidFill>
          <a:ln w="9525">
            <a:solidFill>
              <a:srgbClr val="232D3D"/>
            </a:solidFill>
            <a:prstDash val="solid"/>
          </a:ln>
        </p:spPr>
      </p:sp>
      <p:sp>
        <p:nvSpPr>
          <p:cNvPr id="13" name="Text 11"/>
          <p:cNvSpPr/>
          <p:nvPr/>
        </p:nvSpPr>
        <p:spPr>
          <a:xfrm>
            <a:off x="731520" y="3922776"/>
            <a:ext cx="2331720" cy="457200"/>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--eval-retrieval,</a:t>
            </a:r>
            <a:endParaRPr lang="en-US" sz="1200" dirty="0"/>
          </a:p>
          <a:p>
            <a:pPr indent="0" marL="0">
              <a:buNone/>
            </a:pPr>
            <a:r>
              <a:rPr lang="en-US" sz="1200" b="1" dirty="0">
                <a:solidFill>
                  <a:srgbClr val="F2B84B"/>
                </a:solidFill>
                <a:latin typeface="Courier New" pitchFamily="34" charset="0"/>
                <a:ea typeface="Courier New" pitchFamily="34" charset="-122"/>
                <a:cs typeface="Courier New" pitchFamily="34" charset="-120"/>
              </a:rPr>
              <a:t>re-sampled</a:t>
            </a:r>
            <a:endParaRPr lang="en-US" sz="1200" dirty="0"/>
          </a:p>
        </p:txBody>
      </p:sp>
      <p:sp>
        <p:nvSpPr>
          <p:cNvPr id="14" name="Text 12"/>
          <p:cNvSpPr/>
          <p:nvPr/>
        </p:nvSpPr>
        <p:spPr>
          <a:xfrm>
            <a:off x="731520" y="4389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sampler was measuring</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the corpus, not the ranker</a:t>
            </a:r>
            <a:endParaRPr lang="en-US" sz="900" dirty="0"/>
          </a:p>
        </p:txBody>
      </p:sp>
      <p:sp>
        <p:nvSpPr>
          <p:cNvPr id="15" name="Text 13"/>
          <p:cNvSpPr/>
          <p:nvPr/>
        </p:nvSpPr>
        <p:spPr>
          <a:xfrm>
            <a:off x="3264408" y="3913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For fourteen months the gold set was the first 150 doc-commented symbols in PATH order — and bench/ sorts before src/, so adding a docstring to a benchmark harness moved a published number without touching ranking code. One 60-symbol probe, one corpus, only its PATH varied: 0.105 and 0.356 MRR from spelling alone. Now exhaustive — population=3011 scored=3011 rule=exhaustive — and EVERY retrieval figure this project publishes was re-derived under it.</a:t>
            </a:r>
            <a:endParaRPr lang="en-US" sz="1000" dirty="0"/>
          </a:p>
        </p:txBody>
      </p:sp>
      <p:sp>
        <p:nvSpPr>
          <p:cNvPr id="16" name="Shape 14"/>
          <p:cNvSpPr/>
          <p:nvPr/>
        </p:nvSpPr>
        <p:spPr>
          <a:xfrm>
            <a:off x="566928" y="4983480"/>
            <a:ext cx="11055096" cy="1069848"/>
          </a:xfrm>
          <a:prstGeom prst="roundRect">
            <a:avLst>
              <a:gd name="adj" fmla="val 7692"/>
            </a:avLst>
          </a:prstGeom>
          <a:solidFill>
            <a:srgbClr val="161D28"/>
          </a:solidFill>
          <a:ln w="9525">
            <a:solidFill>
              <a:srgbClr val="232D3D"/>
            </a:solidFill>
            <a:prstDash val="solid"/>
          </a:ln>
        </p:spPr>
      </p:sp>
      <p:sp>
        <p:nvSpPr>
          <p:cNvPr id="17" name="Text 15"/>
          <p:cNvSpPr/>
          <p:nvPr/>
        </p:nvSpPr>
        <p:spPr>
          <a:xfrm>
            <a:off x="731520" y="5065776"/>
            <a:ext cx="2331720" cy="457200"/>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--plan-lanes</a:t>
            </a:r>
            <a:endParaRPr lang="en-US" sz="1200" dirty="0"/>
          </a:p>
        </p:txBody>
      </p:sp>
      <p:sp>
        <p:nvSpPr>
          <p:cNvPr id="18" name="Text 16"/>
          <p:cNvSpPr/>
          <p:nvPr/>
        </p:nvSpPr>
        <p:spPr>
          <a:xfrm>
            <a:off x="731520" y="5532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which lanes would collide,</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BEFORE a line is written</a:t>
            </a:r>
            <a:endParaRPr lang="en-US" sz="900" dirty="0"/>
          </a:p>
        </p:txBody>
      </p:sp>
      <p:sp>
        <p:nvSpPr>
          <p:cNvPr id="19" name="Text 17"/>
          <p:cNvSpPr/>
          <p:nvPr/>
        </p:nvSpPr>
        <p:spPr>
          <a:xfrm>
            <a:off x="3264408" y="5056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Where --merge-scout says "these branches already conflict", this says "these lanes WOULD conflict if assigned this way" — no ref to resolve, no re-ingest. Each lane now also carries an advisory execution profile (model + reasoning effort) that labels its own evidence basis="structural-only" and versions its policy separately from the schema, so a recommendation cannot quietly claim more than the structure it read.</a:t>
            </a:r>
            <a:endParaRPr lang="en-US" sz="1000" dirty="0"/>
          </a:p>
        </p:txBody>
      </p:sp>
      <p:sp>
        <p:nvSpPr>
          <p:cNvPr id="20" name="Text 18"/>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CHANGELOG.md [Unreleased] carries the ignore-default measurement and its ledger in bench/PROFILE.md · the sampler negative is docs/EVALS.md §7, published as a counterexample against our own published numbers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0.6.0 — everything since v0.5.0 (tagged 2026-09-07); each figure names its PR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0.6.0: faster where it hurt, clearer where it stops</a:t>
            </a:r>
            <a:endParaRPr lang="en-US" sz="32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a new language</a:t>
            </a:r>
            <a:endParaRPr lang="en-US" sz="1400" dirty="0"/>
          </a:p>
        </p:txBody>
      </p:sp>
      <p:sp>
        <p:nvSpPr>
          <p:cNvPr id="6" name="Text 4"/>
          <p:cNvSpPr/>
          <p:nvPr/>
        </p:nvSpPr>
        <p:spPr>
          <a:xfrm>
            <a:off x="749808" y="2084832"/>
            <a:ext cx="1417320" cy="809244"/>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Dart</a:t>
            </a:r>
            <a:endParaRPr lang="en-US" sz="1300" dirty="0"/>
          </a:p>
        </p:txBody>
      </p:sp>
      <p:sp>
        <p:nvSpPr>
          <p:cNvPr id="7" name="Text 5"/>
          <p:cNvSpPr/>
          <p:nvPr/>
        </p:nvSpPr>
        <p:spPr>
          <a:xfrm>
            <a:off x="2258568" y="2084832"/>
            <a:ext cx="358902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23rd grammar, by @calvinchengx: 71,726 symbols from flutter/packages' 3,706 .dart files, none among its 289 degraded parses (#75, #106)</a:t>
            </a:r>
            <a:endParaRPr lang="en-US" sz="950" dirty="0"/>
          </a:p>
        </p:txBody>
      </p:sp>
      <p:sp>
        <p:nvSpPr>
          <p:cNvPr id="8" name="Text 6"/>
          <p:cNvSpPr/>
          <p:nvPr/>
        </p:nvSpPr>
        <p:spPr>
          <a:xfrm>
            <a:off x="749808" y="2894076"/>
            <a:ext cx="1417320" cy="809244"/>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any language</a:t>
            </a:r>
            <a:endParaRPr lang="en-US" sz="1300" dirty="0"/>
          </a:p>
        </p:txBody>
      </p:sp>
      <p:sp>
        <p:nvSpPr>
          <p:cNvPr id="9" name="Text 7"/>
          <p:cNvSpPr/>
          <p:nvPr/>
        </p:nvSpPr>
        <p:spPr>
          <a:xfrm>
            <a:off x="2258568" y="2894076"/>
            <a:ext cx="358902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Dart's landing caught six per-language arrays sized off the last enum by hand: an appended language dropped out of --skipped's census silently. Fixed for all.</a:t>
            </a:r>
            <a:endParaRPr lang="en-US" sz="950" dirty="0"/>
          </a:p>
        </p:txBody>
      </p:sp>
      <p:sp>
        <p:nvSpPr>
          <p:cNvPr id="10" name="Shape 8"/>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1" name="Text 9"/>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Rip'n Fast</a:t>
            </a:r>
            <a:endParaRPr lang="en-US" sz="1400" dirty="0"/>
          </a:p>
        </p:txBody>
      </p:sp>
      <p:sp>
        <p:nvSpPr>
          <p:cNvPr id="12" name="Text 10"/>
          <p:cNvSpPr/>
          <p:nvPr/>
        </p:nvSpPr>
        <p:spPr>
          <a:xfrm>
            <a:off x="6341364" y="2084832"/>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159.7 → 9.2 s</a:t>
            </a:r>
            <a:endParaRPr lang="en-US" sz="1300" dirty="0"/>
          </a:p>
        </p:txBody>
      </p:sp>
      <p:sp>
        <p:nvSpPr>
          <p:cNvPr id="13" name="Text 11"/>
          <p:cNvSpPr/>
          <p:nvPr/>
        </p:nvSpPr>
        <p:spPr>
          <a:xfrm>
            <a:off x="8124444" y="208483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warm --grep on llvm-project: an inheritance cone rebuilt on every still-ambiguous receiver-typed call is now built once per type (#83)</a:t>
            </a:r>
            <a:endParaRPr lang="en-US" sz="950" dirty="0"/>
          </a:p>
        </p:txBody>
      </p:sp>
      <p:sp>
        <p:nvSpPr>
          <p:cNvPr id="14" name="Text 12"/>
          <p:cNvSpPr/>
          <p:nvPr/>
        </p:nvSpPr>
        <p:spPr>
          <a:xfrm>
            <a:off x="6341364" y="2624328"/>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−19.9% CPU</a:t>
            </a:r>
            <a:endParaRPr lang="en-US" sz="1300" dirty="0"/>
          </a:p>
        </p:txBody>
      </p:sp>
      <p:sp>
        <p:nvSpPr>
          <p:cNvPr id="15" name="Text 13"/>
          <p:cNvSpPr/>
          <p:nvPr/>
        </p:nvSpPr>
        <p:spPr>
          <a:xfrm>
            <a:off x="8124444" y="262432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cold parse on llvm-project, 194.1 → 155.6 s: child walks that went quadratic now use a cursor, output byte-identical (#127, #130)</a:t>
            </a:r>
            <a:endParaRPr lang="en-US" sz="950" dirty="0"/>
          </a:p>
        </p:txBody>
      </p:sp>
      <p:sp>
        <p:nvSpPr>
          <p:cNvPr id="16" name="Text 14"/>
          <p:cNvSpPr/>
          <p:nvPr/>
        </p:nvSpPr>
        <p:spPr>
          <a:xfrm>
            <a:off x="6341364" y="3163824"/>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−27.6% CPU</a:t>
            </a:r>
            <a:endParaRPr lang="en-US" sz="1300" dirty="0"/>
          </a:p>
        </p:txBody>
      </p:sp>
      <p:sp>
        <p:nvSpPr>
          <p:cNvPr id="17" name="Text 15"/>
          <p:cNvSpPr/>
          <p:nvPr/>
        </p:nvSpPr>
        <p:spPr>
          <a:xfrm>
            <a:off x="8124444" y="316382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warm --pack-task on go, 8.13 → 5.88 s: the tokenizer rebuilt on one header of NEON, AVX2 and scalar string kernels (#127)</a:t>
            </a:r>
            <a:endParaRPr lang="en-US" sz="950" dirty="0"/>
          </a:p>
        </p:txBody>
      </p:sp>
      <p:sp>
        <p:nvSpPr>
          <p:cNvPr id="18" name="Shape 16"/>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19" name="Text 17"/>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honest where it counts</a:t>
            </a:r>
            <a:endParaRPr lang="en-US" sz="1400" dirty="0"/>
          </a:p>
        </p:txBody>
      </p:sp>
      <p:sp>
        <p:nvSpPr>
          <p:cNvPr id="20" name="Text 18"/>
          <p:cNvSpPr/>
          <p:nvPr/>
        </p:nvSpPr>
        <p:spPr>
          <a:xfrm>
            <a:off x="749808" y="4416552"/>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2,107 → 3</a:t>
            </a:r>
            <a:endParaRPr lang="en-US" sz="1300" dirty="0"/>
          </a:p>
        </p:txBody>
      </p:sp>
      <p:sp>
        <p:nvSpPr>
          <p:cNvPr id="21" name="Text 19"/>
          <p:cNvSpPr/>
          <p:nvPr/>
        </p:nvSpPr>
        <p:spPr>
          <a:xfrm>
            <a:off x="2532888" y="441655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false callers of memgraph's SafeString::move: a std::move call no longer binds to your own code (#134)</a:t>
            </a:r>
            <a:endParaRPr lang="en-US" sz="950" dirty="0"/>
          </a:p>
        </p:txBody>
      </p:sp>
      <p:sp>
        <p:nvSpPr>
          <p:cNvPr id="22" name="Text 20"/>
          <p:cNvSpPr/>
          <p:nvPr/>
        </p:nvSpPr>
        <p:spPr>
          <a:xfrm>
            <a:off x="749808" y="4956048"/>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12/12 → 8/12</a:t>
            </a:r>
            <a:endParaRPr lang="en-US" sz="1300" dirty="0"/>
          </a:p>
        </p:txBody>
      </p:sp>
      <p:sp>
        <p:nvSpPr>
          <p:cNvPr id="23" name="Text 21"/>
          <p:cNvSpPr/>
          <p:nvPr/>
        </p:nvSpPr>
        <p:spPr>
          <a:xfrm>
            <a:off x="2532888" y="495604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commits --quality-delta gated, of 12 landed: true-positive share 2% → 12%, with 0 wrong rows (#127)</a:t>
            </a:r>
            <a:endParaRPr lang="en-US" sz="950" dirty="0"/>
          </a:p>
        </p:txBody>
      </p:sp>
      <p:sp>
        <p:nvSpPr>
          <p:cNvPr id="24" name="Text 22"/>
          <p:cNvSpPr/>
          <p:nvPr/>
        </p:nvSpPr>
        <p:spPr>
          <a:xfrm>
            <a:off x="749808" y="5495544"/>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13/25 → 0</a:t>
            </a:r>
            <a:endParaRPr lang="en-US" sz="1300" dirty="0"/>
          </a:p>
        </p:txBody>
      </p:sp>
      <p:sp>
        <p:nvSpPr>
          <p:cNvPr id="25" name="Text 23"/>
          <p:cNvSpPr/>
          <p:nvPr/>
        </p:nvSpPr>
        <p:spPr>
          <a:xfrm>
            <a:off x="2532888" y="549554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harmful --help-task recommendations on the adversarial prose set; precision 0.797 → 1.000 (#127)</a:t>
            </a:r>
            <a:endParaRPr lang="en-US" sz="950" dirty="0"/>
          </a:p>
        </p:txBody>
      </p:sp>
      <p:sp>
        <p:nvSpPr>
          <p:cNvPr id="26" name="Shape 24"/>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27" name="Text 25"/>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fewer tokens, nothing hidden</a:t>
            </a:r>
            <a:endParaRPr lang="en-US" sz="1400" dirty="0"/>
          </a:p>
        </p:txBody>
      </p:sp>
      <p:sp>
        <p:nvSpPr>
          <p:cNvPr id="28" name="Text 26"/>
          <p:cNvSpPr/>
          <p:nvPr/>
        </p:nvSpPr>
        <p:spPr>
          <a:xfrm>
            <a:off x="6341364" y="4416552"/>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46,385 → 4,473</a:t>
            </a:r>
            <a:endParaRPr lang="en-US" sz="1300" dirty="0"/>
          </a:p>
        </p:txBody>
      </p:sp>
      <p:sp>
        <p:nvSpPr>
          <p:cNvPr id="29" name="Text 27"/>
          <p:cNvSpPr/>
          <p:nvPr/>
        </p:nvSpPr>
        <p:spPr>
          <a:xfrm>
            <a:off x="8124444" y="441655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tokens for --help: one line per flag now, and every disclosure is still one call away (#92)</a:t>
            </a:r>
            <a:endParaRPr lang="en-US" sz="950" dirty="0"/>
          </a:p>
        </p:txBody>
      </p:sp>
      <p:sp>
        <p:nvSpPr>
          <p:cNvPr id="30" name="Text 28"/>
          <p:cNvSpPr/>
          <p:nvPr/>
        </p:nvSpPr>
        <p:spPr>
          <a:xfrm>
            <a:off x="6341364" y="4956048"/>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6 → 50</a:t>
            </a:r>
            <a:endParaRPr lang="en-US" sz="1300" dirty="0"/>
          </a:p>
        </p:txBody>
      </p:sp>
      <p:sp>
        <p:nvSpPr>
          <p:cNvPr id="31" name="Text 29"/>
          <p:cNvSpPr/>
          <p:nvPr/>
        </p:nvSpPr>
        <p:spPr>
          <a:xfrm>
            <a:off x="8124444" y="495604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--handoff symbols per code file (12 per prose file): containment 16% → 54%, purely additive (#127)</a:t>
            </a:r>
            <a:endParaRPr lang="en-US" sz="950" dirty="0"/>
          </a:p>
        </p:txBody>
      </p:sp>
      <p:sp>
        <p:nvSpPr>
          <p:cNvPr id="32" name="Text 30"/>
          <p:cNvSpPr/>
          <p:nvPr/>
        </p:nvSpPr>
        <p:spPr>
          <a:xfrm>
            <a:off x="6341364" y="5495544"/>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pages, not cuts</a:t>
            </a:r>
            <a:endParaRPr lang="en-US" sz="1300" dirty="0"/>
          </a:p>
        </p:txBody>
      </p:sp>
      <p:sp>
        <p:nvSpPr>
          <p:cNvPr id="33" name="Text 31"/>
          <p:cNvSpPr/>
          <p:nvPr/>
        </p:nvSpPr>
        <p:spPr>
          <a:xfrm>
            <a:off x="8124444" y="549554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--doc-drift, --flags, --flip and --situ disclose their cuts and page; --situ lists every tests-to-run row (#127)</a:t>
            </a:r>
            <a:endParaRPr lang="en-US" sz="950" dirty="0"/>
          </a:p>
        </p:txBody>
      </p:sp>
      <p:sp>
        <p:nvSpPr>
          <p:cNvPr id="34" name="Text 3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upgrade note: prebuilt x86-64 Linux binaries now need an x86-64-v3 (AVX2-class) CPU, RHEL 10's own floor; arm64 uses NEON (#127)</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Rip'n Fast, at scale — llvm-project, 182,555 files, as the instrument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bugs found at llvm-project scale</a:t>
            </a:r>
            <a:endParaRPr lang="en-US" sz="3200" dirty="0"/>
          </a:p>
        </p:txBody>
      </p:sp>
      <p:sp>
        <p:nvSpPr>
          <p:cNvPr id="4" name="Shape 2"/>
          <p:cNvSpPr/>
          <p:nvPr/>
        </p:nvSpPr>
        <p:spPr>
          <a:xfrm>
            <a:off x="566928" y="1572768"/>
            <a:ext cx="6903720" cy="1078992"/>
          </a:xfrm>
          <a:prstGeom prst="roundRect">
            <a:avLst>
              <a:gd name="adj" fmla="val 7627"/>
            </a:avLst>
          </a:prstGeom>
          <a:solidFill>
            <a:srgbClr val="161D28"/>
          </a:solidFill>
          <a:ln w="9525">
            <a:solidFill>
              <a:srgbClr val="232D3D"/>
            </a:solidFill>
            <a:prstDash val="solid"/>
          </a:ln>
        </p:spPr>
      </p:sp>
      <p:sp>
        <p:nvSpPr>
          <p:cNvPr id="5" name="Text 3"/>
          <p:cNvSpPr/>
          <p:nvPr/>
        </p:nvSpPr>
        <p:spPr>
          <a:xfrm>
            <a:off x="749808" y="1645920"/>
            <a:ext cx="4572000"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O(C²) child walks</a:t>
            </a:r>
            <a:endParaRPr lang="en-US" sz="1250" dirty="0"/>
          </a:p>
        </p:txBody>
      </p:sp>
      <p:sp>
        <p:nvSpPr>
          <p:cNvPr id="6" name="Text 4"/>
          <p:cNvSpPr/>
          <p:nvPr/>
        </p:nvSpPr>
        <p:spPr>
          <a:xfrm>
            <a:off x="749808" y="1920240"/>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An indexed ts_node_child( n, i ) loop re-walks the child list on every call, so wide, flat lists (comment runs, C/C++ include guards) go quadratic. #127 moved 24 walks to one cursor helper (18 arms red first at 11–125×); #130 moved 22 more (13–126×).</a:t>
            </a:r>
            <a:endParaRPr lang="en-US" sz="950" dirty="0"/>
          </a:p>
        </p:txBody>
      </p:sp>
      <p:sp>
        <p:nvSpPr>
          <p:cNvPr id="7" name="Text 5"/>
          <p:cNvSpPr/>
          <p:nvPr/>
        </p:nvSpPr>
        <p:spPr>
          <a:xfrm>
            <a:off x="5413248" y="1700784"/>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194.1 → 155.6 s</a:t>
            </a:r>
            <a:endParaRPr lang="en-US" sz="1600" dirty="0"/>
          </a:p>
        </p:txBody>
      </p:sp>
      <p:sp>
        <p:nvSpPr>
          <p:cNvPr id="8" name="Text 6"/>
          <p:cNvSpPr/>
          <p:nvPr/>
        </p:nvSpPr>
        <p:spPr>
          <a:xfrm>
            <a:off x="5413248" y="2157984"/>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cold parse CPU, n = 1</a:t>
            </a:r>
            <a:endParaRPr lang="en-US" sz="900" dirty="0"/>
          </a:p>
          <a:p>
            <a:pPr algn="r" indent="0" marL="0">
              <a:buNone/>
            </a:pPr>
            <a:r>
              <a:rPr lang="en-US" sz="900" dirty="0">
                <a:solidFill>
                  <a:srgbClr val="8B95A5"/>
                </a:solidFill>
                <a:latin typeface="Arial" pitchFamily="34" charset="0"/>
                <a:ea typeface="Arial" pitchFamily="34" charset="-122"/>
                <a:cs typeface="Arial" pitchFamily="34" charset="-120"/>
              </a:rPr>
              <a:t>−19.9% · wall −25%</a:t>
            </a:r>
            <a:endParaRPr lang="en-US" sz="900" dirty="0"/>
          </a:p>
        </p:txBody>
      </p:sp>
      <p:sp>
        <p:nvSpPr>
          <p:cNvPr id="9" name="Shape 7"/>
          <p:cNvSpPr/>
          <p:nvPr/>
        </p:nvSpPr>
        <p:spPr>
          <a:xfrm>
            <a:off x="566928" y="2734056"/>
            <a:ext cx="6903720" cy="1078992"/>
          </a:xfrm>
          <a:prstGeom prst="roundRect">
            <a:avLst>
              <a:gd name="adj" fmla="val 7627"/>
            </a:avLst>
          </a:prstGeom>
          <a:solidFill>
            <a:srgbClr val="161D28"/>
          </a:solidFill>
          <a:ln w="9525">
            <a:solidFill>
              <a:srgbClr val="232D3D"/>
            </a:solidFill>
            <a:prstDash val="solid"/>
          </a:ln>
        </p:spPr>
      </p:sp>
      <p:sp>
        <p:nvSpPr>
          <p:cNvPr id="10" name="Text 8"/>
          <p:cNvSpPr/>
          <p:nvPr/>
        </p:nvSpPr>
        <p:spPr>
          <a:xfrm>
            <a:off x="749808" y="2807208"/>
            <a:ext cx="4572000"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the inheritance cone</a:t>
            </a:r>
            <a:endParaRPr lang="en-US" sz="1250" dirty="0"/>
          </a:p>
        </p:txBody>
      </p:sp>
      <p:sp>
        <p:nvSpPr>
          <p:cNvPr id="11" name="Text 9"/>
          <p:cNvSpPr/>
          <p:nvPr/>
        </p:nvSpPr>
        <p:spPr>
          <a:xfrm>
            <a:off x="749808" y="3081528"/>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Rebuilt on every still-ambiguous receiver-typed call: 86,667 cones for 2,984 distinct types, 143 s of a 154 s run. Each type's cone is now built once, and default maps are byte-identical on go and llvm-project.</a:t>
            </a:r>
            <a:endParaRPr lang="en-US" sz="950" dirty="0"/>
          </a:p>
        </p:txBody>
      </p:sp>
      <p:sp>
        <p:nvSpPr>
          <p:cNvPr id="12" name="Text 10"/>
          <p:cNvSpPr/>
          <p:nvPr/>
        </p:nvSpPr>
        <p:spPr>
          <a:xfrm>
            <a:off x="5413248" y="2862072"/>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159.7 → 9.2 s</a:t>
            </a:r>
            <a:endParaRPr lang="en-US" sz="1600" dirty="0"/>
          </a:p>
        </p:txBody>
      </p:sp>
      <p:sp>
        <p:nvSpPr>
          <p:cNvPr id="13" name="Text 11"/>
          <p:cNvSpPr/>
          <p:nvPr/>
        </p:nvSpPr>
        <p:spPr>
          <a:xfrm>
            <a:off x="5413248" y="3319272"/>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warm --grep</a:t>
            </a:r>
            <a:endParaRPr lang="en-US" sz="900" dirty="0"/>
          </a:p>
          <a:p>
            <a:pPr algn="r" indent="0" marL="0">
              <a:buNone/>
            </a:pPr>
            <a:r>
              <a:rPr lang="en-US" sz="900" dirty="0">
                <a:solidFill>
                  <a:srgbClr val="8B95A5"/>
                </a:solidFill>
                <a:latin typeface="Arial" pitchFamily="34" charset="0"/>
                <a:ea typeface="Arial" pitchFamily="34" charset="-122"/>
                <a:cs typeface="Arial" pitchFamily="34" charset="-120"/>
              </a:rPr>
              <a:t>default map 248 s → 10 s</a:t>
            </a:r>
            <a:endParaRPr lang="en-US" sz="900" dirty="0"/>
          </a:p>
        </p:txBody>
      </p:sp>
      <p:sp>
        <p:nvSpPr>
          <p:cNvPr id="14" name="Shape 12"/>
          <p:cNvSpPr/>
          <p:nvPr/>
        </p:nvSpPr>
        <p:spPr>
          <a:xfrm>
            <a:off x="566928" y="3895344"/>
            <a:ext cx="6903720" cy="1078992"/>
          </a:xfrm>
          <a:prstGeom prst="roundRect">
            <a:avLst>
              <a:gd name="adj" fmla="val 7627"/>
            </a:avLst>
          </a:prstGeom>
          <a:solidFill>
            <a:srgbClr val="161D28"/>
          </a:solidFill>
          <a:ln w="9525">
            <a:solidFill>
              <a:srgbClr val="232D3D"/>
            </a:solidFill>
            <a:prstDash val="solid"/>
          </a:ln>
        </p:spPr>
      </p:sp>
      <p:sp>
        <p:nvSpPr>
          <p:cNvPr id="15" name="Text 13"/>
          <p:cNvSpPr/>
          <p:nvPr/>
        </p:nvSpPr>
        <p:spPr>
          <a:xfrm>
            <a:off x="749808" y="3968496"/>
            <a:ext cx="4572000" cy="274320"/>
          </a:xfrm>
          <a:prstGeom prst="rect">
            <a:avLst/>
          </a:prstGeom>
          <a:noFill/>
          <a:ln/>
        </p:spPr>
        <p:txBody>
          <a:bodyPr wrap="square" lIns="0" tIns="0" rIns="0" bIns="0" rtlCol="0" anchor="ctr"/>
          <a:lstStyle/>
          <a:p>
            <a:pPr indent="0" marL="0">
              <a:buNone/>
            </a:pPr>
            <a:r>
              <a:rPr lang="en-US" sz="1250" b="1" dirty="0">
                <a:solidFill>
                  <a:srgbClr val="F2B84B"/>
                </a:solidFill>
                <a:latin typeface="Courier New" pitchFamily="34" charset="0"/>
                <a:ea typeface="Courier New" pitchFamily="34" charset="-122"/>
                <a:cs typeface="Courier New" pitchFamily="34" charset="-120"/>
              </a:rPr>
              <a:t>the cache that evicted itself</a:t>
            </a:r>
            <a:endParaRPr lang="en-US" sz="1250" dirty="0"/>
          </a:p>
        </p:txBody>
      </p:sp>
      <p:sp>
        <p:nvSpPr>
          <p:cNvPr id="16" name="Text 14"/>
          <p:cNvSpPr/>
          <p:nvPr/>
        </p:nvSpPr>
        <p:spPr>
          <a:xfrm>
            <a:off x="749808" y="4242816"/>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One llvm root needs 1.76 GB of cache, and the 2 GB oldest-first sweep was evicting that root's own index. The sweep now pins the root you are working in, and two key builders that hashed one root with different seeds share one key.</a:t>
            </a:r>
            <a:endParaRPr lang="en-US" sz="950" dirty="0"/>
          </a:p>
        </p:txBody>
      </p:sp>
      <p:sp>
        <p:nvSpPr>
          <p:cNvPr id="17" name="Text 15"/>
          <p:cNvSpPr/>
          <p:nvPr/>
        </p:nvSpPr>
        <p:spPr>
          <a:xfrm>
            <a:off x="5413248" y="4023360"/>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274 → 26 s</a:t>
            </a:r>
            <a:endParaRPr lang="en-US" sz="1600" dirty="0"/>
          </a:p>
        </p:txBody>
      </p:sp>
      <p:sp>
        <p:nvSpPr>
          <p:cNvPr id="18" name="Text 16"/>
          <p:cNvSpPr/>
          <p:nvPr/>
        </p:nvSpPr>
        <p:spPr>
          <a:xfrm>
            <a:off x="5413248" y="4480560"/>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a repeated --for, CPU</a:t>
            </a:r>
            <a:endParaRPr lang="en-US" sz="900" dirty="0"/>
          </a:p>
        </p:txBody>
      </p:sp>
      <p:sp>
        <p:nvSpPr>
          <p:cNvPr id="19" name="Text 17"/>
          <p:cNvSpPr/>
          <p:nvPr/>
        </p:nvSpPr>
        <p:spPr>
          <a:xfrm>
            <a:off x="566928" y="5084064"/>
            <a:ext cx="6903720" cy="237744"/>
          </a:xfrm>
          <a:prstGeom prst="rect">
            <a:avLst/>
          </a:prstGeom>
          <a:noFill/>
          <a:ln/>
        </p:spPr>
        <p:txBody>
          <a:bodyPr wrap="square" lIns="0" tIns="0" rIns="0" bIns="0" rtlCol="0" anchor="ctr"/>
          <a:lstStyle/>
          <a:p>
            <a:pPr indent="0" marL="0">
              <a:buNone/>
            </a:pPr>
            <a:r>
              <a:rPr lang="en-US" sz="950" dirty="0">
                <a:solidFill>
                  <a:srgbClr val="8B95A5"/>
                </a:solidFill>
                <a:latin typeface="Courier New" pitchFamily="34" charset="0"/>
                <a:ea typeface="Courier New" pitchFamily="34" charset="-122"/>
                <a:cs typeface="Courier New" pitchFamily="34" charset="-120"/>
              </a:rPr>
              <a:t>the same round's cold parse, CPU Δ by corpus (median of 5; llvm-project n = 1)</a:t>
            </a:r>
            <a:endParaRPr lang="en-US" sz="950" dirty="0"/>
          </a:p>
        </p:txBody>
      </p:sp>
      <p:sp>
        <p:nvSpPr>
          <p:cNvPr id="20" name="Text 18"/>
          <p:cNvSpPr/>
          <p:nvPr/>
        </p:nvSpPr>
        <p:spPr>
          <a:xfrm>
            <a:off x="566928" y="5358384"/>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ripwire</a:t>
            </a:r>
            <a:endParaRPr lang="en-US" sz="1000" dirty="0"/>
          </a:p>
        </p:txBody>
      </p:sp>
      <p:sp>
        <p:nvSpPr>
          <p:cNvPr id="21" name="Shape 19"/>
          <p:cNvSpPr/>
          <p:nvPr/>
        </p:nvSpPr>
        <p:spPr>
          <a:xfrm>
            <a:off x="1984248" y="5394960"/>
            <a:ext cx="472823" cy="146304"/>
          </a:xfrm>
          <a:prstGeom prst="rect">
            <a:avLst/>
          </a:prstGeom>
          <a:solidFill>
            <a:srgbClr val="3A4353"/>
          </a:solidFill>
          <a:ln w="12700">
            <a:solidFill>
              <a:srgbClr val="3A4353"/>
            </a:solidFill>
            <a:prstDash val="solid"/>
          </a:ln>
        </p:spPr>
      </p:sp>
      <p:sp>
        <p:nvSpPr>
          <p:cNvPr id="22" name="Text 20"/>
          <p:cNvSpPr/>
          <p:nvPr/>
        </p:nvSpPr>
        <p:spPr>
          <a:xfrm>
            <a:off x="2530223" y="5358384"/>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−2.1%</a:t>
            </a:r>
            <a:endParaRPr lang="en-US" sz="1000" dirty="0"/>
          </a:p>
        </p:txBody>
      </p:sp>
      <p:sp>
        <p:nvSpPr>
          <p:cNvPr id="23" name="Text 21"/>
          <p:cNvSpPr/>
          <p:nvPr/>
        </p:nvSpPr>
        <p:spPr>
          <a:xfrm>
            <a:off x="566928" y="5596128"/>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go</a:t>
            </a:r>
            <a:endParaRPr lang="en-US" sz="1000" dirty="0"/>
          </a:p>
        </p:txBody>
      </p:sp>
      <p:sp>
        <p:nvSpPr>
          <p:cNvPr id="24" name="Shape 22"/>
          <p:cNvSpPr/>
          <p:nvPr/>
        </p:nvSpPr>
        <p:spPr>
          <a:xfrm>
            <a:off x="1984248" y="5632704"/>
            <a:ext cx="382761" cy="146304"/>
          </a:xfrm>
          <a:prstGeom prst="rect">
            <a:avLst/>
          </a:prstGeom>
          <a:solidFill>
            <a:srgbClr val="3A4353"/>
          </a:solidFill>
          <a:ln w="12700">
            <a:solidFill>
              <a:srgbClr val="3A4353"/>
            </a:solidFill>
            <a:prstDash val="solid"/>
          </a:ln>
        </p:spPr>
      </p:sp>
      <p:sp>
        <p:nvSpPr>
          <p:cNvPr id="25" name="Text 23"/>
          <p:cNvSpPr/>
          <p:nvPr/>
        </p:nvSpPr>
        <p:spPr>
          <a:xfrm>
            <a:off x="2440161" y="5596128"/>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−1.7%</a:t>
            </a:r>
            <a:endParaRPr lang="en-US" sz="1000" dirty="0"/>
          </a:p>
        </p:txBody>
      </p:sp>
      <p:sp>
        <p:nvSpPr>
          <p:cNvPr id="26" name="Text 24"/>
          <p:cNvSpPr/>
          <p:nvPr/>
        </p:nvSpPr>
        <p:spPr>
          <a:xfrm>
            <a:off x="566928" y="5833872"/>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rocksdb</a:t>
            </a:r>
            <a:endParaRPr lang="en-US" sz="1000" dirty="0"/>
          </a:p>
        </p:txBody>
      </p:sp>
      <p:sp>
        <p:nvSpPr>
          <p:cNvPr id="27" name="Shape 25"/>
          <p:cNvSpPr/>
          <p:nvPr/>
        </p:nvSpPr>
        <p:spPr>
          <a:xfrm>
            <a:off x="1984248" y="5870448"/>
            <a:ext cx="1508530" cy="146304"/>
          </a:xfrm>
          <a:prstGeom prst="rect">
            <a:avLst/>
          </a:prstGeom>
          <a:solidFill>
            <a:srgbClr val="3A4353"/>
          </a:solidFill>
          <a:ln w="12700">
            <a:solidFill>
              <a:srgbClr val="3A4353"/>
            </a:solidFill>
            <a:prstDash val="solid"/>
          </a:ln>
        </p:spPr>
      </p:sp>
      <p:sp>
        <p:nvSpPr>
          <p:cNvPr id="28" name="Text 26"/>
          <p:cNvSpPr/>
          <p:nvPr/>
        </p:nvSpPr>
        <p:spPr>
          <a:xfrm>
            <a:off x="3565930" y="5833872"/>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−6.7%</a:t>
            </a:r>
            <a:endParaRPr lang="en-US" sz="1000" dirty="0"/>
          </a:p>
        </p:txBody>
      </p:sp>
      <p:sp>
        <p:nvSpPr>
          <p:cNvPr id="29" name="Text 27"/>
          <p:cNvSpPr/>
          <p:nvPr/>
        </p:nvSpPr>
        <p:spPr>
          <a:xfrm>
            <a:off x="566928" y="6071616"/>
            <a:ext cx="1325880" cy="219456"/>
          </a:xfrm>
          <a:prstGeom prst="rect">
            <a:avLst/>
          </a:prstGeom>
          <a:noFill/>
          <a:ln/>
        </p:spPr>
        <p:txBody>
          <a:bodyPr wrap="square" lIns="0" tIns="0" rIns="0" bIns="0" rtlCol="0" anchor="ctr"/>
          <a:lstStyle/>
          <a:p>
            <a:pPr algn="r" indent="0" marL="0">
              <a:buNone/>
            </a:pPr>
            <a:r>
              <a:rPr lang="en-US" sz="1000" dirty="0">
                <a:solidFill>
                  <a:srgbClr val="E6EDF3"/>
                </a:solidFill>
                <a:latin typeface="Courier New" pitchFamily="34" charset="0"/>
                <a:ea typeface="Courier New" pitchFamily="34" charset="-122"/>
                <a:cs typeface="Courier New" pitchFamily="34" charset="-120"/>
              </a:rPr>
              <a:t>llvm-project</a:t>
            </a:r>
            <a:endParaRPr lang="en-US" sz="1000" dirty="0"/>
          </a:p>
        </p:txBody>
      </p:sp>
      <p:sp>
        <p:nvSpPr>
          <p:cNvPr id="30" name="Shape 28"/>
          <p:cNvSpPr/>
          <p:nvPr/>
        </p:nvSpPr>
        <p:spPr>
          <a:xfrm>
            <a:off x="1984248" y="6108192"/>
            <a:ext cx="4480560" cy="146304"/>
          </a:xfrm>
          <a:prstGeom prst="rect">
            <a:avLst/>
          </a:prstGeom>
          <a:solidFill>
            <a:srgbClr val="4AC26B"/>
          </a:solidFill>
          <a:ln w="12700">
            <a:solidFill>
              <a:srgbClr val="4AC26B"/>
            </a:solidFill>
            <a:prstDash val="solid"/>
          </a:ln>
        </p:spPr>
      </p:sp>
      <p:sp>
        <p:nvSpPr>
          <p:cNvPr id="31" name="Text 29"/>
          <p:cNvSpPr/>
          <p:nvPr/>
        </p:nvSpPr>
        <p:spPr>
          <a:xfrm>
            <a:off x="6537960" y="6071616"/>
            <a:ext cx="822960" cy="219456"/>
          </a:xfrm>
          <a:prstGeom prst="rect">
            <a:avLst/>
          </a:prstGeom>
          <a:noFill/>
          <a:ln/>
        </p:spPr>
        <p:txBody>
          <a:bodyPr wrap="square" lIns="0" tIns="0" rIns="0" bIns="0" rtlCol="0" anchor="ctr"/>
          <a:lstStyle/>
          <a:p>
            <a:pPr indent="0" marL="0">
              <a:buNone/>
            </a:pPr>
            <a:r>
              <a:rPr lang="en-US" sz="1000" b="1" dirty="0">
                <a:solidFill>
                  <a:srgbClr val="4AC26B"/>
                </a:solidFill>
                <a:latin typeface="Courier New" pitchFamily="34" charset="0"/>
                <a:ea typeface="Courier New" pitchFamily="34" charset="-122"/>
                <a:cs typeface="Courier New" pitchFamily="34" charset="-120"/>
              </a:rPr>
              <a:t>−19.9%</a:t>
            </a:r>
            <a:endParaRPr lang="en-US" sz="1000" dirty="0"/>
          </a:p>
        </p:txBody>
      </p:sp>
      <p:sp>
        <p:nvSpPr>
          <p:cNvPr id="32" name="Shape 30"/>
          <p:cNvSpPr/>
          <p:nvPr/>
        </p:nvSpPr>
        <p:spPr>
          <a:xfrm>
            <a:off x="7635240" y="1572768"/>
            <a:ext cx="3986784" cy="4736592"/>
          </a:xfrm>
          <a:prstGeom prst="roundRect">
            <a:avLst>
              <a:gd name="adj" fmla="val 2064"/>
            </a:avLst>
          </a:prstGeom>
          <a:solidFill>
            <a:srgbClr val="1B2432"/>
          </a:solidFill>
          <a:ln w="9525">
            <a:solidFill>
              <a:srgbClr val="232D3D"/>
            </a:solidFill>
            <a:prstDash val="solid"/>
          </a:ln>
        </p:spPr>
      </p:sp>
      <p:sp>
        <p:nvSpPr>
          <p:cNvPr id="33" name="Text 31"/>
          <p:cNvSpPr/>
          <p:nvPr/>
        </p:nvSpPr>
        <p:spPr>
          <a:xfrm>
            <a:off x="7836408" y="1682496"/>
            <a:ext cx="3584448"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Why llvm-project</a:t>
            </a:r>
            <a:endParaRPr lang="en-US" sz="1400" dirty="0"/>
          </a:p>
        </p:txBody>
      </p:sp>
      <p:sp>
        <p:nvSpPr>
          <p:cNvPr id="34" name="Text 32"/>
          <p:cNvSpPr/>
          <p:nvPr/>
        </p:nvSpPr>
        <p:spPr>
          <a:xfrm>
            <a:off x="7836408" y="1975104"/>
            <a:ext cx="3584448" cy="274320"/>
          </a:xfrm>
          <a:prstGeom prst="rect">
            <a:avLst/>
          </a:prstGeom>
          <a:noFill/>
          <a:ln/>
        </p:spPr>
        <p:txBody>
          <a:bodyPr wrap="square" lIns="0" tIns="0" rIns="0" bIns="0" rtlCol="0" anchor="ctr"/>
          <a:lstStyle/>
          <a:p>
            <a:pPr indent="0" marL="0">
              <a:buNone/>
            </a:pPr>
            <a:r>
              <a:rPr lang="en-US" sz="1000" i="1" dirty="0">
                <a:solidFill>
                  <a:srgbClr val="8B95A5"/>
                </a:solidFill>
                <a:latin typeface="Arial" pitchFamily="34" charset="0"/>
                <a:ea typeface="Arial" pitchFamily="34" charset="-122"/>
                <a:cs typeface="Arial" pitchFamily="34" charset="-120"/>
              </a:rPr>
              <a:t>A scale test that is also the real thing. Built on or with LLVM:</a:t>
            </a:r>
            <a:endParaRPr lang="en-US" sz="1000" dirty="0"/>
          </a:p>
        </p:txBody>
      </p:sp>
      <p:sp>
        <p:nvSpPr>
          <p:cNvPr id="35" name="Text 33"/>
          <p:cNvSpPr/>
          <p:nvPr/>
        </p:nvSpPr>
        <p:spPr>
          <a:xfrm>
            <a:off x="7836408" y="228600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Clang (C, C++, Objective-C)
</a:t>
            </a:r>
            <a:pPr indent="0" marL="0">
              <a:buNone/>
            </a:pPr>
            <a:r>
              <a:rPr lang="en-US" sz="950" dirty="0">
                <a:solidFill>
                  <a:srgbClr val="8B95A5"/>
                </a:solidFill>
                <a:latin typeface="Arial" pitchFamily="34" charset="0"/>
                <a:ea typeface="Arial" pitchFamily="34" charset="-122"/>
                <a:cs typeface="Arial" pitchFamily="34" charset="-120"/>
              </a:rPr>
              <a:t>Chromium's only supported compiler; the Android NDK's; Apple Clang in Xcode; the PS4 toolchain</a:t>
            </a:r>
            <a:endParaRPr lang="en-US" sz="1050" dirty="0"/>
          </a:p>
        </p:txBody>
      </p:sp>
      <p:sp>
        <p:nvSpPr>
          <p:cNvPr id="36" name="Text 34"/>
          <p:cNvSpPr/>
          <p:nvPr/>
        </p:nvSpPr>
        <p:spPr>
          <a:xfrm>
            <a:off x="7836408" y="281178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Swift · Rust · Julia · Zig · Kotlin/Native
</a:t>
            </a:r>
            <a:pPr indent="0" marL="0">
              <a:buNone/>
            </a:pPr>
            <a:r>
              <a:rPr lang="en-US" sz="950" dirty="0">
                <a:solidFill>
                  <a:srgbClr val="8B95A5"/>
                </a:solidFill>
                <a:latin typeface="Arial" pitchFamily="34" charset="0"/>
                <a:ea typeface="Arial" pitchFamily="34" charset="-122"/>
                <a:cs typeface="Arial" pitchFamily="34" charset="-120"/>
              </a:rPr>
              <a:t>each has an LLVM backend for its code generation</a:t>
            </a:r>
            <a:endParaRPr lang="en-US" sz="1050" dirty="0"/>
          </a:p>
        </p:txBody>
      </p:sp>
      <p:sp>
        <p:nvSpPr>
          <p:cNvPr id="37" name="Text 35"/>
          <p:cNvSpPr/>
          <p:nvPr/>
        </p:nvSpPr>
        <p:spPr>
          <a:xfrm>
            <a:off x="7836408" y="333756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CUDA
</a:t>
            </a:r>
            <a:pPr indent="0" marL="0">
              <a:buNone/>
            </a:pPr>
            <a:r>
              <a:rPr lang="en-US" sz="950" dirty="0">
                <a:solidFill>
                  <a:srgbClr val="8B95A5"/>
                </a:solidFill>
                <a:latin typeface="Arial" pitchFamily="34" charset="0"/>
                <a:ea typeface="Arial" pitchFamily="34" charset="-122"/>
                <a:cs typeface="Arial" pitchFamily="34" charset="-120"/>
              </a:rPr>
              <a:t>NVIDIA's NVVM compiler is based on LLVM, and Clang compiles CUDA too</a:t>
            </a:r>
            <a:endParaRPr lang="en-US" sz="1050" dirty="0"/>
          </a:p>
        </p:txBody>
      </p:sp>
      <p:sp>
        <p:nvSpPr>
          <p:cNvPr id="38" name="Text 36"/>
          <p:cNvSpPr/>
          <p:nvPr/>
        </p:nvSpPr>
        <p:spPr>
          <a:xfrm>
            <a:off x="7836408" y="386334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Metal
</a:t>
            </a:r>
            <a:pPr indent="0" marL="0">
              <a:buNone/>
            </a:pPr>
            <a:r>
              <a:rPr lang="en-US" sz="950" dirty="0">
                <a:solidFill>
                  <a:srgbClr val="8B95A5"/>
                </a:solidFill>
                <a:latin typeface="Arial" pitchFamily="34" charset="0"/>
                <a:ea typeface="Arial" pitchFamily="34" charset="-122"/>
                <a:cs typeface="Arial" pitchFamily="34" charset="-120"/>
              </a:rPr>
              <a:t>Apple's shading language: “Metal uses clang and LLVM”</a:t>
            </a:r>
            <a:endParaRPr lang="en-US" sz="1050" dirty="0"/>
          </a:p>
        </p:txBody>
      </p:sp>
      <p:sp>
        <p:nvSpPr>
          <p:cNvPr id="39" name="Text 37"/>
          <p:cNvSpPr/>
          <p:nvPr/>
        </p:nvSpPr>
        <p:spPr>
          <a:xfrm>
            <a:off x="7836408" y="438912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MLIR
</a:t>
            </a:r>
            <a:pPr indent="0" marL="0">
              <a:buNone/>
            </a:pPr>
            <a:r>
              <a:rPr lang="en-US" sz="950" dirty="0">
                <a:solidFill>
                  <a:srgbClr val="8B95A5"/>
                </a:solidFill>
                <a:latin typeface="Arial" pitchFamily="34" charset="0"/>
                <a:ea typeface="Arial" pitchFamily="34" charset="-122"/>
                <a:cs typeface="Arial" pitchFamily="34" charset="-120"/>
              </a:rPr>
              <a:t>part of LLVM; used by TensorFlow, OpenAI Triton and Mojo</a:t>
            </a:r>
            <a:endParaRPr lang="en-US" sz="1050" dirty="0"/>
          </a:p>
        </p:txBody>
      </p:sp>
      <p:sp>
        <p:nvSpPr>
          <p:cNvPr id="40" name="Text 38"/>
          <p:cNvSpPr/>
          <p:nvPr/>
        </p:nvSpPr>
        <p:spPr>
          <a:xfrm>
            <a:off x="7836408" y="491490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WebAssembly
</a:t>
            </a:r>
            <a:pPr indent="0" marL="0">
              <a:buNone/>
            </a:pPr>
            <a:r>
              <a:rPr lang="en-US" sz="950" dirty="0">
                <a:solidFill>
                  <a:srgbClr val="8B95A5"/>
                </a:solidFill>
                <a:latin typeface="Arial" pitchFamily="34" charset="0"/>
                <a:ea typeface="Arial" pitchFamily="34" charset="-122"/>
                <a:cs typeface="Arial" pitchFamily="34" charset="-120"/>
              </a:rPr>
              <a:t>Emscripten, a compiler toolchain to WebAssembly using LLVM</a:t>
            </a:r>
            <a:endParaRPr lang="en-US" sz="1050" dirty="0"/>
          </a:p>
        </p:txBody>
      </p:sp>
      <p:sp>
        <p:nvSpPr>
          <p:cNvPr id="41" name="Text 39"/>
          <p:cNvSpPr/>
          <p:nvPr/>
        </p:nvSpPr>
        <p:spPr>
          <a:xfrm>
            <a:off x="7836408" y="544068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ROCm · oneAPI
</a:t>
            </a:r>
            <a:pPr indent="0" marL="0">
              <a:buNone/>
            </a:pPr>
            <a:r>
              <a:rPr lang="en-US" sz="950" dirty="0">
                <a:solidFill>
                  <a:srgbClr val="8B95A5"/>
                </a:solidFill>
                <a:latin typeface="Arial" pitchFamily="34" charset="0"/>
                <a:ea typeface="Arial" pitchFamily="34" charset="-122"/>
                <a:cs typeface="Arial" pitchFamily="34" charset="-120"/>
              </a:rPr>
              <a:t>AMD ROCm's compilers fork llvm-project; Intel's oneAPI DPC++/C++ uses LLVM</a:t>
            </a:r>
            <a:endParaRPr lang="en-US" sz="1050" dirty="0"/>
          </a:p>
        </p:txBody>
      </p:sp>
      <p:sp>
        <p:nvSpPr>
          <p:cNvPr id="42" name="Text 40"/>
          <p:cNvSpPr/>
          <p:nvPr/>
        </p:nvSpPr>
        <p:spPr>
          <a:xfrm>
            <a:off x="7836408" y="5998464"/>
            <a:ext cx="3584448" cy="256032"/>
          </a:xfrm>
          <a:prstGeom prst="rect">
            <a:avLst/>
          </a:prstGeom>
          <a:noFill/>
          <a:ln/>
        </p:spPr>
        <p:txBody>
          <a:bodyPr wrap="square" lIns="0" tIns="0" rIns="0" bIns="0" rtlCol="0" anchor="ctr"/>
          <a:lstStyle/>
          <a:p>
            <a:pPr indent="0" marL="0">
              <a:buNone/>
            </a:pPr>
            <a:r>
              <a:rPr lang="en-US" sz="850" dirty="0">
                <a:solidFill>
                  <a:srgbClr val="8B95A5"/>
                </a:solidFill>
                <a:latin typeface="Arial" pitchFamily="34" charset="0"/>
                <a:ea typeface="Arial" pitchFamily="34" charset="-122"/>
                <a:cs typeface="Arial" pitchFamily="34" charset="-120"/>
              </a:rPr>
              <a:t>LLVM received the 2012 ACM Software System Award · each item's source is in the notes</a:t>
            </a:r>
            <a:endParaRPr lang="en-US" sz="850" dirty="0"/>
          </a:p>
        </p:txBody>
      </p:sp>
      <p:sp>
        <p:nvSpPr>
          <p:cNvPr id="43" name="Text 41"/>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all three measured on llvm-project; no standard corpus could see the first · sources: #127, #130, #83 — quotes in the notes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wire, in practice — three stories from 0.6.0, all merged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Confidently wrong, caught, and fixed in the open</a:t>
            </a:r>
            <a:endParaRPr lang="en-US" sz="3200" dirty="0"/>
          </a:p>
        </p:txBody>
      </p:sp>
      <p:sp>
        <p:nvSpPr>
          <p:cNvPr id="4" name="Shape 2"/>
          <p:cNvSpPr/>
          <p:nvPr/>
        </p:nvSpPr>
        <p:spPr>
          <a:xfrm>
            <a:off x="566928" y="1572768"/>
            <a:ext cx="3599688" cy="4700016"/>
          </a:xfrm>
          <a:prstGeom prst="roundRect">
            <a:avLst>
              <a:gd name="adj" fmla="val 2286"/>
            </a:avLst>
          </a:prstGeom>
          <a:solidFill>
            <a:srgbClr val="161D28"/>
          </a:solidFill>
          <a:ln w="9525">
            <a:solidFill>
              <a:srgbClr val="232D3D"/>
            </a:solidFill>
            <a:prstDash val="solid"/>
          </a:ln>
        </p:spPr>
      </p:sp>
      <p:sp>
        <p:nvSpPr>
          <p:cNvPr id="5" name="Text 3"/>
          <p:cNvSpPr/>
          <p:nvPr/>
        </p:nvSpPr>
        <p:spPr>
          <a:xfrm>
            <a:off x="749808"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#134 · the resolver</a:t>
            </a:r>
            <a:endParaRPr lang="en-US" sz="1000" dirty="0"/>
          </a:p>
        </p:txBody>
      </p:sp>
      <p:sp>
        <p:nvSpPr>
          <p:cNvPr id="6" name="Text 4"/>
          <p:cNvSpPr/>
          <p:nvPr/>
        </p:nvSpPr>
        <p:spPr>
          <a:xfrm>
            <a:off x="749808"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std::move had 2,107 callers</a:t>
            </a:r>
            <a:endParaRPr lang="en-US" sz="1600" dirty="0"/>
          </a:p>
        </p:txBody>
      </p:sp>
      <p:sp>
        <p:nvSpPr>
          <p:cNvPr id="7" name="Text 5"/>
          <p:cNvSpPr/>
          <p:nvPr/>
        </p:nvSpPr>
        <p:spPr>
          <a:xfrm>
            <a:off x="749808"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On memgraph, calls written std::move bound to the repository's lone in-repo move, SafeString::move, at full confidence and with no amb= or prov= marker. It became map row #1. In ripwire's own graph, std::min, std::max and std::sort bound fastmath and svector members.</a:t>
            </a:r>
            <a:endParaRPr lang="en-US" sz="1000" dirty="0"/>
          </a:p>
        </p:txBody>
      </p:sp>
      <p:sp>
        <p:nvSpPr>
          <p:cNvPr id="8" name="Text 6"/>
          <p:cNvSpPr/>
          <p:nvPr/>
        </p:nvSpPr>
        <p:spPr>
          <a:xfrm>
            <a:off x="749808"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2,107 → 3</a:t>
            </a:r>
            <a:endParaRPr lang="en-US" sz="2000" dirty="0"/>
          </a:p>
        </p:txBody>
      </p:sp>
      <p:sp>
        <p:nvSpPr>
          <p:cNvPr id="9" name="Text 7"/>
          <p:cNvSpPr/>
          <p:nvPr/>
        </p:nvSpPr>
        <p:spPr>
          <a:xfrm>
            <a:off x="749808"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callers of SafeString::move after the fix: two of its unit tests and one std::ranges::move, a disclosed gap</a:t>
            </a:r>
            <a:endParaRPr lang="en-US" sz="900" dirty="0"/>
          </a:p>
        </p:txBody>
      </p:sp>
      <p:sp>
        <p:nvSpPr>
          <p:cNvPr id="10" name="Text 8"/>
          <p:cNvSpPr/>
          <p:nvPr/>
        </p:nvSpPr>
        <p:spPr>
          <a:xfrm>
            <a:off x="749808"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11" name="Text 9"/>
          <p:cNvSpPr/>
          <p:nvPr/>
        </p:nvSpPr>
        <p:spPr>
          <a:xfrm>
            <a:off x="749808"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A std::-qualified call keeps only candidates inside namespace std; anything else counts toward external= and gets no edge. On ripwire's own tree, --callers=min went from 131 to 5.</a:t>
            </a:r>
            <a:endParaRPr lang="en-US" sz="1000" dirty="0"/>
          </a:p>
        </p:txBody>
      </p:sp>
      <p:sp>
        <p:nvSpPr>
          <p:cNvPr id="12" name="Text 10"/>
          <p:cNvSpPr/>
          <p:nvPr/>
        </p:nvSpPr>
        <p:spPr>
          <a:xfrm>
            <a:off x="749808"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test/stdqualcheck.sh · 35 checks, 19 red before</a:t>
            </a:r>
            <a:endParaRPr lang="en-US" sz="850" dirty="0"/>
          </a:p>
        </p:txBody>
      </p:sp>
      <p:sp>
        <p:nvSpPr>
          <p:cNvPr id="13" name="Shape 11"/>
          <p:cNvSpPr/>
          <p:nvPr/>
        </p:nvSpPr>
        <p:spPr>
          <a:xfrm>
            <a:off x="4294632" y="1572768"/>
            <a:ext cx="3599688" cy="4700016"/>
          </a:xfrm>
          <a:prstGeom prst="roundRect">
            <a:avLst>
              <a:gd name="adj" fmla="val 2286"/>
            </a:avLst>
          </a:prstGeom>
          <a:solidFill>
            <a:srgbClr val="161D28"/>
          </a:solidFill>
          <a:ln w="9525">
            <a:solidFill>
              <a:srgbClr val="232D3D"/>
            </a:solidFill>
            <a:prstDash val="solid"/>
          </a:ln>
        </p:spPr>
      </p:sp>
      <p:sp>
        <p:nvSpPr>
          <p:cNvPr id="14" name="Text 12"/>
          <p:cNvSpPr/>
          <p:nvPr/>
        </p:nvSpPr>
        <p:spPr>
          <a:xfrm>
            <a:off x="4477512"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#127 · the string kernels' gate</a:t>
            </a:r>
            <a:endParaRPr lang="en-US" sz="1000" dirty="0"/>
          </a:p>
        </p:txBody>
      </p:sp>
      <p:sp>
        <p:nvSpPr>
          <p:cNvPr id="15" name="Text 13"/>
          <p:cNvSpPr/>
          <p:nvPr/>
        </p:nvSpPr>
        <p:spPr>
          <a:xfrm>
            <a:off x="4477512"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The probe that lied</a:t>
            </a:r>
            <a:endParaRPr lang="en-US" sz="1600" dirty="0"/>
          </a:p>
        </p:txBody>
      </p:sp>
      <p:sp>
        <p:nvSpPr>
          <p:cNvPr id="16" name="Text 14"/>
          <p:cNvSpPr/>
          <p:nvPr/>
        </p:nvSpPr>
        <p:spPr>
          <a:xfrm>
            <a:off x="4477512"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strkerncheck asked Rosetta 2 whether it could run the x86-64-v3 kernels, using a one-add AVX2 probe. Clang folded that probe to a scalar addb, with zero ymm or VEX opcodes, so it answered ok on every runtime while the v3 slice SIGILLed on the macos-14 runner. The first fix's commit gave the wrong reason; the next one corrected it.</a:t>
            </a:r>
            <a:endParaRPr lang="en-US" sz="1000" dirty="0"/>
          </a:p>
        </p:txBody>
      </p:sp>
      <p:sp>
        <p:nvSpPr>
          <p:cNvPr id="17" name="Text 15"/>
          <p:cNvSpPr/>
          <p:nvPr/>
        </p:nvSpPr>
        <p:spPr>
          <a:xfrm>
            <a:off x="4477512" y="3877056"/>
            <a:ext cx="3233928" cy="420624"/>
          </a:xfrm>
          <a:prstGeom prst="rect">
            <a:avLst/>
          </a:prstGeom>
          <a:noFill/>
          <a:ln/>
        </p:spPr>
        <p:txBody>
          <a:bodyPr wrap="square" lIns="0" tIns="0" rIns="0" bIns="0" rtlCol="0" anchor="ctr"/>
          <a:lstStyle/>
          <a:p>
            <a:pPr indent="0" marL="0">
              <a:buNone/>
            </a:pPr>
            <a:r>
              <a:rPr lang="en-US" sz="2000" b="1" dirty="0">
                <a:solidFill>
                  <a:srgbClr val="F2B84B"/>
                </a:solidFill>
                <a:latin typeface="Courier New" pitchFamily="34" charset="0"/>
                <a:ea typeface="Courier New" pitchFamily="34" charset="-122"/>
                <a:cs typeface="Courier New" pitchFamily="34" charset="-120"/>
              </a:rPr>
              <a:t>0 ymm opcodes</a:t>
            </a:r>
            <a:endParaRPr lang="en-US" sz="2000" dirty="0"/>
          </a:p>
        </p:txBody>
      </p:sp>
      <p:sp>
        <p:nvSpPr>
          <p:cNvPr id="18" name="Text 16"/>
          <p:cNvSpPr/>
          <p:nvPr/>
        </p:nvSpPr>
        <p:spPr>
          <a:xfrm>
            <a:off x="4477512"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in the probe binary that had answered “ok” (otool)</a:t>
            </a:r>
            <a:endParaRPr lang="en-US" sz="900" dirty="0"/>
          </a:p>
        </p:txBody>
      </p:sp>
      <p:sp>
        <p:nvSpPr>
          <p:cNvPr id="19" name="Text 17"/>
          <p:cNvSpPr/>
          <p:nvPr/>
        </p:nvSpPr>
        <p:spPr>
          <a:xfrm>
            <a:off x="4477512"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0" name="Text 18"/>
          <p:cNvSpPr/>
          <p:nvPr/>
        </p:nvSpPr>
        <p:spPr>
          <a:xfrm>
            <a:off x="4477512"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The probe is now built with the floor's own -march and touches every v3 extension. The gate disassembles it and requires ymm, pdep, pext, lzcnt, tzcnt, vfmadd and vcvtph2ps; a folded probe routes to the scalar slice instead of passing.</a:t>
            </a:r>
            <a:endParaRPr lang="en-US" sz="1000" dirty="0"/>
          </a:p>
        </p:txBody>
      </p:sp>
      <p:sp>
        <p:nvSpPr>
          <p:cNvPr id="21" name="Text 19"/>
          <p:cNvSpPr/>
          <p:nvPr/>
        </p:nvSpPr>
        <p:spPr>
          <a:xfrm>
            <a:off x="4477512"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test/strkerncheck.sh · b4ebf0bb, 150fb6d3</a:t>
            </a:r>
            <a:endParaRPr lang="en-US" sz="850" dirty="0"/>
          </a:p>
        </p:txBody>
      </p:sp>
      <p:sp>
        <p:nvSpPr>
          <p:cNvPr id="22" name="Shape 20"/>
          <p:cNvSpPr/>
          <p:nvPr/>
        </p:nvSpPr>
        <p:spPr>
          <a:xfrm>
            <a:off x="8022336" y="1572768"/>
            <a:ext cx="3599688" cy="4700016"/>
          </a:xfrm>
          <a:prstGeom prst="roundRect">
            <a:avLst>
              <a:gd name="adj" fmla="val 2286"/>
            </a:avLst>
          </a:prstGeom>
          <a:solidFill>
            <a:srgbClr val="161D28"/>
          </a:solidFill>
          <a:ln w="9525">
            <a:solidFill>
              <a:srgbClr val="232D3D"/>
            </a:solidFill>
            <a:prstDash val="solid"/>
          </a:ln>
        </p:spPr>
      </p:sp>
      <p:sp>
        <p:nvSpPr>
          <p:cNvPr id="23" name="Text 21"/>
          <p:cNvSpPr/>
          <p:nvPr/>
        </p:nvSpPr>
        <p:spPr>
          <a:xfrm>
            <a:off x="8205216"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#127 · the audit's own tools</a:t>
            </a:r>
            <a:endParaRPr lang="en-US" sz="1000" dirty="0"/>
          </a:p>
        </p:txBody>
      </p:sp>
      <p:sp>
        <p:nvSpPr>
          <p:cNvPr id="24" name="Text 22"/>
          <p:cNvSpPr/>
          <p:nvPr/>
        </p:nvSpPr>
        <p:spPr>
          <a:xfrm>
            <a:off x="8205216"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The audit's instrument was wrong twice</a:t>
            </a:r>
            <a:endParaRPr lang="en-US" sz="1600" dirty="0"/>
          </a:p>
        </p:txBody>
      </p:sp>
      <p:sp>
        <p:nvSpPr>
          <p:cNvPr id="25" name="Text 23"/>
          <p:cNvSpPr/>
          <p:nvPr/>
        </p:nvSpPr>
        <p:spPr>
          <a:xfrm>
            <a:off x="8205216"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A 14× super-linear reading turned out to be the cache evicting its own working root. And the recorded cap sweep had measured retrieval caps on a population of zero: it discarded exit codes, counted rows that emit nothing, and read back its own 10.4 MB cache blob, which “responded” to 103 of 108 caps.</a:t>
            </a:r>
            <a:endParaRPr lang="en-US" sz="1000" dirty="0"/>
          </a:p>
        </p:txBody>
      </p:sp>
      <p:sp>
        <p:nvSpPr>
          <p:cNvPr id="26" name="Text 24"/>
          <p:cNvSpPr/>
          <p:nvPr/>
        </p:nvSpPr>
        <p:spPr>
          <a:xfrm>
            <a:off x="8205216" y="3877056"/>
            <a:ext cx="3233928" cy="420624"/>
          </a:xfrm>
          <a:prstGeom prst="rect">
            <a:avLst/>
          </a:prstGeom>
          <a:noFill/>
          <a:ln/>
        </p:spPr>
        <p:txBody>
          <a:bodyPr wrap="square" lIns="0" tIns="0" rIns="0" bIns="0" rtlCol="0" anchor="ctr"/>
          <a:lstStyle/>
          <a:p>
            <a:pPr indent="0" marL="0">
              <a:buNone/>
            </a:pPr>
            <a:r>
              <a:rPr lang="en-US" sz="2000" b="1" dirty="0">
                <a:solidFill>
                  <a:srgbClr val="56D6E8"/>
                </a:solidFill>
                <a:latin typeface="Courier New" pitchFamily="34" charset="0"/>
                <a:ea typeface="Courier New" pitchFamily="34" charset="-122"/>
                <a:cs typeface="Courier New" pitchFamily="34" charset="-120"/>
              </a:rPr>
              <a:t>59/195 → 64/151</a:t>
            </a:r>
            <a:endParaRPr lang="en-US" sz="2000" dirty="0"/>
          </a:p>
        </p:txBody>
      </p:sp>
      <p:sp>
        <p:nvSpPr>
          <p:cNvPr id="27" name="Text 25"/>
          <p:cNvSpPr/>
          <p:nvPr/>
        </p:nvSpPr>
        <p:spPr>
          <a:xfrm>
            <a:off x="8205216"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cap-sensitive rows: the published split, then the split re-derived over the rows that answer</a:t>
            </a:r>
            <a:endParaRPr lang="en-US" sz="900" dirty="0"/>
          </a:p>
        </p:txBody>
      </p:sp>
      <p:sp>
        <p:nvSpPr>
          <p:cNvPr id="28" name="Text 26"/>
          <p:cNvSpPr/>
          <p:nvPr/>
        </p:nvSpPr>
        <p:spPr>
          <a:xfrm>
            <a:off x="8205216"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9" name="Text 27"/>
          <p:cNvSpPr/>
          <p:nvPr/>
        </p:nvSpPr>
        <p:spPr>
          <a:xfrm>
            <a:off x="8205216"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Every sweep row now carries a state (ok, rc=N, unparseable, unexpanded, timeout), a run where nothing answered refuses to report, and nothing it writes may land in the corpus. The cache sweep pins the root you are working in.</a:t>
            </a:r>
            <a:endParaRPr lang="en-US" sz="1000" dirty="0"/>
          </a:p>
        </p:txBody>
      </p:sp>
      <p:sp>
        <p:nvSpPr>
          <p:cNvPr id="30" name="Text 28"/>
          <p:cNvSpPr/>
          <p:nvPr/>
        </p:nvSpPr>
        <p:spPr>
          <a:xfrm>
            <a:off x="8205216"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test/capsweepcheck.sh · 209f97a4 · 5723b2c0</a:t>
            </a:r>
            <a:endParaRPr lang="en-US" sz="8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figure is quoted from its PR body or commit in the speaker notes — the tripwire covers our own instruments too</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one harness, one machine, one day — N = 60 paired, zero exclusions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Head-to-head: every competitor, one table</a:t>
            </a:r>
            <a:endParaRPr lang="en-US" sz="3400" dirty="0"/>
          </a:p>
        </p:txBody>
      </p:sp>
      <p:graphicFrame>
        <p:nvGraphicFramePr>
          <p:cNvPr id="4" name="Chart 0" descr=""/>
          <p:cNvGraphicFramePr/>
          <p:nvPr/>
        </p:nvGraphicFramePr>
        <p:xfrm>
          <a:off x="566928" y="1572768"/>
          <a:ext cx="685800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572768"/>
            <a:ext cx="3840480" cy="1417320"/>
          </a:xfrm>
          <a:prstGeom prst="roundRect">
            <a:avLst>
              <a:gd name="adj" fmla="val 5806"/>
            </a:avLst>
          </a:prstGeom>
          <a:solidFill>
            <a:srgbClr val="161D28"/>
          </a:solidFill>
          <a:ln w="9525">
            <a:solidFill>
              <a:srgbClr val="232D3D"/>
            </a:solidFill>
            <a:prstDash val="solid"/>
          </a:ln>
        </p:spPr>
      </p:sp>
      <p:sp>
        <p:nvSpPr>
          <p:cNvPr id="6" name="Text 3"/>
          <p:cNvSpPr/>
          <p:nvPr/>
        </p:nvSpPr>
        <p:spPr>
          <a:xfrm>
            <a:off x="7772400" y="1691640"/>
            <a:ext cx="3657600" cy="731520"/>
          </a:xfrm>
          <a:prstGeom prst="rect">
            <a:avLst/>
          </a:prstGeom>
          <a:noFill/>
          <a:ln/>
        </p:spPr>
        <p:txBody>
          <a:bodyPr wrap="square" lIns="0" tIns="0" rIns="0" bIns="0" rtlCol="0" anchor="ctr"/>
          <a:lstStyle/>
          <a:p>
            <a:pPr algn="ctr" indent="0" marL="0">
              <a:buNone/>
            </a:pPr>
            <a:r>
              <a:rPr lang="en-US" sz="4000" b="1" dirty="0">
                <a:solidFill>
                  <a:srgbClr val="56D6E8"/>
                </a:solidFill>
                <a:latin typeface="Arial" pitchFamily="34" charset="0"/>
                <a:ea typeface="Arial" pitchFamily="34" charset="-122"/>
                <a:cs typeface="Arial" pitchFamily="34" charset="-120"/>
              </a:rPr>
              <a:t>1.46×</a:t>
            </a:r>
            <a:endParaRPr lang="en-US" sz="4000" dirty="0"/>
          </a:p>
        </p:txBody>
      </p:sp>
      <p:sp>
        <p:nvSpPr>
          <p:cNvPr id="7" name="Text 4"/>
          <p:cNvSpPr/>
          <p:nvPr/>
        </p:nvSpPr>
        <p:spPr>
          <a:xfrm>
            <a:off x="7772400" y="2368296"/>
            <a:ext cx="3657600"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the margin over the best competitor — 58.3% against 40.0% strict file@10</a:t>
            </a:r>
            <a:endParaRPr lang="en-US" sz="1050" dirty="0"/>
          </a:p>
        </p:txBody>
      </p:sp>
      <p:sp>
        <p:nvSpPr>
          <p:cNvPr id="8" name="Shape 5"/>
          <p:cNvSpPr/>
          <p:nvPr/>
        </p:nvSpPr>
        <p:spPr>
          <a:xfrm>
            <a:off x="7680960" y="3108960"/>
            <a:ext cx="3840480" cy="1481328"/>
          </a:xfrm>
          <a:prstGeom prst="roundRect">
            <a:avLst>
              <a:gd name="adj" fmla="val 5556"/>
            </a:avLst>
          </a:prstGeom>
          <a:solidFill>
            <a:srgbClr val="161D28"/>
          </a:solidFill>
          <a:ln w="9525">
            <a:solidFill>
              <a:srgbClr val="232D3D"/>
            </a:solidFill>
            <a:prstDash val="solid"/>
          </a:ln>
        </p:spPr>
      </p:sp>
      <p:sp>
        <p:nvSpPr>
          <p:cNvPr id="9" name="Text 6"/>
          <p:cNvSpPr/>
          <p:nvPr/>
        </p:nvSpPr>
        <p:spPr>
          <a:xfrm>
            <a:off x="7818120" y="3218688"/>
            <a:ext cx="3566160" cy="1316736"/>
          </a:xfrm>
          <a:prstGeom prst="rect">
            <a:avLst/>
          </a:prstGeom>
          <a:noFill/>
          <a:ln/>
        </p:spPr>
        <p:txBody>
          <a:bodyPr wrap="square" lIns="0" tIns="0" rIns="0" bIns="0" rtlCol="0" anchor="t"/>
          <a:lstStyle/>
          <a:p>
            <a:pPr indent="0" marL="0">
              <a:buNone/>
            </a:pPr>
            <a:r>
              <a:rPr lang="en-US" sz="1200" b="1" dirty="0">
                <a:solidFill>
                  <a:srgbClr val="E6EDF3"/>
                </a:solidFill>
                <a:latin typeface="Arial" pitchFamily="34" charset="0"/>
                <a:ea typeface="Arial" pitchFamily="34" charset="-122"/>
                <a:cs typeface="Arial" pitchFamily="34" charset="-120"/>
              </a:rPr>
              <a:t>And the index it was measured with
</a:t>
            </a:r>
            <a:pPr indent="0" marL="0">
              <a:buNone/>
            </a:pPr>
            <a:r>
              <a:rPr lang="en-US" sz="1050" dirty="0">
                <a:solidFill>
                  <a:srgbClr val="8B95A5"/>
                </a:solidFill>
                <a:latin typeface="Arial" pitchFamily="34" charset="0"/>
                <a:ea typeface="Arial" pitchFamily="34" charset="-122"/>
                <a:cs typeface="Arial" pitchFamily="34" charset="-120"/>
              </a:rPr>
              <a:t>ripwire 0.31 s · codebase-memory-mcp 1.24 s · codeseek 3.37 s · graphify 7.82 s · repowise 34.0 s, whose worst single index was </a:t>
            </a:r>
            <a:pPr indent="0" marL="0">
              <a:buNone/>
            </a:pPr>
            <a:r>
              <a:rPr lang="en-US" sz="1050" b="1" dirty="0">
                <a:solidFill>
                  <a:srgbClr val="F2B84B"/>
                </a:solidFill>
                <a:latin typeface="Arial" pitchFamily="34" charset="0"/>
                <a:ea typeface="Arial" pitchFamily="34" charset="-122"/>
                <a:cs typeface="Arial" pitchFamily="34" charset="-120"/>
              </a:rPr>
              <a:t>352 s</a:t>
            </a:r>
            <a:pPr indent="0" marL="0">
              <a:buNone/>
            </a:pPr>
            <a:r>
              <a:rPr lang="en-US" sz="1050" dirty="0">
                <a:solidFill>
                  <a:srgbClr val="8B95A5"/>
                </a:solidFill>
                <a:latin typeface="Arial" pitchFamily="34" charset="0"/>
                <a:ea typeface="Arial" pitchFamily="34" charset="-122"/>
                <a:cs typeface="Arial" pitchFamily="34" charset="-120"/>
              </a:rPr>
              <a:t>. Cold, nothing to an answer: 0.213 s.</a:t>
            </a:r>
            <a:endParaRPr lang="en-US" sz="1200" dirty="0"/>
          </a:p>
        </p:txBody>
      </p:sp>
      <p:sp>
        <p:nvSpPr>
          <p:cNvPr id="10" name="Shape 7"/>
          <p:cNvSpPr/>
          <p:nvPr/>
        </p:nvSpPr>
        <p:spPr>
          <a:xfrm>
            <a:off x="7680960" y="4709160"/>
            <a:ext cx="3840480" cy="1417320"/>
          </a:xfrm>
          <a:prstGeom prst="roundRect">
            <a:avLst>
              <a:gd name="adj" fmla="val 5806"/>
            </a:avLst>
          </a:prstGeom>
          <a:solidFill>
            <a:srgbClr val="161D28"/>
          </a:solidFill>
          <a:ln w="9525">
            <a:solidFill>
              <a:srgbClr val="232D3D"/>
            </a:solidFill>
            <a:prstDash val="solid"/>
          </a:ln>
        </p:spPr>
      </p:sp>
      <p:sp>
        <p:nvSpPr>
          <p:cNvPr id="11" name="Text 8"/>
          <p:cNvSpPr/>
          <p:nvPr/>
        </p:nvSpPr>
        <p:spPr>
          <a:xfrm>
            <a:off x="7818120" y="4818888"/>
            <a:ext cx="3566160" cy="1261872"/>
          </a:xfrm>
          <a:prstGeom prst="rect">
            <a:avLst/>
          </a:prstGeom>
          <a:noFill/>
          <a:ln/>
        </p:spPr>
        <p:txBody>
          <a:bodyPr wrap="square" lIns="0" tIns="0" rIns="0" bIns="0" rtlCol="0" anchor="t"/>
          <a:lstStyle/>
          <a:p>
            <a:pPr indent="0" marL="0">
              <a:buNone/>
            </a:pPr>
            <a:r>
              <a:rPr lang="en-US" sz="1050" b="1" dirty="0">
                <a:solidFill>
                  <a:srgbClr val="E6EDF3"/>
                </a:solidFill>
                <a:latin typeface="Arial" pitchFamily="34" charset="0"/>
                <a:ea typeface="Arial" pitchFamily="34" charset="-122"/>
                <a:cs typeface="Arial" pitchFamily="34" charset="-120"/>
              </a:rPr>
              <a:t>What re-running cost us, published: </a:t>
            </a:r>
            <a:pPr indent="0" marL="0">
              <a:buNone/>
            </a:pPr>
            <a:r>
              <a:rPr lang="en-US" sz="1050" dirty="0">
                <a:solidFill>
                  <a:srgbClr val="8B95A5"/>
                </a:solidFill>
                <a:latin typeface="Arial" pitchFamily="34" charset="0"/>
                <a:ea typeface="Arial" pitchFamily="34" charset="-122"/>
                <a:cs typeface="Arial" pitchFamily="34" charset="-120"/>
              </a:rPr>
              <a:t>aider moved 18.3% → 20.0% on its own tie-break nondeterminism, and we printed the higher number. Paired, ripwire loses 2 instances to codebase-memory-mcp, 2 to repowise, and 1 each to graphify, aider and the aider control.</a:t>
            </a:r>
            <a:endParaRPr lang="en-US" sz="1050" dirty="0"/>
          </a:p>
        </p:txBody>
      </p:sp>
      <p:sp>
        <p:nvSpPr>
          <p:cNvPr id="12" name="Text 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bench/headtohead/r4-2026-08-06/ — harness, per-instance JSONL and recipe committed · replaces the two non-comparable tables r1 and r2 needed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scored against a third-party oracle, never against each other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Graded by a compiler: zero silent misses</a:t>
            </a:r>
            <a:endParaRPr lang="en-US" sz="3400" dirty="0"/>
          </a:p>
        </p:txBody>
      </p:sp>
      <p:sp>
        <p:nvSpPr>
          <p:cNvPr id="4" name="Shape 2"/>
          <p:cNvSpPr/>
          <p:nvPr/>
        </p:nvSpPr>
        <p:spPr>
          <a:xfrm>
            <a:off x="566928" y="1572768"/>
            <a:ext cx="5532120" cy="2240280"/>
          </a:xfrm>
          <a:prstGeom prst="roundRect">
            <a:avLst>
              <a:gd name="adj" fmla="val 3673"/>
            </a:avLst>
          </a:prstGeom>
          <a:solidFill>
            <a:srgbClr val="161D28"/>
          </a:solidFill>
          <a:ln w="9525">
            <a:solidFill>
              <a:srgbClr val="232D3D"/>
            </a:solidFill>
            <a:prstDash val="solid"/>
          </a:ln>
        </p:spPr>
      </p:sp>
      <p:sp>
        <p:nvSpPr>
          <p:cNvPr id="5" name="Text 3"/>
          <p:cNvSpPr/>
          <p:nvPr/>
        </p:nvSpPr>
        <p:spPr>
          <a:xfrm>
            <a:off x="768096" y="1691640"/>
            <a:ext cx="5120640" cy="658368"/>
          </a:xfrm>
          <a:prstGeom prst="rect">
            <a:avLst/>
          </a:prstGeom>
          <a:noFill/>
          <a:ln/>
        </p:spPr>
        <p:txBody>
          <a:bodyPr wrap="square" lIns="0" tIns="0" rIns="0" bIns="0" rtlCol="0" anchor="ctr"/>
          <a:lstStyle/>
          <a:p>
            <a:pPr indent="0" marL="0">
              <a:buNone/>
            </a:pPr>
            <a:r>
              <a:rPr lang="en-US" sz="1200" dirty="0">
                <a:solidFill>
                  <a:srgbClr val="8B95A5"/>
                </a:solidFill>
                <a:latin typeface="Arial" pitchFamily="34" charset="0"/>
                <a:ea typeface="Arial" pitchFamily="34" charset="-122"/>
                <a:cs typeface="Arial" pitchFamily="34" charset="-120"/>
              </a:rPr>
              <a:t>Both tools were scored against a scip-clang compiler-grade index of this repository — 68 answers, 34 blind-authored queries × --uses and --callers.</a:t>
            </a:r>
            <a:endParaRPr lang="en-US" sz="1200" dirty="0"/>
          </a:p>
        </p:txBody>
      </p:sp>
      <p:sp>
        <p:nvSpPr>
          <p:cNvPr id="6" name="Text 4"/>
          <p:cNvSpPr/>
          <p:nvPr/>
        </p:nvSpPr>
        <p:spPr>
          <a:xfrm>
            <a:off x="768096" y="2331720"/>
            <a:ext cx="5120640" cy="777240"/>
          </a:xfrm>
          <a:prstGeom prst="rect">
            <a:avLst/>
          </a:prstGeom>
          <a:noFill/>
          <a:ln/>
        </p:spPr>
        <p:txBody>
          <a:bodyPr wrap="square" lIns="0" tIns="0" rIns="0" bIns="0" rtlCol="0" anchor="ctr"/>
          <a:lstStyle/>
          <a:p>
            <a:pPr algn="ctr" indent="0" marL="0">
              <a:buNone/>
            </a:pPr>
            <a:r>
              <a:rPr lang="en-US" sz="5400" b="1" dirty="0">
                <a:solidFill>
                  <a:srgbClr val="4AC26B"/>
                </a:solidFill>
                <a:latin typeface="Arial" pitchFamily="34" charset="0"/>
                <a:ea typeface="Arial" pitchFamily="34" charset="-122"/>
                <a:cs typeface="Arial" pitchFamily="34" charset="-120"/>
              </a:rPr>
              <a:t>0</a:t>
            </a:r>
            <a:endParaRPr lang="en-US" sz="5400" dirty="0"/>
          </a:p>
        </p:txBody>
      </p:sp>
      <p:sp>
        <p:nvSpPr>
          <p:cNvPr id="7" name="Text 5"/>
          <p:cNvSpPr/>
          <p:nvPr/>
        </p:nvSpPr>
        <p:spPr>
          <a:xfrm>
            <a:off x="768096" y="3054096"/>
            <a:ext cx="5120640"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true silent misses — pre-fix and post-fix alike. Every imperfect answer either carried a discriminating self-flag (amb=, defs&gt;1, external="1") or was an oracle-scope artifact where ripwire was right and the compiler could not see the file.</a:t>
            </a:r>
            <a:endParaRPr lang="en-US" sz="1050" dirty="0"/>
          </a:p>
        </p:txBody>
      </p:sp>
      <p:sp>
        <p:nvSpPr>
          <p:cNvPr id="8" name="Shape 6"/>
          <p:cNvSpPr/>
          <p:nvPr/>
        </p:nvSpPr>
        <p:spPr>
          <a:xfrm>
            <a:off x="6400800" y="1572768"/>
            <a:ext cx="5120640" cy="2240280"/>
          </a:xfrm>
          <a:prstGeom prst="roundRect">
            <a:avLst>
              <a:gd name="adj" fmla="val 3673"/>
            </a:avLst>
          </a:prstGeom>
          <a:solidFill>
            <a:srgbClr val="1B2432"/>
          </a:solidFill>
          <a:ln w="9525">
            <a:solidFill>
              <a:srgbClr val="232D3D"/>
            </a:solidFill>
            <a:prstDash val="solid"/>
          </a:ln>
        </p:spPr>
      </p:sp>
      <p:sp>
        <p:nvSpPr>
          <p:cNvPr id="9" name="Text 7"/>
          <p:cNvSpPr/>
          <p:nvPr/>
        </p:nvSpPr>
        <p:spPr>
          <a:xfrm>
            <a:off x="6583680" y="1691640"/>
            <a:ext cx="4754880" cy="292608"/>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What a compiler-grade index costs</a:t>
            </a:r>
            <a:endParaRPr lang="en-US" sz="1300" dirty="0"/>
          </a:p>
        </p:txBody>
      </p:sp>
      <p:sp>
        <p:nvSpPr>
          <p:cNvPr id="10" name="Text 8"/>
          <p:cNvSpPr/>
          <p:nvPr/>
        </p:nvSpPr>
        <p:spPr>
          <a:xfrm>
            <a:off x="7772400" y="2002536"/>
            <a:ext cx="3611880" cy="256032"/>
          </a:xfrm>
          <a:prstGeom prst="rect">
            <a:avLst/>
          </a:prstGeom>
          <a:noFill/>
          <a:ln/>
        </p:spPr>
        <p:txBody>
          <a:bodyPr wrap="square" lIns="0" tIns="0" rIns="0" bIns="0" rtlCol="0" anchor="ctr"/>
          <a:lstStyle/>
          <a:p>
            <a:pPr indent="0" marL="0">
              <a:buNone/>
            </a:pPr>
            <a:r>
              <a:rPr lang="en-US" sz="1000" b="1" dirty="0">
                <a:solidFill>
                  <a:srgbClr val="56D6E8"/>
                </a:solidFill>
                <a:latin typeface="Arial" pitchFamily="34" charset="0"/>
                <a:ea typeface="Arial" pitchFamily="34" charset="-122"/>
                <a:cs typeface="Arial" pitchFamily="34" charset="-120"/>
              </a:rPr>
              <a:t>ripwire</a:t>
            </a:r>
            <a:pPr indent="0" marL="0">
              <a:buNone/>
            </a:pPr>
            <a:r>
              <a:rPr lang="en-US" sz="1000" dirty="0">
                <a:solidFill>
                  <a:srgbClr val="8B95A5"/>
                </a:solidFill>
                <a:latin typeface="Arial" pitchFamily="34" charset="0"/>
                <a:ea typeface="Arial" pitchFamily="34" charset="-122"/>
                <a:cs typeface="Arial" pitchFamily="34" charset="-120"/>
              </a:rPr>
              <a:t>        Serena 1.6.2.dev0 (clangd 19.1.2)</a:t>
            </a:r>
            <a:endParaRPr lang="en-US" sz="1000" dirty="0"/>
          </a:p>
        </p:txBody>
      </p:sp>
      <p:sp>
        <p:nvSpPr>
          <p:cNvPr id="11" name="Text 9"/>
          <p:cNvSpPr/>
          <p:nvPr/>
        </p:nvSpPr>
        <p:spPr>
          <a:xfrm>
            <a:off x="6583680" y="2286000"/>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warm query</a:t>
            </a:r>
            <a:endParaRPr lang="en-US" sz="1100" dirty="0"/>
          </a:p>
        </p:txBody>
      </p:sp>
      <p:sp>
        <p:nvSpPr>
          <p:cNvPr id="12" name="Text 10"/>
          <p:cNvSpPr/>
          <p:nvPr/>
        </p:nvSpPr>
        <p:spPr>
          <a:xfrm>
            <a:off x="7772400" y="2286000"/>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49.8 ms</a:t>
            </a:r>
            <a:endParaRPr lang="en-US" sz="1150" dirty="0"/>
          </a:p>
        </p:txBody>
      </p:sp>
      <p:sp>
        <p:nvSpPr>
          <p:cNvPr id="13" name="Text 11"/>
          <p:cNvSpPr/>
          <p:nvPr/>
        </p:nvSpPr>
        <p:spPr>
          <a:xfrm>
            <a:off x="8915400" y="2286000"/>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3,760 ms</a:t>
            </a:r>
            <a:endParaRPr lang="en-US" sz="1150" dirty="0"/>
          </a:p>
        </p:txBody>
      </p:sp>
      <p:sp>
        <p:nvSpPr>
          <p:cNvPr id="14" name="Text 12"/>
          <p:cNvSpPr/>
          <p:nvPr/>
        </p:nvSpPr>
        <p:spPr>
          <a:xfrm>
            <a:off x="10241280" y="2286000"/>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~70×</a:t>
            </a:r>
            <a:endParaRPr lang="en-US" sz="1150" dirty="0"/>
          </a:p>
        </p:txBody>
      </p:sp>
      <p:sp>
        <p:nvSpPr>
          <p:cNvPr id="15" name="Text 13"/>
          <p:cNvSpPr/>
          <p:nvPr/>
        </p:nvSpPr>
        <p:spPr>
          <a:xfrm>
            <a:off x="6583680" y="2633472"/>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cold start</a:t>
            </a:r>
            <a:endParaRPr lang="en-US" sz="1100" dirty="0"/>
          </a:p>
        </p:txBody>
      </p:sp>
      <p:sp>
        <p:nvSpPr>
          <p:cNvPr id="16" name="Text 14"/>
          <p:cNvSpPr/>
          <p:nvPr/>
        </p:nvSpPr>
        <p:spPr>
          <a:xfrm>
            <a:off x="7772400" y="2633472"/>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208 ms</a:t>
            </a:r>
            <a:endParaRPr lang="en-US" sz="1150" dirty="0"/>
          </a:p>
        </p:txBody>
      </p:sp>
      <p:sp>
        <p:nvSpPr>
          <p:cNvPr id="17" name="Text 15"/>
          <p:cNvSpPr/>
          <p:nvPr/>
        </p:nvSpPr>
        <p:spPr>
          <a:xfrm>
            <a:off x="8915400" y="2633472"/>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8.7 s</a:t>
            </a:r>
            <a:endParaRPr lang="en-US" sz="1150" dirty="0"/>
          </a:p>
        </p:txBody>
      </p:sp>
      <p:sp>
        <p:nvSpPr>
          <p:cNvPr id="18" name="Text 16"/>
          <p:cNvSpPr/>
          <p:nvPr/>
        </p:nvSpPr>
        <p:spPr>
          <a:xfrm>
            <a:off x="10241280" y="2633472"/>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~40×</a:t>
            </a:r>
            <a:endParaRPr lang="en-US" sz="1150" dirty="0"/>
          </a:p>
        </p:txBody>
      </p:sp>
      <p:sp>
        <p:nvSpPr>
          <p:cNvPr id="19" name="Text 17"/>
          <p:cNvSpPr/>
          <p:nvPr/>
        </p:nvSpPr>
        <p:spPr>
          <a:xfrm>
            <a:off x="6583680" y="2980944"/>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index build</a:t>
            </a:r>
            <a:endParaRPr lang="en-US" sz="1100" dirty="0"/>
          </a:p>
        </p:txBody>
      </p:sp>
      <p:sp>
        <p:nvSpPr>
          <p:cNvPr id="20" name="Text 18"/>
          <p:cNvSpPr/>
          <p:nvPr/>
        </p:nvSpPr>
        <p:spPr>
          <a:xfrm>
            <a:off x="7772400" y="2980944"/>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none</a:t>
            </a:r>
            <a:endParaRPr lang="en-US" sz="1150" dirty="0"/>
          </a:p>
        </p:txBody>
      </p:sp>
      <p:sp>
        <p:nvSpPr>
          <p:cNvPr id="21" name="Text 19"/>
          <p:cNvSpPr/>
          <p:nvPr/>
        </p:nvSpPr>
        <p:spPr>
          <a:xfrm>
            <a:off x="8915400" y="2980944"/>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~8 min</a:t>
            </a:r>
            <a:endParaRPr lang="en-US" sz="1150" dirty="0"/>
          </a:p>
        </p:txBody>
      </p:sp>
      <p:sp>
        <p:nvSpPr>
          <p:cNvPr id="22" name="Text 20"/>
          <p:cNvSpPr/>
          <p:nvPr/>
        </p:nvSpPr>
        <p:spPr>
          <a:xfrm>
            <a:off x="10241280" y="2980944"/>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a:t>
            </a:r>
            <a:endParaRPr lang="en-US" sz="1150" dirty="0"/>
          </a:p>
        </p:txBody>
      </p:sp>
      <p:sp>
        <p:nvSpPr>
          <p:cNvPr id="23" name="Text 21"/>
          <p:cNvSpPr/>
          <p:nvPr/>
        </p:nvSpPr>
        <p:spPr>
          <a:xfrm>
            <a:off x="6583680" y="3328416"/>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errors</a:t>
            </a:r>
            <a:endParaRPr lang="en-US" sz="1100" dirty="0"/>
          </a:p>
        </p:txBody>
      </p:sp>
      <p:sp>
        <p:nvSpPr>
          <p:cNvPr id="24" name="Text 22"/>
          <p:cNvSpPr/>
          <p:nvPr/>
        </p:nvSpPr>
        <p:spPr>
          <a:xfrm>
            <a:off x="7772400" y="3328416"/>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0 / 101</a:t>
            </a:r>
            <a:endParaRPr lang="en-US" sz="1150" dirty="0"/>
          </a:p>
        </p:txBody>
      </p:sp>
      <p:sp>
        <p:nvSpPr>
          <p:cNvPr id="25" name="Text 23"/>
          <p:cNvSpPr/>
          <p:nvPr/>
        </p:nvSpPr>
        <p:spPr>
          <a:xfrm>
            <a:off x="8915400" y="3328416"/>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7 / 61</a:t>
            </a:r>
            <a:endParaRPr lang="en-US" sz="1150" dirty="0"/>
          </a:p>
        </p:txBody>
      </p:sp>
      <p:sp>
        <p:nvSpPr>
          <p:cNvPr id="26" name="Text 24"/>
          <p:cNvSpPr/>
          <p:nvPr/>
        </p:nvSpPr>
        <p:spPr>
          <a:xfrm>
            <a:off x="10241280" y="3328416"/>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a:t>
            </a:r>
            <a:endParaRPr lang="en-US" sz="1150" dirty="0"/>
          </a:p>
        </p:txBody>
      </p:sp>
      <p:sp>
        <p:nvSpPr>
          <p:cNvPr id="27" name="Shape 25"/>
          <p:cNvSpPr/>
          <p:nvPr/>
        </p:nvSpPr>
        <p:spPr>
          <a:xfrm>
            <a:off x="566928" y="3950208"/>
            <a:ext cx="10972800" cy="1234440"/>
          </a:xfrm>
          <a:prstGeom prst="roundRect">
            <a:avLst>
              <a:gd name="adj" fmla="val 6667"/>
            </a:avLst>
          </a:prstGeom>
          <a:solidFill>
            <a:srgbClr val="161D28"/>
          </a:solidFill>
          <a:ln w="9525">
            <a:solidFill>
              <a:srgbClr val="232D3D"/>
            </a:solidFill>
            <a:prstDash val="solid"/>
          </a:ln>
        </p:spPr>
      </p:sp>
      <p:sp>
        <p:nvSpPr>
          <p:cNvPr id="28" name="Text 26"/>
          <p:cNvSpPr/>
          <p:nvPr/>
        </p:nvSpPr>
        <p:spPr>
          <a:xfrm>
            <a:off x="795528" y="4059936"/>
            <a:ext cx="10561320" cy="1051560"/>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Read honestly in both directions. </a:t>
            </a:r>
            <a:pPr indent="0" marL="0">
              <a:buNone/>
            </a:pPr>
            <a:r>
              <a:rPr lang="en-US" sz="1150" dirty="0">
                <a:solidFill>
                  <a:srgbClr val="8B95A5"/>
                </a:solidFill>
                <a:latin typeface="Arial" pitchFamily="34" charset="0"/>
                <a:ea typeface="Arial" pitchFamily="34" charset="-122"/>
                <a:cs typeface="Arial" pitchFamily="34" charset="-120"/>
              </a:rPr>
              <a:t>The LSP is more precise — site-level 0.929/0.941 against ripwire's 0.914/0.941 after the fix round, a gap of roughly 1.5 points with recall now equal. ripwire also pays ~7× the bytes per call, because its output carries self-describing legends. What it cannot do is answer a macro query at all — clangd's documentSymbol has no macro entries, which is 3 of its 7 errors — or start in less than eight minutes.</a:t>
            </a:r>
            <a:endParaRPr lang="en-US" sz="1150" dirty="0"/>
          </a:p>
        </p:txBody>
      </p:sp>
      <p:sp>
        <p:nvSpPr>
          <p:cNvPr id="29" name="Shape 27"/>
          <p:cNvSpPr/>
          <p:nvPr/>
        </p:nvSpPr>
        <p:spPr>
          <a:xfrm>
            <a:off x="566928" y="5285232"/>
            <a:ext cx="10972800" cy="960120"/>
          </a:xfrm>
          <a:prstGeom prst="roundRect">
            <a:avLst>
              <a:gd name="adj" fmla="val 8571"/>
            </a:avLst>
          </a:prstGeom>
          <a:solidFill>
            <a:srgbClr val="1B2432"/>
          </a:solidFill>
          <a:ln w="9525">
            <a:solidFill>
              <a:srgbClr val="232D3D"/>
            </a:solidFill>
            <a:prstDash val="solid"/>
          </a:ln>
        </p:spPr>
      </p:sp>
      <p:sp>
        <p:nvSpPr>
          <p:cNvPr id="30" name="Text 28"/>
          <p:cNvSpPr/>
          <p:nvPr/>
        </p:nvSpPr>
        <p:spPr>
          <a:xfrm>
            <a:off x="795528" y="5385816"/>
            <a:ext cx="10561320" cy="804672"/>
          </a:xfrm>
          <a:prstGeom prst="rect">
            <a:avLst/>
          </a:prstGeom>
          <a:noFill/>
          <a:ln/>
        </p:spPr>
        <p:txBody>
          <a:bodyPr wrap="square" lIns="0" tIns="0" rIns="0" bIns="0" rtlCol="0" anchor="ctr"/>
          <a:lstStyle/>
          <a:p>
            <a:pPr indent="0" marL="0">
              <a:buNone/>
            </a:pPr>
            <a:r>
              <a:rPr lang="en-US" sz="1150" b="1" dirty="0">
                <a:solidFill>
                  <a:srgbClr val="F2B84B"/>
                </a:solidFill>
                <a:latin typeface="Arial" pitchFamily="34" charset="0"/>
                <a:ea typeface="Arial" pitchFamily="34" charset="-122"/>
                <a:cs typeface="Arial" pitchFamily="34" charset="-120"/>
              </a:rPr>
              <a:t>The number that moved the wrong way, published with the rest: </a:t>
            </a:r>
            <a:pPr indent="0" marL="0">
              <a:buNone/>
            </a:pPr>
            <a:r>
              <a:rPr lang="en-US" sz="1150" dirty="0">
                <a:solidFill>
                  <a:srgbClr val="8B95A5"/>
                </a:solidFill>
                <a:latin typeface="Arial" pitchFamily="34" charset="0"/>
                <a:ea typeface="Arial" pitchFamily="34" charset="-122"/>
                <a:cs typeface="Arial" pitchFamily="34" charset="-120"/>
              </a:rPr>
              <a:t>over-hedging rose 18.6% → 22.6% across the fix round. Closing loss buckets added self-flags faster than it removed imperfect answers. That direction is deliberate — calibrated to warn too often rather than too rarely — but it is a cost, and it is on the slide.</a:t>
            </a:r>
            <a:endParaRPr lang="en-US" sz="11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bench/headtohead/r9-2026-08-09/RESULTS.md — C++ only, 34 scorable queries, one corpus (this repository)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48 paired questions, zero exclusions, both arms exit 0 on all 48</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Against a graph-database context server: 27–7–14</a:t>
            </a:r>
            <a:endParaRPr lang="en-US" sz="3200" dirty="0"/>
          </a:p>
        </p:txBody>
      </p:sp>
      <p:sp>
        <p:nvSpPr>
          <p:cNvPr id="4" name="Shape 2"/>
          <p:cNvSpPr/>
          <p:nvPr/>
        </p:nvSpPr>
        <p:spPr>
          <a:xfrm>
            <a:off x="566928" y="1517904"/>
            <a:ext cx="7178040" cy="310896"/>
          </a:xfrm>
          <a:prstGeom prst="roundRect">
            <a:avLst>
              <a:gd name="adj" fmla="val 26471"/>
            </a:avLst>
          </a:prstGeom>
          <a:solidFill>
            <a:srgbClr val="0D1117"/>
          </a:solidFill>
          <a:ln w="9525">
            <a:solidFill>
              <a:srgbClr val="232D3D"/>
            </a:solidFill>
            <a:prstDash val="solid"/>
          </a:ln>
        </p:spPr>
      </p:sp>
      <p:sp>
        <p:nvSpPr>
          <p:cNvPr id="5" name="Text 3"/>
          <p:cNvSpPr/>
          <p:nvPr/>
        </p:nvSpPr>
        <p:spPr>
          <a:xfrm>
            <a:off x="731520" y="1545336"/>
            <a:ext cx="2240280" cy="256032"/>
          </a:xfrm>
          <a:prstGeom prst="rect">
            <a:avLst/>
          </a:prstGeom>
          <a:noFill/>
          <a:ln/>
        </p:spPr>
        <p:txBody>
          <a:bodyPr wrap="square" lIns="0" tIns="0" rIns="0" bIns="0" rtlCol="0" anchor="ctr"/>
          <a:lstStyle/>
          <a:p>
            <a:pPr algn="l" indent="0" marL="0">
              <a:buNone/>
            </a:pPr>
            <a:r>
              <a:rPr lang="en-US" sz="950" b="1" dirty="0">
                <a:solidFill>
                  <a:srgbClr val="8B95A5"/>
                </a:solidFill>
                <a:latin typeface="Arial" pitchFamily="34" charset="0"/>
                <a:ea typeface="Arial" pitchFamily="34" charset="-122"/>
                <a:cs typeface="Arial" pitchFamily="34" charset="-120"/>
              </a:rPr>
              <a:t>class</a:t>
            </a:r>
            <a:endParaRPr lang="en-US" sz="950" dirty="0"/>
          </a:p>
        </p:txBody>
      </p:sp>
      <p:sp>
        <p:nvSpPr>
          <p:cNvPr id="6" name="Text 4"/>
          <p:cNvSpPr/>
          <p:nvPr/>
        </p:nvSpPr>
        <p:spPr>
          <a:xfrm>
            <a:off x="3081528" y="1545336"/>
            <a:ext cx="41148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n</a:t>
            </a:r>
            <a:endParaRPr lang="en-US" sz="950" dirty="0"/>
          </a:p>
        </p:txBody>
      </p:sp>
      <p:sp>
        <p:nvSpPr>
          <p:cNvPr id="7" name="Text 5"/>
          <p:cNvSpPr/>
          <p:nvPr/>
        </p:nvSpPr>
        <p:spPr>
          <a:xfrm>
            <a:off x="3602736" y="1545336"/>
            <a:ext cx="77724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ripwire</a:t>
            </a:r>
            <a:endParaRPr lang="en-US" sz="950" dirty="0"/>
          </a:p>
        </p:txBody>
      </p:sp>
      <p:sp>
        <p:nvSpPr>
          <p:cNvPr id="8" name="Text 6"/>
          <p:cNvSpPr/>
          <p:nvPr/>
        </p:nvSpPr>
        <p:spPr>
          <a:xfrm>
            <a:off x="4489704" y="1545336"/>
            <a:ext cx="82296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GitNexus</a:t>
            </a:r>
            <a:endParaRPr lang="en-US" sz="950" dirty="0"/>
          </a:p>
        </p:txBody>
      </p:sp>
      <p:sp>
        <p:nvSpPr>
          <p:cNvPr id="9" name="Text 7"/>
          <p:cNvSpPr/>
          <p:nvPr/>
        </p:nvSpPr>
        <p:spPr>
          <a:xfrm>
            <a:off x="5422392" y="1545336"/>
            <a:ext cx="50292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tie</a:t>
            </a:r>
            <a:endParaRPr lang="en-US" sz="950" dirty="0"/>
          </a:p>
        </p:txBody>
      </p:sp>
      <p:sp>
        <p:nvSpPr>
          <p:cNvPr id="10" name="Text 8"/>
          <p:cNvSpPr/>
          <p:nvPr/>
        </p:nvSpPr>
        <p:spPr>
          <a:xfrm>
            <a:off x="6035040" y="1545336"/>
            <a:ext cx="132588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bytes ÷ it</a:t>
            </a:r>
            <a:endParaRPr lang="en-US" sz="950" dirty="0"/>
          </a:p>
        </p:txBody>
      </p:sp>
      <p:sp>
        <p:nvSpPr>
          <p:cNvPr id="11" name="Shape 9"/>
          <p:cNvSpPr/>
          <p:nvPr/>
        </p:nvSpPr>
        <p:spPr>
          <a:xfrm>
            <a:off x="566928" y="1865376"/>
            <a:ext cx="7178040" cy="384048"/>
          </a:xfrm>
          <a:prstGeom prst="roundRect">
            <a:avLst>
              <a:gd name="adj" fmla="val 21429"/>
            </a:avLst>
          </a:prstGeom>
          <a:solidFill>
            <a:srgbClr val="161D28"/>
          </a:solidFill>
          <a:ln w="9525">
            <a:solidFill>
              <a:srgbClr val="232D3D"/>
            </a:solidFill>
            <a:prstDash val="solid"/>
          </a:ln>
        </p:spPr>
      </p:sp>
      <p:sp>
        <p:nvSpPr>
          <p:cNvPr id="12" name="Text 10"/>
          <p:cNvSpPr/>
          <p:nvPr/>
        </p:nvSpPr>
        <p:spPr>
          <a:xfrm>
            <a:off x="731520" y="1892808"/>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symbol lookup</a:t>
            </a:r>
            <a:endParaRPr lang="en-US" sz="1050" dirty="0"/>
          </a:p>
        </p:txBody>
      </p:sp>
      <p:sp>
        <p:nvSpPr>
          <p:cNvPr id="13" name="Text 11"/>
          <p:cNvSpPr/>
          <p:nvPr/>
        </p:nvSpPr>
        <p:spPr>
          <a:xfrm>
            <a:off x="3081528" y="1892808"/>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a:t>
            </a:r>
            <a:endParaRPr lang="en-US" sz="1050" dirty="0"/>
          </a:p>
        </p:txBody>
      </p:sp>
      <p:sp>
        <p:nvSpPr>
          <p:cNvPr id="14" name="Text 12"/>
          <p:cNvSpPr/>
          <p:nvPr/>
        </p:nvSpPr>
        <p:spPr>
          <a:xfrm>
            <a:off x="3602736" y="1892808"/>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6</a:t>
            </a:r>
            <a:endParaRPr lang="en-US" sz="1100" dirty="0"/>
          </a:p>
        </p:txBody>
      </p:sp>
      <p:sp>
        <p:nvSpPr>
          <p:cNvPr id="15" name="Text 13"/>
          <p:cNvSpPr/>
          <p:nvPr/>
        </p:nvSpPr>
        <p:spPr>
          <a:xfrm>
            <a:off x="4489704" y="1892808"/>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16" name="Text 14"/>
          <p:cNvSpPr/>
          <p:nvPr/>
        </p:nvSpPr>
        <p:spPr>
          <a:xfrm>
            <a:off x="5422392" y="1892808"/>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4</a:t>
            </a:r>
            <a:endParaRPr lang="en-US" sz="1100" dirty="0"/>
          </a:p>
        </p:txBody>
      </p:sp>
      <p:sp>
        <p:nvSpPr>
          <p:cNvPr id="17" name="Text 15"/>
          <p:cNvSpPr/>
          <p:nvPr/>
        </p:nvSpPr>
        <p:spPr>
          <a:xfrm>
            <a:off x="6035040" y="1892808"/>
            <a:ext cx="1325880" cy="329184"/>
          </a:xfrm>
          <a:prstGeom prst="rect">
            <a:avLst/>
          </a:prstGeom>
          <a:noFill/>
          <a:ln/>
        </p:spPr>
        <p:txBody>
          <a:bodyPr wrap="square" lIns="0" tIns="0" rIns="0" bIns="0" rtlCol="0" anchor="ctr"/>
          <a:lstStyle/>
          <a:p>
            <a:pPr algn="r" indent="0" marL="0">
              <a:buNone/>
            </a:pPr>
            <a:r>
              <a:rPr lang="en-US" sz="1100" b="1" dirty="0">
                <a:solidFill>
                  <a:srgbClr val="F2B84B"/>
                </a:solidFill>
                <a:latin typeface="Courier New" pitchFamily="34" charset="0"/>
                <a:ea typeface="Courier New" pitchFamily="34" charset="-122"/>
                <a:cs typeface="Courier New" pitchFamily="34" charset="-120"/>
              </a:rPr>
              <a:t>1.35×</a:t>
            </a:r>
            <a:endParaRPr lang="en-US" sz="1100" dirty="0"/>
          </a:p>
        </p:txBody>
      </p:sp>
      <p:sp>
        <p:nvSpPr>
          <p:cNvPr id="18" name="Shape 16"/>
          <p:cNvSpPr/>
          <p:nvPr/>
        </p:nvSpPr>
        <p:spPr>
          <a:xfrm>
            <a:off x="566928" y="2295144"/>
            <a:ext cx="7178040" cy="384048"/>
          </a:xfrm>
          <a:prstGeom prst="roundRect">
            <a:avLst>
              <a:gd name="adj" fmla="val 21429"/>
            </a:avLst>
          </a:prstGeom>
          <a:solidFill>
            <a:srgbClr val="161D28"/>
          </a:solidFill>
          <a:ln w="9525">
            <a:solidFill>
              <a:srgbClr val="232D3D"/>
            </a:solidFill>
            <a:prstDash val="solid"/>
          </a:ln>
        </p:spPr>
      </p:sp>
      <p:sp>
        <p:nvSpPr>
          <p:cNvPr id="19" name="Text 17"/>
          <p:cNvSpPr/>
          <p:nvPr/>
        </p:nvSpPr>
        <p:spPr>
          <a:xfrm>
            <a:off x="731520" y="2322576"/>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conceptual search</a:t>
            </a:r>
            <a:endParaRPr lang="en-US" sz="1050" dirty="0"/>
          </a:p>
        </p:txBody>
      </p:sp>
      <p:sp>
        <p:nvSpPr>
          <p:cNvPr id="20" name="Text 18"/>
          <p:cNvSpPr/>
          <p:nvPr/>
        </p:nvSpPr>
        <p:spPr>
          <a:xfrm>
            <a:off x="3081528" y="2322576"/>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15</a:t>
            </a:r>
            <a:endParaRPr lang="en-US" sz="1050" dirty="0"/>
          </a:p>
        </p:txBody>
      </p:sp>
      <p:sp>
        <p:nvSpPr>
          <p:cNvPr id="21" name="Text 19"/>
          <p:cNvSpPr/>
          <p:nvPr/>
        </p:nvSpPr>
        <p:spPr>
          <a:xfrm>
            <a:off x="3602736" y="2322576"/>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8</a:t>
            </a:r>
            <a:endParaRPr lang="en-US" sz="1100" dirty="0"/>
          </a:p>
        </p:txBody>
      </p:sp>
      <p:sp>
        <p:nvSpPr>
          <p:cNvPr id="22" name="Text 20"/>
          <p:cNvSpPr/>
          <p:nvPr/>
        </p:nvSpPr>
        <p:spPr>
          <a:xfrm>
            <a:off x="4489704" y="2322576"/>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1</a:t>
            </a:r>
            <a:endParaRPr lang="en-US" sz="1100" dirty="0"/>
          </a:p>
        </p:txBody>
      </p:sp>
      <p:sp>
        <p:nvSpPr>
          <p:cNvPr id="23" name="Text 21"/>
          <p:cNvSpPr/>
          <p:nvPr/>
        </p:nvSpPr>
        <p:spPr>
          <a:xfrm>
            <a:off x="5422392" y="2322576"/>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6</a:t>
            </a:r>
            <a:endParaRPr lang="en-US" sz="1100" dirty="0"/>
          </a:p>
        </p:txBody>
      </p:sp>
      <p:sp>
        <p:nvSpPr>
          <p:cNvPr id="24" name="Text 22"/>
          <p:cNvSpPr/>
          <p:nvPr/>
        </p:nvSpPr>
        <p:spPr>
          <a:xfrm>
            <a:off x="6035040" y="2322576"/>
            <a:ext cx="1325880" cy="329184"/>
          </a:xfrm>
          <a:prstGeom prst="rect">
            <a:avLst/>
          </a:prstGeom>
          <a:noFill/>
          <a:ln/>
        </p:spPr>
        <p:txBody>
          <a:bodyPr wrap="square" lIns="0" tIns="0" rIns="0" bIns="0" rtlCol="0" anchor="ctr"/>
          <a:lstStyle/>
          <a:p>
            <a:pPr algn="r" indent="0" marL="0">
              <a:buNone/>
            </a:pPr>
            <a:r>
              <a:rPr lang="en-US" sz="1100" b="1" dirty="0">
                <a:solidFill>
                  <a:srgbClr val="F2B84B"/>
                </a:solidFill>
                <a:latin typeface="Courier New" pitchFamily="34" charset="0"/>
                <a:ea typeface="Courier New" pitchFamily="34" charset="-122"/>
                <a:cs typeface="Courier New" pitchFamily="34" charset="-120"/>
              </a:rPr>
              <a:t>1.23×</a:t>
            </a:r>
            <a:endParaRPr lang="en-US" sz="1100" dirty="0"/>
          </a:p>
        </p:txBody>
      </p:sp>
      <p:sp>
        <p:nvSpPr>
          <p:cNvPr id="25" name="Shape 23"/>
          <p:cNvSpPr/>
          <p:nvPr/>
        </p:nvSpPr>
        <p:spPr>
          <a:xfrm>
            <a:off x="566928" y="2724912"/>
            <a:ext cx="7178040" cy="384048"/>
          </a:xfrm>
          <a:prstGeom prst="roundRect">
            <a:avLst>
              <a:gd name="adj" fmla="val 21429"/>
            </a:avLst>
          </a:prstGeom>
          <a:solidFill>
            <a:srgbClr val="161D28"/>
          </a:solidFill>
          <a:ln w="9525">
            <a:solidFill>
              <a:srgbClr val="232D3D"/>
            </a:solidFill>
            <a:prstDash val="solid"/>
          </a:ln>
        </p:spPr>
      </p:sp>
      <p:sp>
        <p:nvSpPr>
          <p:cNvPr id="26" name="Text 24"/>
          <p:cNvSpPr/>
          <p:nvPr/>
        </p:nvSpPr>
        <p:spPr>
          <a:xfrm>
            <a:off x="731520" y="2752344"/>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callers / blast radius</a:t>
            </a:r>
            <a:endParaRPr lang="en-US" sz="1050" dirty="0"/>
          </a:p>
        </p:txBody>
      </p:sp>
      <p:sp>
        <p:nvSpPr>
          <p:cNvPr id="27" name="Text 25"/>
          <p:cNvSpPr/>
          <p:nvPr/>
        </p:nvSpPr>
        <p:spPr>
          <a:xfrm>
            <a:off x="3081528" y="2752344"/>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a:t>
            </a:r>
            <a:endParaRPr lang="en-US" sz="1050" dirty="0"/>
          </a:p>
        </p:txBody>
      </p:sp>
      <p:sp>
        <p:nvSpPr>
          <p:cNvPr id="28" name="Text 26"/>
          <p:cNvSpPr/>
          <p:nvPr/>
        </p:nvSpPr>
        <p:spPr>
          <a:xfrm>
            <a:off x="3602736" y="2752344"/>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7</a:t>
            </a:r>
            <a:endParaRPr lang="en-US" sz="1100" dirty="0"/>
          </a:p>
        </p:txBody>
      </p:sp>
      <p:sp>
        <p:nvSpPr>
          <p:cNvPr id="29" name="Text 27"/>
          <p:cNvSpPr/>
          <p:nvPr/>
        </p:nvSpPr>
        <p:spPr>
          <a:xfrm>
            <a:off x="4489704" y="2752344"/>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30" name="Text 28"/>
          <p:cNvSpPr/>
          <p:nvPr/>
        </p:nvSpPr>
        <p:spPr>
          <a:xfrm>
            <a:off x="5422392" y="2752344"/>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3</a:t>
            </a:r>
            <a:endParaRPr lang="en-US" sz="1100" dirty="0"/>
          </a:p>
        </p:txBody>
      </p:sp>
      <p:sp>
        <p:nvSpPr>
          <p:cNvPr id="31" name="Text 29"/>
          <p:cNvSpPr/>
          <p:nvPr/>
        </p:nvSpPr>
        <p:spPr>
          <a:xfrm>
            <a:off x="6035040" y="2752344"/>
            <a:ext cx="1325880" cy="329184"/>
          </a:xfrm>
          <a:prstGeom prst="rect">
            <a:avLst/>
          </a:prstGeom>
          <a:noFill/>
          <a:ln/>
        </p:spPr>
        <p:txBody>
          <a:bodyPr wrap="square" lIns="0" tIns="0" rIns="0" bIns="0" rtlCol="0" anchor="ctr"/>
          <a:lstStyle/>
          <a:p>
            <a:pPr algn="r" indent="0" marL="0">
              <a:buNone/>
            </a:pPr>
            <a:r>
              <a:rPr lang="en-US" sz="1100" b="1" dirty="0">
                <a:solidFill>
                  <a:srgbClr val="4AC26B"/>
                </a:solidFill>
                <a:latin typeface="Courier New" pitchFamily="34" charset="0"/>
                <a:ea typeface="Courier New" pitchFamily="34" charset="-122"/>
                <a:cs typeface="Courier New" pitchFamily="34" charset="-120"/>
              </a:rPr>
              <a:t>0.39×</a:t>
            </a:r>
            <a:endParaRPr lang="en-US" sz="1100" dirty="0"/>
          </a:p>
        </p:txBody>
      </p:sp>
      <p:sp>
        <p:nvSpPr>
          <p:cNvPr id="32" name="Shape 30"/>
          <p:cNvSpPr/>
          <p:nvPr/>
        </p:nvSpPr>
        <p:spPr>
          <a:xfrm>
            <a:off x="566928" y="3154680"/>
            <a:ext cx="7178040" cy="384048"/>
          </a:xfrm>
          <a:prstGeom prst="roundRect">
            <a:avLst>
              <a:gd name="adj" fmla="val 21429"/>
            </a:avLst>
          </a:prstGeom>
          <a:solidFill>
            <a:srgbClr val="161D28"/>
          </a:solidFill>
          <a:ln w="9525">
            <a:solidFill>
              <a:srgbClr val="232D3D"/>
            </a:solidFill>
            <a:prstDash val="solid"/>
          </a:ln>
        </p:spPr>
      </p:sp>
      <p:sp>
        <p:nvSpPr>
          <p:cNvPr id="33" name="Text 31"/>
          <p:cNvSpPr/>
          <p:nvPr/>
        </p:nvSpPr>
        <p:spPr>
          <a:xfrm>
            <a:off x="731520" y="3182112"/>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task orientation</a:t>
            </a:r>
            <a:endParaRPr lang="en-US" sz="1050" dirty="0"/>
          </a:p>
        </p:txBody>
      </p:sp>
      <p:sp>
        <p:nvSpPr>
          <p:cNvPr id="34" name="Text 32"/>
          <p:cNvSpPr/>
          <p:nvPr/>
        </p:nvSpPr>
        <p:spPr>
          <a:xfrm>
            <a:off x="3081528" y="3182112"/>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9</a:t>
            </a:r>
            <a:endParaRPr lang="en-US" sz="1050" dirty="0"/>
          </a:p>
        </p:txBody>
      </p:sp>
      <p:sp>
        <p:nvSpPr>
          <p:cNvPr id="35" name="Text 33"/>
          <p:cNvSpPr/>
          <p:nvPr/>
        </p:nvSpPr>
        <p:spPr>
          <a:xfrm>
            <a:off x="3602736" y="3182112"/>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6</a:t>
            </a:r>
            <a:endParaRPr lang="en-US" sz="1100" dirty="0"/>
          </a:p>
        </p:txBody>
      </p:sp>
      <p:sp>
        <p:nvSpPr>
          <p:cNvPr id="36" name="Text 34"/>
          <p:cNvSpPr/>
          <p:nvPr/>
        </p:nvSpPr>
        <p:spPr>
          <a:xfrm>
            <a:off x="4489704" y="3182112"/>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37" name="Text 35"/>
          <p:cNvSpPr/>
          <p:nvPr/>
        </p:nvSpPr>
        <p:spPr>
          <a:xfrm>
            <a:off x="5422392" y="3182112"/>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1</a:t>
            </a:r>
            <a:endParaRPr lang="en-US" sz="1100" dirty="0"/>
          </a:p>
        </p:txBody>
      </p:sp>
      <p:sp>
        <p:nvSpPr>
          <p:cNvPr id="38" name="Text 36"/>
          <p:cNvSpPr/>
          <p:nvPr/>
        </p:nvSpPr>
        <p:spPr>
          <a:xfrm>
            <a:off x="6035040" y="3182112"/>
            <a:ext cx="1325880" cy="329184"/>
          </a:xfrm>
          <a:prstGeom prst="rect">
            <a:avLst/>
          </a:prstGeom>
          <a:noFill/>
          <a:ln/>
        </p:spPr>
        <p:txBody>
          <a:bodyPr wrap="square" lIns="0" tIns="0" rIns="0" bIns="0" rtlCol="0" anchor="ctr"/>
          <a:lstStyle/>
          <a:p>
            <a:pPr algn="r" indent="0" marL="0">
              <a:buNone/>
            </a:pPr>
            <a:r>
              <a:rPr lang="en-US" sz="1100" b="1" dirty="0">
                <a:solidFill>
                  <a:srgbClr val="4AC26B"/>
                </a:solidFill>
                <a:latin typeface="Courier New" pitchFamily="34" charset="0"/>
                <a:ea typeface="Courier New" pitchFamily="34" charset="-122"/>
                <a:cs typeface="Courier New" pitchFamily="34" charset="-120"/>
              </a:rPr>
              <a:t>0.06×</a:t>
            </a:r>
            <a:endParaRPr lang="en-US" sz="1100" dirty="0"/>
          </a:p>
        </p:txBody>
      </p:sp>
      <p:sp>
        <p:nvSpPr>
          <p:cNvPr id="39" name="Shape 37"/>
          <p:cNvSpPr/>
          <p:nvPr/>
        </p:nvSpPr>
        <p:spPr>
          <a:xfrm>
            <a:off x="566928" y="3584448"/>
            <a:ext cx="7178040" cy="402336"/>
          </a:xfrm>
          <a:prstGeom prst="roundRect">
            <a:avLst>
              <a:gd name="adj" fmla="val 20455"/>
            </a:avLst>
          </a:prstGeom>
          <a:solidFill>
            <a:srgbClr val="1B2432"/>
          </a:solidFill>
          <a:ln w="9525">
            <a:solidFill>
              <a:srgbClr val="232D3D"/>
            </a:solidFill>
            <a:prstDash val="solid"/>
          </a:ln>
        </p:spPr>
      </p:sp>
      <p:sp>
        <p:nvSpPr>
          <p:cNvPr id="40" name="Text 38"/>
          <p:cNvSpPr/>
          <p:nvPr/>
        </p:nvSpPr>
        <p:spPr>
          <a:xfrm>
            <a:off x="731520" y="3611880"/>
            <a:ext cx="2240280" cy="347472"/>
          </a:xfrm>
          <a:prstGeom prst="rect">
            <a:avLst/>
          </a:prstGeom>
          <a:noFill/>
          <a:ln/>
        </p:spPr>
        <p:txBody>
          <a:bodyPr wrap="square" lIns="0" tIns="0" rIns="0" bIns="0" rtlCol="0" anchor="ctr"/>
          <a:lstStyle/>
          <a:p>
            <a:pPr algn="l" indent="0" marL="0">
              <a:buNone/>
            </a:pPr>
            <a:r>
              <a:rPr lang="en-US" sz="1100" b="1" dirty="0">
                <a:solidFill>
                  <a:srgbClr val="E6EDF3"/>
                </a:solidFill>
                <a:latin typeface="Arial" pitchFamily="34" charset="0"/>
                <a:ea typeface="Arial" pitchFamily="34" charset="-122"/>
                <a:cs typeface="Arial" pitchFamily="34" charset="-120"/>
              </a:rPr>
              <a:t>all 48</a:t>
            </a:r>
            <a:endParaRPr lang="en-US" sz="1100" dirty="0"/>
          </a:p>
        </p:txBody>
      </p:sp>
      <p:sp>
        <p:nvSpPr>
          <p:cNvPr id="41" name="Text 39"/>
          <p:cNvSpPr/>
          <p:nvPr/>
        </p:nvSpPr>
        <p:spPr>
          <a:xfrm>
            <a:off x="3081528" y="3611880"/>
            <a:ext cx="411480" cy="347472"/>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48</a:t>
            </a:r>
            <a:endParaRPr lang="en-US" sz="1100" dirty="0"/>
          </a:p>
        </p:txBody>
      </p:sp>
      <p:sp>
        <p:nvSpPr>
          <p:cNvPr id="42" name="Text 40"/>
          <p:cNvSpPr/>
          <p:nvPr/>
        </p:nvSpPr>
        <p:spPr>
          <a:xfrm>
            <a:off x="3602736" y="3611880"/>
            <a:ext cx="777240" cy="347472"/>
          </a:xfrm>
          <a:prstGeom prst="rect">
            <a:avLst/>
          </a:prstGeom>
          <a:noFill/>
          <a:ln/>
        </p:spPr>
        <p:txBody>
          <a:bodyPr wrap="square" lIns="0" tIns="0" rIns="0" bIns="0" rtlCol="0" anchor="ctr"/>
          <a:lstStyle/>
          <a:p>
            <a:pPr algn="r" indent="0" marL="0">
              <a:buNone/>
            </a:pPr>
            <a:r>
              <a:rPr lang="en-US" sz="1250" b="1" dirty="0">
                <a:solidFill>
                  <a:srgbClr val="56D6E8"/>
                </a:solidFill>
                <a:latin typeface="Courier New" pitchFamily="34" charset="0"/>
                <a:ea typeface="Courier New" pitchFamily="34" charset="-122"/>
                <a:cs typeface="Courier New" pitchFamily="34" charset="-120"/>
              </a:rPr>
              <a:t>27</a:t>
            </a:r>
            <a:endParaRPr lang="en-US" sz="1250" dirty="0"/>
          </a:p>
        </p:txBody>
      </p:sp>
      <p:sp>
        <p:nvSpPr>
          <p:cNvPr id="43" name="Text 41"/>
          <p:cNvSpPr/>
          <p:nvPr/>
        </p:nvSpPr>
        <p:spPr>
          <a:xfrm>
            <a:off x="4489704" y="3611880"/>
            <a:ext cx="822960" cy="347472"/>
          </a:xfrm>
          <a:prstGeom prst="rect">
            <a:avLst/>
          </a:prstGeom>
          <a:noFill/>
          <a:ln/>
        </p:spPr>
        <p:txBody>
          <a:bodyPr wrap="square" lIns="0" tIns="0" rIns="0" bIns="0" rtlCol="0" anchor="ctr"/>
          <a:lstStyle/>
          <a:p>
            <a:pPr algn="r" indent="0" marL="0">
              <a:buNone/>
            </a:pPr>
            <a:r>
              <a:rPr lang="en-US" sz="1250" b="1" dirty="0">
                <a:solidFill>
                  <a:srgbClr val="E6EDF3"/>
                </a:solidFill>
                <a:latin typeface="Courier New" pitchFamily="34" charset="0"/>
                <a:ea typeface="Courier New" pitchFamily="34" charset="-122"/>
                <a:cs typeface="Courier New" pitchFamily="34" charset="-120"/>
              </a:rPr>
              <a:t>7</a:t>
            </a:r>
            <a:endParaRPr lang="en-US" sz="1250" dirty="0"/>
          </a:p>
        </p:txBody>
      </p:sp>
      <p:sp>
        <p:nvSpPr>
          <p:cNvPr id="44" name="Text 42"/>
          <p:cNvSpPr/>
          <p:nvPr/>
        </p:nvSpPr>
        <p:spPr>
          <a:xfrm>
            <a:off x="5422392" y="3611880"/>
            <a:ext cx="502920" cy="347472"/>
          </a:xfrm>
          <a:prstGeom prst="rect">
            <a:avLst/>
          </a:prstGeom>
          <a:noFill/>
          <a:ln/>
        </p:spPr>
        <p:txBody>
          <a:bodyPr wrap="square" lIns="0" tIns="0" rIns="0" bIns="0" rtlCol="0" anchor="ctr"/>
          <a:lstStyle/>
          <a:p>
            <a:pPr algn="r" indent="0" marL="0">
              <a:buNone/>
            </a:pPr>
            <a:r>
              <a:rPr lang="en-US" sz="1250" dirty="0">
                <a:solidFill>
                  <a:srgbClr val="8B95A5"/>
                </a:solidFill>
                <a:latin typeface="Courier New" pitchFamily="34" charset="0"/>
                <a:ea typeface="Courier New" pitchFamily="34" charset="-122"/>
                <a:cs typeface="Courier New" pitchFamily="34" charset="-120"/>
              </a:rPr>
              <a:t>14</a:t>
            </a:r>
            <a:endParaRPr lang="en-US" sz="1250" dirty="0"/>
          </a:p>
        </p:txBody>
      </p:sp>
      <p:sp>
        <p:nvSpPr>
          <p:cNvPr id="45" name="Text 43"/>
          <p:cNvSpPr/>
          <p:nvPr/>
        </p:nvSpPr>
        <p:spPr>
          <a:xfrm>
            <a:off x="6035040" y="3611880"/>
            <a:ext cx="1325880" cy="347472"/>
          </a:xfrm>
          <a:prstGeom prst="rect">
            <a:avLst/>
          </a:prstGeom>
          <a:noFill/>
          <a:ln/>
        </p:spPr>
        <p:txBody>
          <a:bodyPr wrap="square" lIns="0" tIns="0" rIns="0" bIns="0" rtlCol="0" anchor="ctr"/>
          <a:lstStyle/>
          <a:p>
            <a:pPr algn="r" indent="0" marL="0">
              <a:buNone/>
            </a:pPr>
            <a:r>
              <a:rPr lang="en-US" sz="1250" b="1" dirty="0">
                <a:solidFill>
                  <a:srgbClr val="4AC26B"/>
                </a:solidFill>
                <a:latin typeface="Courier New" pitchFamily="34" charset="0"/>
                <a:ea typeface="Courier New" pitchFamily="34" charset="-122"/>
                <a:cs typeface="Courier New" pitchFamily="34" charset="-120"/>
              </a:rPr>
              <a:t>0.159×</a:t>
            </a:r>
            <a:endParaRPr lang="en-US" sz="1250" dirty="0"/>
          </a:p>
        </p:txBody>
      </p:sp>
      <p:sp>
        <p:nvSpPr>
          <p:cNvPr id="46" name="Shape 44"/>
          <p:cNvSpPr/>
          <p:nvPr/>
        </p:nvSpPr>
        <p:spPr>
          <a:xfrm>
            <a:off x="7909560" y="1517904"/>
            <a:ext cx="3621024" cy="1572768"/>
          </a:xfrm>
          <a:prstGeom prst="roundRect">
            <a:avLst>
              <a:gd name="adj" fmla="val 5233"/>
            </a:avLst>
          </a:prstGeom>
          <a:solidFill>
            <a:srgbClr val="161D28"/>
          </a:solidFill>
          <a:ln w="9525">
            <a:solidFill>
              <a:srgbClr val="232D3D"/>
            </a:solidFill>
            <a:prstDash val="solid"/>
          </a:ln>
        </p:spPr>
      </p:sp>
      <p:sp>
        <p:nvSpPr>
          <p:cNvPr id="47" name="Text 45"/>
          <p:cNvSpPr/>
          <p:nvPr/>
        </p:nvSpPr>
        <p:spPr>
          <a:xfrm>
            <a:off x="8092440" y="1609344"/>
            <a:ext cx="32918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The cost of the whole sweep</a:t>
            </a:r>
            <a:endParaRPr lang="en-US" sz="1250" dirty="0"/>
          </a:p>
        </p:txBody>
      </p:sp>
      <p:sp>
        <p:nvSpPr>
          <p:cNvPr id="48" name="Text 46"/>
          <p:cNvSpPr/>
          <p:nvPr/>
        </p:nvSpPr>
        <p:spPr>
          <a:xfrm>
            <a:off x="8092440" y="1920240"/>
            <a:ext cx="3291840" cy="1097280"/>
          </a:xfrm>
          <a:prstGeom prst="rect">
            <a:avLst/>
          </a:prstGeom>
          <a:noFill/>
          <a:ln/>
        </p:spPr>
        <p:txBody>
          <a:bodyPr wrap="square" lIns="0" tIns="0" rIns="0" bIns="0" rtlCol="0" anchor="t"/>
          <a:lstStyle/>
          <a:p>
            <a:pPr indent="0" marL="0">
              <a:buNone/>
            </a:pPr>
            <a:r>
              <a:rPr lang="en-US" sz="1300" b="1" dirty="0">
                <a:solidFill>
                  <a:srgbClr val="56D6E8"/>
                </a:solidFill>
                <a:latin typeface="Arial" pitchFamily="34" charset="0"/>
                <a:ea typeface="Arial" pitchFamily="34" charset="-122"/>
                <a:cs typeface="Arial" pitchFamily="34" charset="-120"/>
              </a:rPr>
              <a:t>309,348 B</a:t>
            </a:r>
            <a:pPr indent="0" marL="0">
              <a:buNone/>
            </a:pPr>
            <a:r>
              <a:rPr lang="en-US" sz="1100" dirty="0">
                <a:solidFill>
                  <a:srgbClr val="8B95A5"/>
                </a:solidFill>
                <a:latin typeface="Arial" pitchFamily="34" charset="0"/>
                <a:ea typeface="Arial" pitchFamily="34" charset="-122"/>
                <a:cs typeface="Arial" pitchFamily="34" charset="-120"/>
              </a:rPr>
              <a:t> against </a:t>
            </a:r>
            <a:pPr indent="0" marL="0">
              <a:buNone/>
            </a:pPr>
            <a:r>
              <a:rPr lang="en-US" sz="1100" dirty="0">
                <a:solidFill>
                  <a:srgbClr val="E6EDF3"/>
                </a:solidFill>
                <a:latin typeface="Arial" pitchFamily="34" charset="0"/>
                <a:ea typeface="Arial" pitchFamily="34" charset="-122"/>
                <a:cs typeface="Arial" pitchFamily="34" charset="-120"/>
              </a:rPr>
              <a:t>1,945,231 B</a:t>
            </a:r>
            <a:pPr indent="0" marL="0">
              <a:buNone/>
            </a:pPr>
            <a:r>
              <a:rPr lang="en-US" sz="1050" dirty="0">
                <a:solidFill>
                  <a:srgbClr val="8B95A5"/>
                </a:solidFill>
                <a:latin typeface="Arial" pitchFamily="34" charset="0"/>
                <a:ea typeface="Arial" pitchFamily="34" charset="-122"/>
                <a:cs typeface="Arial" pitchFamily="34" charset="-120"/>
              </a:rPr>
              <a:t>. Warm median 197 ms against 1,082 ms. Index 0.25–0.45 s / 6.6–16.5 MB against 23–52 s / 391–623 MB — written into the repository, not $TMPDIR.</a:t>
            </a:r>
            <a:endParaRPr lang="en-US" sz="1300" dirty="0"/>
          </a:p>
        </p:txBody>
      </p:sp>
      <p:sp>
        <p:nvSpPr>
          <p:cNvPr id="49" name="Shape 47"/>
          <p:cNvSpPr/>
          <p:nvPr/>
        </p:nvSpPr>
        <p:spPr>
          <a:xfrm>
            <a:off x="7909560" y="3182112"/>
            <a:ext cx="3621024" cy="804672"/>
          </a:xfrm>
          <a:prstGeom prst="roundRect">
            <a:avLst>
              <a:gd name="adj" fmla="val 10227"/>
            </a:avLst>
          </a:prstGeom>
          <a:solidFill>
            <a:srgbClr val="1B2432"/>
          </a:solidFill>
          <a:ln w="9525">
            <a:solidFill>
              <a:srgbClr val="232D3D"/>
            </a:solidFill>
            <a:prstDash val="solid"/>
          </a:ln>
        </p:spPr>
      </p:sp>
      <p:sp>
        <p:nvSpPr>
          <p:cNvPr id="50" name="Text 48"/>
          <p:cNvSpPr/>
          <p:nvPr/>
        </p:nvSpPr>
        <p:spPr>
          <a:xfrm>
            <a:off x="8092440" y="3255264"/>
            <a:ext cx="3291840" cy="658368"/>
          </a:xfrm>
          <a:prstGeom prst="rect">
            <a:avLst/>
          </a:prstGeom>
          <a:noFill/>
          <a:ln/>
        </p:spPr>
        <p:txBody>
          <a:bodyPr wrap="square" lIns="0" tIns="0" rIns="0" bIns="0" rtlCol="0" anchor="ctr"/>
          <a:lstStyle/>
          <a:p>
            <a:pPr indent="0" marL="0">
              <a:buNone/>
            </a:pPr>
            <a:r>
              <a:rPr lang="en-US" sz="950" b="1" dirty="0">
                <a:solidFill>
                  <a:srgbClr val="F2B84B"/>
                </a:solidFill>
                <a:latin typeface="Arial" pitchFamily="34" charset="0"/>
                <a:ea typeface="Arial" pitchFamily="34" charset="-122"/>
                <a:cs typeface="Arial" pitchFamily="34" charset="-120"/>
              </a:rPr>
              <a:t>What it does better: </a:t>
            </a:r>
            <a:pPr indent="0" marL="0">
              <a:buNone/>
            </a:pPr>
            <a:r>
              <a:rPr lang="en-US" sz="950" dirty="0">
                <a:solidFill>
                  <a:srgbClr val="8B95A5"/>
                </a:solidFill>
                <a:latin typeface="Arial" pitchFamily="34" charset="0"/>
                <a:ea typeface="Arial" pitchFamily="34" charset="-122"/>
                <a:cs typeface="Arial" pitchFamily="34" charset="-120"/>
              </a:rPr>
              <a:t>compact one-hop context at 0.7–1.0 KB, a depth-LABELLED blast radius, per-stage timing on every query, and two-command onboarding into eight agents.</a:t>
            </a:r>
            <a:endParaRPr lang="en-US" sz="950" dirty="0"/>
          </a:p>
        </p:txBody>
      </p:sp>
      <p:sp>
        <p:nvSpPr>
          <p:cNvPr id="51" name="Shape 49"/>
          <p:cNvSpPr/>
          <p:nvPr/>
        </p:nvSpPr>
        <p:spPr>
          <a:xfrm>
            <a:off x="7909560" y="4023360"/>
            <a:ext cx="3621024" cy="2103120"/>
          </a:xfrm>
          <a:prstGeom prst="roundRect">
            <a:avLst>
              <a:gd name="adj" fmla="val 3913"/>
            </a:avLst>
          </a:prstGeom>
          <a:solidFill>
            <a:srgbClr val="1B2432"/>
          </a:solidFill>
          <a:ln w="9525">
            <a:solidFill>
              <a:srgbClr val="232D3D"/>
            </a:solidFill>
            <a:prstDash val="solid"/>
          </a:ln>
        </p:spPr>
      </p:sp>
      <p:sp>
        <p:nvSpPr>
          <p:cNvPr id="52" name="Text 50"/>
          <p:cNvSpPr/>
          <p:nvPr/>
        </p:nvSpPr>
        <p:spPr>
          <a:xfrm>
            <a:off x="8092440" y="4133088"/>
            <a:ext cx="32918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Failure modes, both directions</a:t>
            </a:r>
            <a:endParaRPr lang="en-US" sz="1250" dirty="0"/>
          </a:p>
        </p:txBody>
      </p:sp>
      <p:sp>
        <p:nvSpPr>
          <p:cNvPr id="53" name="Text 51"/>
          <p:cNvSpPr/>
          <p:nvPr/>
        </p:nvSpPr>
        <p:spPr>
          <a:xfrm>
            <a:off x="8092440" y="44622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needed a 2nd call</a:t>
            </a:r>
            <a:endParaRPr lang="en-US" sz="950" dirty="0"/>
          </a:p>
        </p:txBody>
      </p:sp>
      <p:sp>
        <p:nvSpPr>
          <p:cNvPr id="54" name="Text 52"/>
          <p:cNvSpPr/>
          <p:nvPr/>
        </p:nvSpPr>
        <p:spPr>
          <a:xfrm>
            <a:off x="10149840" y="44622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55" name="Text 53"/>
          <p:cNvSpPr/>
          <p:nvPr/>
        </p:nvSpPr>
        <p:spPr>
          <a:xfrm>
            <a:off x="10625328" y="44622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8/48</a:t>
            </a:r>
            <a:endParaRPr lang="en-US" sz="1100" dirty="0"/>
          </a:p>
        </p:txBody>
      </p:sp>
      <p:sp>
        <p:nvSpPr>
          <p:cNvPr id="56" name="Text 54"/>
          <p:cNvSpPr/>
          <p:nvPr/>
        </p:nvSpPr>
        <p:spPr>
          <a:xfrm>
            <a:off x="8092440" y="49194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empty radius, real callers</a:t>
            </a:r>
            <a:endParaRPr lang="en-US" sz="950" dirty="0"/>
          </a:p>
        </p:txBody>
      </p:sp>
      <p:sp>
        <p:nvSpPr>
          <p:cNvPr id="57" name="Text 55"/>
          <p:cNvSpPr/>
          <p:nvPr/>
        </p:nvSpPr>
        <p:spPr>
          <a:xfrm>
            <a:off x="10149840" y="49194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58" name="Text 56"/>
          <p:cNvSpPr/>
          <p:nvPr/>
        </p:nvSpPr>
        <p:spPr>
          <a:xfrm>
            <a:off x="10625328" y="49194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1</a:t>
            </a:r>
            <a:endParaRPr lang="en-US" sz="1100" dirty="0"/>
          </a:p>
        </p:txBody>
      </p:sp>
      <p:sp>
        <p:nvSpPr>
          <p:cNvPr id="59" name="Text 57"/>
          <p:cNvSpPr/>
          <p:nvPr/>
        </p:nvSpPr>
        <p:spPr>
          <a:xfrm>
            <a:off x="8092440" y="53766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malformed through a pipe</a:t>
            </a:r>
            <a:endParaRPr lang="en-US" sz="950" dirty="0"/>
          </a:p>
        </p:txBody>
      </p:sp>
      <p:sp>
        <p:nvSpPr>
          <p:cNvPr id="60" name="Text 58"/>
          <p:cNvSpPr/>
          <p:nvPr/>
        </p:nvSpPr>
        <p:spPr>
          <a:xfrm>
            <a:off x="10149840" y="53766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61" name="Text 59"/>
          <p:cNvSpPr/>
          <p:nvPr/>
        </p:nvSpPr>
        <p:spPr>
          <a:xfrm>
            <a:off x="10625328" y="53766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7/48</a:t>
            </a:r>
            <a:endParaRPr lang="en-US" sz="1100" dirty="0"/>
          </a:p>
        </p:txBody>
      </p:sp>
      <p:sp>
        <p:nvSpPr>
          <p:cNvPr id="62" name="Text 60"/>
          <p:cNvSpPr/>
          <p:nvPr/>
        </p:nvSpPr>
        <p:spPr>
          <a:xfrm>
            <a:off x="8092440" y="5779008"/>
            <a:ext cx="3291840" cy="292608"/>
          </a:xfrm>
          <a:prstGeom prst="rect">
            <a:avLst/>
          </a:prstGeom>
          <a:noFill/>
          <a:ln/>
        </p:spPr>
        <p:txBody>
          <a:bodyPr wrap="square" lIns="0" tIns="0" rIns="0" bIns="0" rtlCol="0" anchor="ctr"/>
          <a:lstStyle/>
          <a:p>
            <a:pPr indent="0" marL="0">
              <a:buNone/>
            </a:pPr>
            <a:r>
              <a:rPr lang="en-US" sz="850" i="1" dirty="0">
                <a:solidFill>
                  <a:srgbClr val="8B95A5"/>
                </a:solidFill>
                <a:latin typeface="Arial" pitchFamily="34" charset="0"/>
                <a:ea typeface="Arial" pitchFamily="34" charset="-122"/>
                <a:cs typeface="Arial" pitchFamily="34" charset="-120"/>
              </a:rPr>
              <a:t>The published numbers use the file-redirected form — the configuration favourable to it.</a:t>
            </a:r>
            <a:endParaRPr lang="en-US" sz="850" dirty="0"/>
          </a:p>
        </p:txBody>
      </p:sp>
      <p:sp>
        <p:nvSpPr>
          <p:cNvPr id="63" name="Shape 61"/>
          <p:cNvSpPr/>
          <p:nvPr/>
        </p:nvSpPr>
        <p:spPr>
          <a:xfrm>
            <a:off x="566928" y="4023360"/>
            <a:ext cx="7178040" cy="2103120"/>
          </a:xfrm>
          <a:prstGeom prst="roundRect">
            <a:avLst>
              <a:gd name="adj" fmla="val 3913"/>
            </a:avLst>
          </a:prstGeom>
          <a:solidFill>
            <a:srgbClr val="161D28"/>
          </a:solidFill>
          <a:ln w="9525">
            <a:solidFill>
              <a:srgbClr val="232D3D"/>
            </a:solidFill>
            <a:prstDash val="solid"/>
          </a:ln>
        </p:spPr>
      </p:sp>
      <p:sp>
        <p:nvSpPr>
          <p:cNvPr id="64" name="Text 62"/>
          <p:cNvSpPr/>
          <p:nvPr/>
        </p:nvSpPr>
        <p:spPr>
          <a:xfrm>
            <a:off x="768096" y="4133088"/>
            <a:ext cx="6766560" cy="1883664"/>
          </a:xfrm>
          <a:prstGeom prst="rect">
            <a:avLst/>
          </a:prstGeom>
          <a:noFill/>
          <a:ln/>
        </p:spPr>
        <p:txBody>
          <a:bodyPr wrap="square" lIns="0" tIns="0" rIns="0" bIns="0" rtlCol="0" anchor="ctr"/>
          <a:lstStyle/>
          <a:p>
            <a:pPr indent="0" marL="0">
              <a:buNone/>
            </a:pPr>
            <a:r>
              <a:rPr lang="en-US" sz="1050" b="1" dirty="0">
                <a:solidFill>
                  <a:srgbClr val="F2B84B"/>
                </a:solidFill>
                <a:latin typeface="Arial" pitchFamily="34" charset="0"/>
                <a:ea typeface="Arial" pitchFamily="34" charset="-122"/>
                <a:cs typeface="Arial" pitchFamily="34" charset="-120"/>
              </a:rPr>
              <a:t>Its seven wins are named one by one, and its first-pass numbers do not exist. </a:t>
            </a:r>
            <a:pPr indent="0" marL="0">
              <a:buNone/>
            </a:pPr>
            <a:r>
              <a:rPr lang="en-US" sz="1050" dirty="0">
                <a:solidFill>
                  <a:srgbClr val="8B95A5"/>
                </a:solidFill>
                <a:latin typeface="Arial" pitchFamily="34" charset="0"/>
                <a:ea typeface="Arial" pitchFamily="34" charset="-122"/>
                <a:cs typeface="Arial" pitchFamily="34" charset="-120"/>
              </a:rPr>
              <a:t>Four are cost losses on an answer ripwire gets right — a by-name lookup it serves in ~1 KB where ripwire spends 3× to also hand back the body. Three are ranking misses on webpack, and two of those share one unfixed mechanism: a symbol whose NAME matches the query beats the implementation that carries it in its body. Under the improve-first rule the round's FIRST pass was never published — its product was a loss list, and what is on this slide is the state after that list was worked. One of those fixes met its pre-registered band and was reverted anyway for failing a separate standing requirement; </a:t>
            </a:r>
            <a:pPr indent="0" marL="0">
              <a:buNone/>
            </a:pPr>
            <a:r>
              <a:rPr lang="en-US" sz="1050" b="1" dirty="0">
                <a:solidFill>
                  <a:srgbClr val="E6EDF3"/>
                </a:solidFill>
                <a:latin typeface="Arial" pitchFamily="34" charset="0"/>
                <a:ea typeface="Arial" pitchFamily="34" charset="-122"/>
                <a:cs typeface="Arial" pitchFamily="34" charset="-120"/>
              </a:rPr>
              <a:t>the loss it would have fixed is still counted against us above.</a:t>
            </a:r>
            <a:endParaRPr lang="en-US" sz="1050" dirty="0"/>
          </a:p>
        </p:txBody>
      </p:sp>
      <p:sp>
        <p:nvSpPr>
          <p:cNvPr id="65" name="Text 63"/>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§2 — GitNexus 1.6.9 (npm latest at 2026-08-22) vs ripwire at 7eb638e; django, webpack and this repository, all tree-hash verified clean · ratios are on class TOTALS, the medians form is printed there too because the two disagree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rule: numbers are held back until the loss list is worked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2800" b="1" dirty="0">
                <a:solidFill>
                  <a:srgbClr val="E6EDF3"/>
                </a:solidFill>
                <a:latin typeface="Arial" pitchFamily="34" charset="0"/>
                <a:ea typeface="Arial" pitchFamily="34" charset="-122"/>
                <a:cs typeface="Arial" pitchFamily="34" charset="-120"/>
              </a:rPr>
              <a:t>Every head-to-head round, and the ones that went against us</a:t>
            </a:r>
            <a:endParaRPr lang="en-US" sz="2800" dirty="0"/>
          </a:p>
        </p:txBody>
      </p:sp>
      <p:sp>
        <p:nvSpPr>
          <p:cNvPr id="4" name="Shape 2"/>
          <p:cNvSpPr/>
          <p:nvPr/>
        </p:nvSpPr>
        <p:spPr>
          <a:xfrm>
            <a:off x="566928" y="1536192"/>
            <a:ext cx="11055096" cy="457200"/>
          </a:xfrm>
          <a:prstGeom prst="roundRect">
            <a:avLst>
              <a:gd name="adj" fmla="val 18000"/>
            </a:avLst>
          </a:prstGeom>
          <a:solidFill>
            <a:srgbClr val="161D28"/>
          </a:solidFill>
          <a:ln w="9525">
            <a:solidFill>
              <a:srgbClr val="232D3D"/>
            </a:solidFill>
            <a:prstDash val="solid"/>
          </a:ln>
        </p:spPr>
      </p:sp>
      <p:sp>
        <p:nvSpPr>
          <p:cNvPr id="5" name="Text 3"/>
          <p:cNvSpPr/>
          <p:nvPr/>
        </p:nvSpPr>
        <p:spPr>
          <a:xfrm>
            <a:off x="731520" y="1563624"/>
            <a:ext cx="457200" cy="402336"/>
          </a:xfrm>
          <a:prstGeom prst="rect">
            <a:avLst/>
          </a:prstGeom>
          <a:noFill/>
          <a:ln/>
        </p:spPr>
        <p:txBody>
          <a:bodyPr wrap="square" lIns="0" tIns="0" rIns="0" bIns="0" rtlCol="0" anchor="ctr"/>
          <a:lstStyle/>
          <a:p>
            <a:pPr algn="l" indent="0" marL="0">
              <a:buNone/>
            </a:pPr>
            <a:r>
              <a:rPr lang="en-US" sz="1250" b="1" dirty="0">
                <a:solidFill>
                  <a:srgbClr val="8B95A5"/>
                </a:solidFill>
                <a:latin typeface="Courier New" pitchFamily="34" charset="0"/>
                <a:ea typeface="Courier New" pitchFamily="34" charset="-122"/>
                <a:cs typeface="Courier New" pitchFamily="34" charset="-120"/>
              </a:rPr>
              <a:t>r1</a:t>
            </a:r>
            <a:endParaRPr lang="en-US" sz="1250" dirty="0"/>
          </a:p>
        </p:txBody>
      </p:sp>
      <p:sp>
        <p:nvSpPr>
          <p:cNvPr id="6" name="Text 4"/>
          <p:cNvSpPr/>
          <p:nvPr/>
        </p:nvSpPr>
        <p:spPr>
          <a:xfrm>
            <a:off x="1298448" y="1563624"/>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2026-07-13/14</a:t>
            </a:r>
            <a:endParaRPr lang="en-US" sz="1050" dirty="0"/>
          </a:p>
        </p:txBody>
      </p:sp>
      <p:sp>
        <p:nvSpPr>
          <p:cNvPr id="7" name="Text 5"/>
          <p:cNvSpPr/>
          <p:nvPr/>
        </p:nvSpPr>
        <p:spPr>
          <a:xfrm>
            <a:off x="2642616" y="1563624"/>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Aider repo-map · codebase-memory-mcp · graphify</a:t>
            </a:r>
            <a:endParaRPr lang="en-US" sz="1150" dirty="0"/>
          </a:p>
        </p:txBody>
      </p:sp>
      <p:sp>
        <p:nvSpPr>
          <p:cNvPr id="8" name="Text 6"/>
          <p:cNvSpPr/>
          <p:nvPr/>
        </p:nvSpPr>
        <p:spPr>
          <a:xfrm>
            <a:off x="7598664" y="1563624"/>
            <a:ext cx="3931920" cy="402336"/>
          </a:xfrm>
          <a:prstGeom prst="rect">
            <a:avLst/>
          </a:prstGeom>
          <a:noFill/>
          <a:ln/>
        </p:spPr>
        <p:txBody>
          <a:bodyPr wrap="square" lIns="0" tIns="0" rIns="0" bIns="0" rtlCol="0" anchor="ctr"/>
          <a:lstStyle/>
          <a:p>
            <a:pPr algn="l" indent="0" marL="0">
              <a:buNone/>
            </a:pPr>
            <a:r>
              <a:rPr lang="en-US" sz="1100" i="1" dirty="0">
                <a:solidFill>
                  <a:srgbClr val="8B95A5"/>
                </a:solidFill>
                <a:latin typeface="Arial" pitchFamily="34" charset="0"/>
                <a:ea typeface="Arial" pitchFamily="34" charset="-122"/>
                <a:cs typeface="Arial" pitchFamily="34" charset="-120"/>
              </a:rPr>
              <a:t>superseded by r4</a:t>
            </a:r>
            <a:endParaRPr lang="en-US" sz="1100" dirty="0"/>
          </a:p>
        </p:txBody>
      </p:sp>
      <p:sp>
        <p:nvSpPr>
          <p:cNvPr id="9" name="Shape 7"/>
          <p:cNvSpPr/>
          <p:nvPr/>
        </p:nvSpPr>
        <p:spPr>
          <a:xfrm>
            <a:off x="566928" y="1984248"/>
            <a:ext cx="11055096" cy="457200"/>
          </a:xfrm>
          <a:prstGeom prst="roundRect">
            <a:avLst>
              <a:gd name="adj" fmla="val 18000"/>
            </a:avLst>
          </a:prstGeom>
          <a:solidFill>
            <a:srgbClr val="161D28"/>
          </a:solidFill>
          <a:ln w="9525">
            <a:solidFill>
              <a:srgbClr val="232D3D"/>
            </a:solidFill>
            <a:prstDash val="solid"/>
          </a:ln>
        </p:spPr>
      </p:sp>
      <p:sp>
        <p:nvSpPr>
          <p:cNvPr id="10" name="Text 8"/>
          <p:cNvSpPr/>
          <p:nvPr/>
        </p:nvSpPr>
        <p:spPr>
          <a:xfrm>
            <a:off x="731520" y="2011680"/>
            <a:ext cx="457200" cy="402336"/>
          </a:xfrm>
          <a:prstGeom prst="rect">
            <a:avLst/>
          </a:prstGeom>
          <a:noFill/>
          <a:ln/>
        </p:spPr>
        <p:txBody>
          <a:bodyPr wrap="square" lIns="0" tIns="0" rIns="0" bIns="0" rtlCol="0" anchor="ctr"/>
          <a:lstStyle/>
          <a:p>
            <a:pPr algn="l" indent="0" marL="0">
              <a:buNone/>
            </a:pPr>
            <a:r>
              <a:rPr lang="en-US" sz="1250" b="1" dirty="0">
                <a:solidFill>
                  <a:srgbClr val="8B95A5"/>
                </a:solidFill>
                <a:latin typeface="Courier New" pitchFamily="34" charset="0"/>
                <a:ea typeface="Courier New" pitchFamily="34" charset="-122"/>
                <a:cs typeface="Courier New" pitchFamily="34" charset="-120"/>
              </a:rPr>
              <a:t>r2</a:t>
            </a:r>
            <a:endParaRPr lang="en-US" sz="1250" dirty="0"/>
          </a:p>
        </p:txBody>
      </p:sp>
      <p:sp>
        <p:nvSpPr>
          <p:cNvPr id="11" name="Text 9"/>
          <p:cNvSpPr/>
          <p:nvPr/>
        </p:nvSpPr>
        <p:spPr>
          <a:xfrm>
            <a:off x="1298448" y="2011680"/>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2026-08-03</a:t>
            </a:r>
            <a:endParaRPr lang="en-US" sz="1050" dirty="0"/>
          </a:p>
        </p:txBody>
      </p:sp>
      <p:sp>
        <p:nvSpPr>
          <p:cNvPr id="12" name="Text 10"/>
          <p:cNvSpPr/>
          <p:nvPr/>
        </p:nvSpPr>
        <p:spPr>
          <a:xfrm>
            <a:off x="2642616" y="2011680"/>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repowise · codeseek</a:t>
            </a:r>
            <a:endParaRPr lang="en-US" sz="1150" dirty="0"/>
          </a:p>
        </p:txBody>
      </p:sp>
      <p:sp>
        <p:nvSpPr>
          <p:cNvPr id="13" name="Text 11"/>
          <p:cNvSpPr/>
          <p:nvPr/>
        </p:nvSpPr>
        <p:spPr>
          <a:xfrm>
            <a:off x="7598664" y="2011680"/>
            <a:ext cx="3931920" cy="402336"/>
          </a:xfrm>
          <a:prstGeom prst="rect">
            <a:avLst/>
          </a:prstGeom>
          <a:noFill/>
          <a:ln/>
        </p:spPr>
        <p:txBody>
          <a:bodyPr wrap="square" lIns="0" tIns="0" rIns="0" bIns="0" rtlCol="0" anchor="ctr"/>
          <a:lstStyle/>
          <a:p>
            <a:pPr algn="l" indent="0" marL="0">
              <a:buNone/>
            </a:pPr>
            <a:r>
              <a:rPr lang="en-US" sz="1100" i="1" dirty="0">
                <a:solidFill>
                  <a:srgbClr val="8B95A5"/>
                </a:solidFill>
                <a:latin typeface="Arial" pitchFamily="34" charset="0"/>
                <a:ea typeface="Arial" pitchFamily="34" charset="-122"/>
                <a:cs typeface="Arial" pitchFamily="34" charset="-120"/>
              </a:rPr>
              <a:t>superseded by r4</a:t>
            </a:r>
            <a:endParaRPr lang="en-US" sz="1100" dirty="0"/>
          </a:p>
        </p:txBody>
      </p:sp>
      <p:sp>
        <p:nvSpPr>
          <p:cNvPr id="14" name="Shape 12"/>
          <p:cNvSpPr/>
          <p:nvPr/>
        </p:nvSpPr>
        <p:spPr>
          <a:xfrm>
            <a:off x="566928" y="2432304"/>
            <a:ext cx="11055096" cy="457200"/>
          </a:xfrm>
          <a:prstGeom prst="roundRect">
            <a:avLst>
              <a:gd name="adj" fmla="val 18000"/>
            </a:avLst>
          </a:prstGeom>
          <a:solidFill>
            <a:srgbClr val="161D28"/>
          </a:solidFill>
          <a:ln w="9525">
            <a:solidFill>
              <a:srgbClr val="232D3D"/>
            </a:solidFill>
            <a:prstDash val="solid"/>
          </a:ln>
        </p:spPr>
      </p:sp>
      <p:sp>
        <p:nvSpPr>
          <p:cNvPr id="15" name="Text 13"/>
          <p:cNvSpPr/>
          <p:nvPr/>
        </p:nvSpPr>
        <p:spPr>
          <a:xfrm>
            <a:off x="731520" y="2459736"/>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r3</a:t>
            </a:r>
            <a:endParaRPr lang="en-US" sz="1250" dirty="0"/>
          </a:p>
        </p:txBody>
      </p:sp>
      <p:sp>
        <p:nvSpPr>
          <p:cNvPr id="16" name="Text 14"/>
          <p:cNvSpPr/>
          <p:nvPr/>
        </p:nvSpPr>
        <p:spPr>
          <a:xfrm>
            <a:off x="1298448" y="2459736"/>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2026-08-03</a:t>
            </a:r>
            <a:endParaRPr lang="en-US" sz="1050" dirty="0"/>
          </a:p>
        </p:txBody>
      </p:sp>
      <p:sp>
        <p:nvSpPr>
          <p:cNvPr id="17" name="Text 15"/>
          <p:cNvSpPr/>
          <p:nvPr/>
        </p:nvSpPr>
        <p:spPr>
          <a:xfrm>
            <a:off x="2642616" y="2459736"/>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headroom — a compression layer, so a different instrument</a:t>
            </a:r>
            <a:endParaRPr lang="en-US" sz="1150" dirty="0"/>
          </a:p>
        </p:txBody>
      </p:sp>
      <p:sp>
        <p:nvSpPr>
          <p:cNvPr id="18" name="Text 16"/>
          <p:cNvSpPr/>
          <p:nvPr/>
        </p:nvSpPr>
        <p:spPr>
          <a:xfrm>
            <a:off x="7598664" y="2459736"/>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passed code through byte-identical</a:t>
            </a:r>
            <a:endParaRPr lang="en-US" sz="1100" dirty="0"/>
          </a:p>
        </p:txBody>
      </p:sp>
      <p:sp>
        <p:nvSpPr>
          <p:cNvPr id="19" name="Shape 17"/>
          <p:cNvSpPr/>
          <p:nvPr/>
        </p:nvSpPr>
        <p:spPr>
          <a:xfrm>
            <a:off x="566928" y="2880360"/>
            <a:ext cx="11055096" cy="457200"/>
          </a:xfrm>
          <a:prstGeom prst="roundRect">
            <a:avLst>
              <a:gd name="adj" fmla="val 18000"/>
            </a:avLst>
          </a:prstGeom>
          <a:solidFill>
            <a:srgbClr val="161D28"/>
          </a:solidFill>
          <a:ln w="9525">
            <a:solidFill>
              <a:srgbClr val="232D3D"/>
            </a:solidFill>
            <a:prstDash val="solid"/>
          </a:ln>
        </p:spPr>
      </p:sp>
      <p:sp>
        <p:nvSpPr>
          <p:cNvPr id="20" name="Text 18"/>
          <p:cNvSpPr/>
          <p:nvPr/>
        </p:nvSpPr>
        <p:spPr>
          <a:xfrm>
            <a:off x="731520" y="2907792"/>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r4</a:t>
            </a:r>
            <a:endParaRPr lang="en-US" sz="1250" dirty="0"/>
          </a:p>
        </p:txBody>
      </p:sp>
      <p:sp>
        <p:nvSpPr>
          <p:cNvPr id="21" name="Text 19"/>
          <p:cNvSpPr/>
          <p:nvPr/>
        </p:nvSpPr>
        <p:spPr>
          <a:xfrm>
            <a:off x="1298448" y="2907792"/>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2026-08-06/08</a:t>
            </a:r>
            <a:endParaRPr lang="en-US" sz="1050" dirty="0"/>
          </a:p>
        </p:txBody>
      </p:sp>
      <p:sp>
        <p:nvSpPr>
          <p:cNvPr id="22" name="Text 20"/>
          <p:cNvSpPr/>
          <p:nvPr/>
        </p:nvSpPr>
        <p:spPr>
          <a:xfrm>
            <a:off x="2642616" y="2907792"/>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all five competitors, one harness, one day</a:t>
            </a:r>
            <a:endParaRPr lang="en-US" sz="1150" dirty="0"/>
          </a:p>
        </p:txBody>
      </p:sp>
      <p:sp>
        <p:nvSpPr>
          <p:cNvPr id="23" name="Text 21"/>
          <p:cNvSpPr/>
          <p:nvPr/>
        </p:nvSpPr>
        <p:spPr>
          <a:xfrm>
            <a:off x="7598664" y="2907792"/>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the table on the previous slide</a:t>
            </a:r>
            <a:endParaRPr lang="en-US" sz="1100" dirty="0"/>
          </a:p>
        </p:txBody>
      </p:sp>
      <p:sp>
        <p:nvSpPr>
          <p:cNvPr id="24" name="Shape 22"/>
          <p:cNvSpPr/>
          <p:nvPr/>
        </p:nvSpPr>
        <p:spPr>
          <a:xfrm>
            <a:off x="566928" y="3328416"/>
            <a:ext cx="11055096" cy="457200"/>
          </a:xfrm>
          <a:prstGeom prst="roundRect">
            <a:avLst>
              <a:gd name="adj" fmla="val 18000"/>
            </a:avLst>
          </a:prstGeom>
          <a:solidFill>
            <a:srgbClr val="161D28"/>
          </a:solidFill>
          <a:ln w="9525">
            <a:solidFill>
              <a:srgbClr val="232D3D"/>
            </a:solidFill>
            <a:prstDash val="solid"/>
          </a:ln>
        </p:spPr>
      </p:sp>
      <p:sp>
        <p:nvSpPr>
          <p:cNvPr id="25" name="Text 23"/>
          <p:cNvSpPr/>
          <p:nvPr/>
        </p:nvSpPr>
        <p:spPr>
          <a:xfrm>
            <a:off x="731520" y="3355848"/>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r6</a:t>
            </a:r>
            <a:endParaRPr lang="en-US" sz="1250" dirty="0"/>
          </a:p>
        </p:txBody>
      </p:sp>
      <p:sp>
        <p:nvSpPr>
          <p:cNvPr id="26" name="Text 24"/>
          <p:cNvSpPr/>
          <p:nvPr/>
        </p:nvSpPr>
        <p:spPr>
          <a:xfrm>
            <a:off x="1298448" y="3355848"/>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2026-08-04/05</a:t>
            </a:r>
            <a:endParaRPr lang="en-US" sz="1050" dirty="0"/>
          </a:p>
        </p:txBody>
      </p:sp>
      <p:sp>
        <p:nvSpPr>
          <p:cNvPr id="27" name="Text 25"/>
          <p:cNvSpPr/>
          <p:nvPr/>
        </p:nvSpPr>
        <p:spPr>
          <a:xfrm>
            <a:off x="2642616" y="3355848"/>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agent-in-the-loop: the Codex CLI pilot</a:t>
            </a:r>
            <a:endParaRPr lang="en-US" sz="1150" dirty="0"/>
          </a:p>
        </p:txBody>
      </p:sp>
      <p:sp>
        <p:nvSpPr>
          <p:cNvPr id="28" name="Text 26"/>
          <p:cNvSpPr/>
          <p:nvPr/>
        </p:nvSpPr>
        <p:spPr>
          <a:xfrm>
            <a:off x="7598664" y="3355848"/>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localization parity; +80% tokens, classified</a:t>
            </a:r>
            <a:endParaRPr lang="en-US" sz="1100" dirty="0"/>
          </a:p>
        </p:txBody>
      </p:sp>
      <p:sp>
        <p:nvSpPr>
          <p:cNvPr id="29" name="Shape 27"/>
          <p:cNvSpPr/>
          <p:nvPr/>
        </p:nvSpPr>
        <p:spPr>
          <a:xfrm>
            <a:off x="566928" y="3776472"/>
            <a:ext cx="11055096" cy="457200"/>
          </a:xfrm>
          <a:prstGeom prst="roundRect">
            <a:avLst>
              <a:gd name="adj" fmla="val 18000"/>
            </a:avLst>
          </a:prstGeom>
          <a:solidFill>
            <a:srgbClr val="161D28"/>
          </a:solidFill>
          <a:ln w="9525">
            <a:solidFill>
              <a:srgbClr val="232D3D"/>
            </a:solidFill>
            <a:prstDash val="solid"/>
          </a:ln>
        </p:spPr>
      </p:sp>
      <p:sp>
        <p:nvSpPr>
          <p:cNvPr id="30" name="Text 28"/>
          <p:cNvSpPr/>
          <p:nvPr/>
        </p:nvSpPr>
        <p:spPr>
          <a:xfrm>
            <a:off x="731520" y="3803904"/>
            <a:ext cx="457200" cy="402336"/>
          </a:xfrm>
          <a:prstGeom prst="rect">
            <a:avLst/>
          </a:prstGeom>
          <a:noFill/>
          <a:ln/>
        </p:spPr>
        <p:txBody>
          <a:bodyPr wrap="square" lIns="0" tIns="0" rIns="0" bIns="0" rtlCol="0" anchor="ctr"/>
          <a:lstStyle/>
          <a:p>
            <a:pPr algn="l" indent="0" marL="0">
              <a:buNone/>
            </a:pPr>
            <a:r>
              <a:rPr lang="en-US" sz="1250" b="1" dirty="0">
                <a:solidFill>
                  <a:srgbClr val="E5534B"/>
                </a:solidFill>
                <a:latin typeface="Courier New" pitchFamily="34" charset="0"/>
                <a:ea typeface="Courier New" pitchFamily="34" charset="-122"/>
                <a:cs typeface="Courier New" pitchFamily="34" charset="-120"/>
              </a:rPr>
              <a:t>r7</a:t>
            </a:r>
            <a:endParaRPr lang="en-US" sz="1250" dirty="0"/>
          </a:p>
        </p:txBody>
      </p:sp>
      <p:sp>
        <p:nvSpPr>
          <p:cNvPr id="31" name="Text 29"/>
          <p:cNvSpPr/>
          <p:nvPr/>
        </p:nvSpPr>
        <p:spPr>
          <a:xfrm>
            <a:off x="1298448" y="3803904"/>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2026-08-08</a:t>
            </a:r>
            <a:endParaRPr lang="en-US" sz="1050" dirty="0"/>
          </a:p>
        </p:txBody>
      </p:sp>
      <p:sp>
        <p:nvSpPr>
          <p:cNvPr id="32" name="Text 30"/>
          <p:cNvSpPr/>
          <p:nvPr/>
        </p:nvSpPr>
        <p:spPr>
          <a:xfrm>
            <a:off x="2642616" y="3803904"/>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CodeGraph, loss-first — we looked for our losses</a:t>
            </a:r>
            <a:endParaRPr lang="en-US" sz="1150" dirty="0"/>
          </a:p>
        </p:txBody>
      </p:sp>
      <p:sp>
        <p:nvSpPr>
          <p:cNvPr id="33" name="Text 31"/>
          <p:cNvSpPr/>
          <p:nvPr/>
        </p:nvSpPr>
        <p:spPr>
          <a:xfrm>
            <a:off x="7598664" y="3803904"/>
            <a:ext cx="3931920" cy="402336"/>
          </a:xfrm>
          <a:prstGeom prst="rect">
            <a:avLst/>
          </a:prstGeom>
          <a:noFill/>
          <a:ln/>
        </p:spPr>
        <p:txBody>
          <a:bodyPr wrap="square" lIns="0" tIns="0" rIns="0" bIns="0" rtlCol="0" anchor="ctr"/>
          <a:lstStyle/>
          <a:p>
            <a:pPr algn="l" indent="0" marL="0">
              <a:buNone/>
            </a:pPr>
            <a:r>
              <a:rPr lang="en-US" sz="1100" dirty="0">
                <a:solidFill>
                  <a:srgbClr val="E5534B"/>
                </a:solidFill>
                <a:latin typeface="Arial" pitchFamily="34" charset="0"/>
                <a:ea typeface="Arial" pitchFamily="34" charset="-122"/>
                <a:cs typeface="Arial" pitchFamily="34" charset="-120"/>
              </a:rPr>
              <a:t>fix REJECTED by its own preregistered band</a:t>
            </a:r>
            <a:endParaRPr lang="en-US" sz="1100" dirty="0"/>
          </a:p>
        </p:txBody>
      </p:sp>
      <p:sp>
        <p:nvSpPr>
          <p:cNvPr id="34" name="Shape 32"/>
          <p:cNvSpPr/>
          <p:nvPr/>
        </p:nvSpPr>
        <p:spPr>
          <a:xfrm>
            <a:off x="566928" y="4224528"/>
            <a:ext cx="11055096" cy="457200"/>
          </a:xfrm>
          <a:prstGeom prst="roundRect">
            <a:avLst>
              <a:gd name="adj" fmla="val 18000"/>
            </a:avLst>
          </a:prstGeom>
          <a:solidFill>
            <a:srgbClr val="161D28"/>
          </a:solidFill>
          <a:ln w="9525">
            <a:solidFill>
              <a:srgbClr val="232D3D"/>
            </a:solidFill>
            <a:prstDash val="solid"/>
          </a:ln>
        </p:spPr>
      </p:sp>
      <p:sp>
        <p:nvSpPr>
          <p:cNvPr id="35" name="Text 33"/>
          <p:cNvSpPr/>
          <p:nvPr/>
        </p:nvSpPr>
        <p:spPr>
          <a:xfrm>
            <a:off x="731520" y="4251960"/>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r8</a:t>
            </a:r>
            <a:endParaRPr lang="en-US" sz="1250" dirty="0"/>
          </a:p>
        </p:txBody>
      </p:sp>
      <p:sp>
        <p:nvSpPr>
          <p:cNvPr id="36" name="Text 34"/>
          <p:cNvSpPr/>
          <p:nvPr/>
        </p:nvSpPr>
        <p:spPr>
          <a:xfrm>
            <a:off x="1298448" y="4251960"/>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2026-08-08</a:t>
            </a:r>
            <a:endParaRPr lang="en-US" sz="1050" dirty="0"/>
          </a:p>
        </p:txBody>
      </p:sp>
      <p:sp>
        <p:nvSpPr>
          <p:cNvPr id="37" name="Text 35"/>
          <p:cNvSpPr/>
          <p:nvPr/>
        </p:nvSpPr>
        <p:spPr>
          <a:xfrm>
            <a:off x="2642616" y="4251960"/>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aider again, at equal token budget</a:t>
            </a:r>
            <a:endParaRPr lang="en-US" sz="1150" dirty="0"/>
          </a:p>
        </p:txBody>
      </p:sp>
      <p:sp>
        <p:nvSpPr>
          <p:cNvPr id="38" name="Text 36"/>
          <p:cNvSpPr/>
          <p:nvPr/>
        </p:nvSpPr>
        <p:spPr>
          <a:xfrm>
            <a:off x="7598664" y="4251960"/>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loss questions traced to one root cause</a:t>
            </a:r>
            <a:endParaRPr lang="en-US" sz="1100" dirty="0"/>
          </a:p>
        </p:txBody>
      </p:sp>
      <p:sp>
        <p:nvSpPr>
          <p:cNvPr id="39" name="Shape 37"/>
          <p:cNvSpPr/>
          <p:nvPr/>
        </p:nvSpPr>
        <p:spPr>
          <a:xfrm>
            <a:off x="566928" y="4672584"/>
            <a:ext cx="11055096" cy="457200"/>
          </a:xfrm>
          <a:prstGeom prst="roundRect">
            <a:avLst>
              <a:gd name="adj" fmla="val 18000"/>
            </a:avLst>
          </a:prstGeom>
          <a:solidFill>
            <a:srgbClr val="161D28"/>
          </a:solidFill>
          <a:ln w="9525">
            <a:solidFill>
              <a:srgbClr val="232D3D"/>
            </a:solidFill>
            <a:prstDash val="solid"/>
          </a:ln>
        </p:spPr>
      </p:sp>
      <p:sp>
        <p:nvSpPr>
          <p:cNvPr id="40" name="Text 38"/>
          <p:cNvSpPr/>
          <p:nvPr/>
        </p:nvSpPr>
        <p:spPr>
          <a:xfrm>
            <a:off x="731520" y="4700016"/>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r9</a:t>
            </a:r>
            <a:endParaRPr lang="en-US" sz="1250" dirty="0"/>
          </a:p>
        </p:txBody>
      </p:sp>
      <p:sp>
        <p:nvSpPr>
          <p:cNvPr id="41" name="Text 39"/>
          <p:cNvSpPr/>
          <p:nvPr/>
        </p:nvSpPr>
        <p:spPr>
          <a:xfrm>
            <a:off x="1298448" y="4700016"/>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2026-08-09</a:t>
            </a:r>
            <a:endParaRPr lang="en-US" sz="1050" dirty="0"/>
          </a:p>
        </p:txBody>
      </p:sp>
      <p:sp>
        <p:nvSpPr>
          <p:cNvPr id="42" name="Text 40"/>
          <p:cNvSpPr/>
          <p:nvPr/>
        </p:nvSpPr>
        <p:spPr>
          <a:xfrm>
            <a:off x="2642616" y="4700016"/>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Serena / scip-clang oracle</a:t>
            </a:r>
            <a:endParaRPr lang="en-US" sz="1150" dirty="0"/>
          </a:p>
        </p:txBody>
      </p:sp>
      <p:sp>
        <p:nvSpPr>
          <p:cNvPr id="43" name="Text 41"/>
          <p:cNvSpPr/>
          <p:nvPr/>
        </p:nvSpPr>
        <p:spPr>
          <a:xfrm>
            <a:off x="7598664" y="4700016"/>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0 silent misses; the fix list it produced</a:t>
            </a:r>
            <a:endParaRPr lang="en-US" sz="1100" dirty="0"/>
          </a:p>
        </p:txBody>
      </p:sp>
      <p:sp>
        <p:nvSpPr>
          <p:cNvPr id="44" name="Shape 42"/>
          <p:cNvSpPr/>
          <p:nvPr/>
        </p:nvSpPr>
        <p:spPr>
          <a:xfrm>
            <a:off x="566928" y="5120640"/>
            <a:ext cx="11055096" cy="457200"/>
          </a:xfrm>
          <a:prstGeom prst="roundRect">
            <a:avLst>
              <a:gd name="adj" fmla="val 18000"/>
            </a:avLst>
          </a:prstGeom>
          <a:solidFill>
            <a:srgbClr val="161D28"/>
          </a:solidFill>
          <a:ln w="9525">
            <a:solidFill>
              <a:srgbClr val="232D3D"/>
            </a:solidFill>
            <a:prstDash val="solid"/>
          </a:ln>
        </p:spPr>
      </p:sp>
      <p:sp>
        <p:nvSpPr>
          <p:cNvPr id="45" name="Text 43"/>
          <p:cNvSpPr/>
          <p:nvPr/>
        </p:nvSpPr>
        <p:spPr>
          <a:xfrm>
            <a:off x="731520" y="5148072"/>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r10</a:t>
            </a:r>
            <a:endParaRPr lang="en-US" sz="1250" dirty="0"/>
          </a:p>
        </p:txBody>
      </p:sp>
      <p:sp>
        <p:nvSpPr>
          <p:cNvPr id="46" name="Text 44"/>
          <p:cNvSpPr/>
          <p:nvPr/>
        </p:nvSpPr>
        <p:spPr>
          <a:xfrm>
            <a:off x="1298448" y="5148072"/>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2026-08-22</a:t>
            </a:r>
            <a:endParaRPr lang="en-US" sz="1050" dirty="0"/>
          </a:p>
        </p:txBody>
      </p:sp>
      <p:sp>
        <p:nvSpPr>
          <p:cNvPr id="47" name="Text 45"/>
          <p:cNvSpPr/>
          <p:nvPr/>
        </p:nvSpPr>
        <p:spPr>
          <a:xfrm>
            <a:off x="2642616" y="5148072"/>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GitNexus 1.6.9 — a graph-database context server</a:t>
            </a:r>
            <a:endParaRPr lang="en-US" sz="1150" dirty="0"/>
          </a:p>
        </p:txBody>
      </p:sp>
      <p:sp>
        <p:nvSpPr>
          <p:cNvPr id="48" name="Text 46"/>
          <p:cNvSpPr/>
          <p:nvPr/>
        </p:nvSpPr>
        <p:spPr>
          <a:xfrm>
            <a:off x="7598664" y="5148072"/>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27-7-14 — its own slide, two back</a:t>
            </a:r>
            <a:endParaRPr lang="en-US" sz="1100" dirty="0"/>
          </a:p>
        </p:txBody>
      </p:sp>
      <p:sp>
        <p:nvSpPr>
          <p:cNvPr id="49" name="Shape 47"/>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50" name="Text 48"/>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F2B84B"/>
                </a:solidFill>
                <a:latin typeface="Arial" pitchFamily="34" charset="0"/>
                <a:ea typeface="Arial" pitchFamily="34" charset="-122"/>
                <a:cs typeface="Arial" pitchFamily="34" charset="-120"/>
              </a:rPr>
              <a:t>r7 in full, because it is the point: </a:t>
            </a:r>
            <a:pPr indent="0" marL="0">
              <a:buNone/>
            </a:pPr>
            <a:r>
              <a:rPr lang="en-US" sz="1100" dirty="0">
                <a:solidFill>
                  <a:srgbClr val="8B95A5"/>
                </a:solidFill>
                <a:latin typeface="Arial" pitchFamily="34" charset="0"/>
                <a:ea typeface="Arial" pitchFamily="34" charset="-122"/>
                <a:cs typeface="Arial" pitchFamily="34" charset="-120"/>
              </a:rPr>
              <a:t>the fix was built, gated green, measured — predicted 12/22 against a pre-registered band of 10–14, measured 5/22 — and reverted rather than tuned. Published as a negative in docs/EVALS.md §7.</a:t>
            </a:r>
            <a:endParaRPr lang="en-US" sz="1100" dirty="0"/>
          </a:p>
        </p:txBody>
      </p:sp>
      <p:sp>
        <p:nvSpPr>
          <p:cNvPr id="51" name="Text 4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 (r1–r4, r9) · bench/r7/ · bench/r8/ — harnesses committed even for rounds that rejected their own fix · r5 left no head-to-head record in this tree, so it is not listed · r10's method and pins are published in docs/EVALS.md §2, its pre-fix numbers nowhere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held-out, repo-disjoint, frozen dataset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Routing the ranker: +33 points, measured properly</a:t>
            </a:r>
            <a:endParaRPr lang="en-US" sz="3400" dirty="0"/>
          </a:p>
        </p:txBody>
      </p:sp>
      <p:graphicFrame>
        <p:nvGraphicFramePr>
          <p:cNvPr id="4" name="Chart 0" descr=""/>
          <p:cNvGraphicFramePr/>
          <p:nvPr/>
        </p:nvGraphicFramePr>
        <p:xfrm>
          <a:off x="566928" y="192024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675120" y="1920240"/>
            <a:ext cx="4846320" cy="786384"/>
          </a:xfrm>
          <a:prstGeom prst="roundRect">
            <a:avLst>
              <a:gd name="adj" fmla="val 10465"/>
            </a:avLst>
          </a:prstGeom>
          <a:solidFill>
            <a:srgbClr val="161D28"/>
          </a:solidFill>
          <a:ln w="9525">
            <a:solidFill>
              <a:srgbClr val="232D3D"/>
            </a:solidFill>
            <a:prstDash val="solid"/>
          </a:ln>
        </p:spPr>
      </p:sp>
      <p:sp>
        <p:nvSpPr>
          <p:cNvPr id="6" name="Text 3"/>
          <p:cNvSpPr/>
          <p:nvPr/>
        </p:nvSpPr>
        <p:spPr>
          <a:xfrm>
            <a:off x="6858000" y="1975104"/>
            <a:ext cx="1600200" cy="676656"/>
          </a:xfrm>
          <a:prstGeom prst="rect">
            <a:avLst/>
          </a:prstGeom>
          <a:noFill/>
          <a:ln/>
        </p:spPr>
        <p:txBody>
          <a:bodyPr wrap="square" lIns="0" tIns="0" rIns="0" bIns="0" rtlCol="0" anchor="ctr"/>
          <a:lstStyle/>
          <a:p>
            <a:pPr indent="0" marL="0">
              <a:buNone/>
            </a:pPr>
            <a:r>
              <a:rPr lang="en-US" sz="2100" b="1" dirty="0">
                <a:solidFill>
                  <a:srgbClr val="4AC26B"/>
                </a:solidFill>
                <a:latin typeface="Arial" pitchFamily="34" charset="0"/>
                <a:ea typeface="Arial" pitchFamily="34" charset="-122"/>
                <a:cs typeface="Arial" pitchFamily="34" charset="-120"/>
              </a:rPr>
              <a:t>+33.33pp</a:t>
            </a:r>
            <a:endParaRPr lang="en-US" sz="2100" dirty="0"/>
          </a:p>
        </p:txBody>
      </p:sp>
      <p:sp>
        <p:nvSpPr>
          <p:cNvPr id="7" name="Text 4"/>
          <p:cNvSpPr/>
          <p:nvPr/>
        </p:nvSpPr>
        <p:spPr>
          <a:xfrm>
            <a:off x="8503920" y="1975104"/>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paired delta, 243 held-out instances in 78 repository clusters</a:t>
            </a:r>
            <a:endParaRPr lang="en-US" sz="1100" dirty="0"/>
          </a:p>
        </p:txBody>
      </p:sp>
      <p:sp>
        <p:nvSpPr>
          <p:cNvPr id="8" name="Shape 5"/>
          <p:cNvSpPr/>
          <p:nvPr/>
        </p:nvSpPr>
        <p:spPr>
          <a:xfrm>
            <a:off x="6675120" y="2816352"/>
            <a:ext cx="4846320" cy="786384"/>
          </a:xfrm>
          <a:prstGeom prst="roundRect">
            <a:avLst>
              <a:gd name="adj" fmla="val 10465"/>
            </a:avLst>
          </a:prstGeom>
          <a:solidFill>
            <a:srgbClr val="161D28"/>
          </a:solidFill>
          <a:ln w="9525">
            <a:solidFill>
              <a:srgbClr val="232D3D"/>
            </a:solidFill>
            <a:prstDash val="solid"/>
          </a:ln>
        </p:spPr>
      </p:sp>
      <p:sp>
        <p:nvSpPr>
          <p:cNvPr id="9" name="Text 6"/>
          <p:cNvSpPr/>
          <p:nvPr/>
        </p:nvSpPr>
        <p:spPr>
          <a:xfrm>
            <a:off x="6858000" y="2871216"/>
            <a:ext cx="1600200" cy="676656"/>
          </a:xfrm>
          <a:prstGeom prst="rect">
            <a:avLst/>
          </a:prstGeom>
          <a:noFill/>
          <a:ln/>
        </p:spPr>
        <p:txBody>
          <a:bodyPr wrap="square" lIns="0" tIns="0" rIns="0" bIns="0" rtlCol="0" anchor="ctr"/>
          <a:lstStyle/>
          <a:p>
            <a:pPr indent="0" marL="0">
              <a:buNone/>
            </a:pPr>
            <a:r>
              <a:rPr lang="en-US" sz="2100" b="1" dirty="0">
                <a:solidFill>
                  <a:srgbClr val="4AC26B"/>
                </a:solidFill>
                <a:latin typeface="Arial" pitchFamily="34" charset="0"/>
                <a:ea typeface="Arial" pitchFamily="34" charset="-122"/>
                <a:cs typeface="Arial" pitchFamily="34" charset="-120"/>
              </a:rPr>
              <a:t>+25.00pp</a:t>
            </a:r>
            <a:endParaRPr lang="en-US" sz="2100" dirty="0"/>
          </a:p>
        </p:txBody>
      </p:sp>
      <p:sp>
        <p:nvSpPr>
          <p:cNvPr id="10" name="Text 7"/>
          <p:cNvSpPr/>
          <p:nvPr/>
        </p:nvSpPr>
        <p:spPr>
          <a:xfrm>
            <a:off x="8503920" y="2871216"/>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clustered-bootstrap 95% lower bound — the honest floor</a:t>
            </a:r>
            <a:endParaRPr lang="en-US" sz="1100" dirty="0"/>
          </a:p>
        </p:txBody>
      </p:sp>
      <p:sp>
        <p:nvSpPr>
          <p:cNvPr id="11" name="Shape 8"/>
          <p:cNvSpPr/>
          <p:nvPr/>
        </p:nvSpPr>
        <p:spPr>
          <a:xfrm>
            <a:off x="6675120" y="3712464"/>
            <a:ext cx="4846320" cy="786384"/>
          </a:xfrm>
          <a:prstGeom prst="roundRect">
            <a:avLst>
              <a:gd name="adj" fmla="val 10465"/>
            </a:avLst>
          </a:prstGeom>
          <a:solidFill>
            <a:srgbClr val="161D28"/>
          </a:solidFill>
          <a:ln w="9525">
            <a:solidFill>
              <a:srgbClr val="232D3D"/>
            </a:solidFill>
            <a:prstDash val="solid"/>
          </a:ln>
        </p:spPr>
      </p:sp>
      <p:sp>
        <p:nvSpPr>
          <p:cNvPr id="12" name="Text 9"/>
          <p:cNvSpPr/>
          <p:nvPr/>
        </p:nvSpPr>
        <p:spPr>
          <a:xfrm>
            <a:off x="6858000" y="3767328"/>
            <a:ext cx="1600200" cy="676656"/>
          </a:xfrm>
          <a:prstGeom prst="rect">
            <a:avLst/>
          </a:prstGeom>
          <a:noFill/>
          <a:ln/>
        </p:spPr>
        <p:txBody>
          <a:bodyPr wrap="square" lIns="0" tIns="0" rIns="0" bIns="0" rtlCol="0" anchor="ctr"/>
          <a:lstStyle/>
          <a:p>
            <a:pPr indent="0" marL="0">
              <a:buNone/>
            </a:pPr>
            <a:r>
              <a:rPr lang="en-US" sz="2100" b="1" dirty="0">
                <a:solidFill>
                  <a:srgbClr val="56D6E8"/>
                </a:solidFill>
                <a:latin typeface="Arial" pitchFamily="34" charset="0"/>
                <a:ea typeface="Arial" pitchFamily="34" charset="-122"/>
                <a:cs typeface="Arial" pitchFamily="34" charset="-120"/>
              </a:rPr>
              <a:t>−39.4%</a:t>
            </a:r>
            <a:endParaRPr lang="en-US" sz="2100" dirty="0"/>
          </a:p>
        </p:txBody>
      </p:sp>
      <p:sp>
        <p:nvSpPr>
          <p:cNvPr id="13" name="Text 10"/>
          <p:cNvSpPr/>
          <p:nvPr/>
        </p:nvSpPr>
        <p:spPr>
          <a:xfrm>
            <a:off x="8503920" y="3767328"/>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token ceiling for that gain</a:t>
            </a:r>
            <a:endParaRPr lang="en-US" sz="1100" dirty="0"/>
          </a:p>
        </p:txBody>
      </p:sp>
      <p:sp>
        <p:nvSpPr>
          <p:cNvPr id="14" name="Shape 11"/>
          <p:cNvSpPr/>
          <p:nvPr/>
        </p:nvSpPr>
        <p:spPr>
          <a:xfrm>
            <a:off x="6675120" y="4608576"/>
            <a:ext cx="4846320" cy="786384"/>
          </a:xfrm>
          <a:prstGeom prst="roundRect">
            <a:avLst>
              <a:gd name="adj" fmla="val 10465"/>
            </a:avLst>
          </a:prstGeom>
          <a:solidFill>
            <a:srgbClr val="161D28"/>
          </a:solidFill>
          <a:ln w="9525">
            <a:solidFill>
              <a:srgbClr val="232D3D"/>
            </a:solidFill>
            <a:prstDash val="solid"/>
          </a:ln>
        </p:spPr>
      </p:sp>
      <p:sp>
        <p:nvSpPr>
          <p:cNvPr id="15" name="Text 12"/>
          <p:cNvSpPr/>
          <p:nvPr/>
        </p:nvSpPr>
        <p:spPr>
          <a:xfrm>
            <a:off x="6858000" y="4663440"/>
            <a:ext cx="1600200" cy="676656"/>
          </a:xfrm>
          <a:prstGeom prst="rect">
            <a:avLst/>
          </a:prstGeom>
          <a:noFill/>
          <a:ln/>
        </p:spPr>
        <p:txBody>
          <a:bodyPr wrap="square" lIns="0" tIns="0" rIns="0" bIns="0" rtlCol="0" anchor="ctr"/>
          <a:lstStyle/>
          <a:p>
            <a:pPr indent="0" marL="0">
              <a:buNone/>
            </a:pPr>
            <a:r>
              <a:rPr lang="en-US" sz="2100" b="1" dirty="0">
                <a:solidFill>
                  <a:srgbClr val="8B95A5"/>
                </a:solidFill>
                <a:latin typeface="Arial" pitchFamily="34" charset="0"/>
                <a:ea typeface="Arial" pitchFamily="34" charset="-122"/>
                <a:cs typeface="Arial" pitchFamily="34" charset="-120"/>
              </a:rPr>
              <a:t>+3.4%</a:t>
            </a:r>
            <a:endParaRPr lang="en-US" sz="2100" dirty="0"/>
          </a:p>
        </p:txBody>
      </p:sp>
      <p:sp>
        <p:nvSpPr>
          <p:cNvPr id="16" name="Text 13"/>
          <p:cNvSpPr/>
          <p:nvPr/>
        </p:nvSpPr>
        <p:spPr>
          <a:xfrm>
            <a:off x="8503920" y="4663440"/>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warm latency for that gain</a:t>
            </a:r>
            <a:endParaRPr lang="en-US" sz="1100" dirty="0"/>
          </a:p>
        </p:txBody>
      </p:sp>
      <p:sp>
        <p:nvSpPr>
          <p:cNvPr id="17"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bench/locbench/ — czlll/Loc-Bench_V1, 560 rows, JSON SHA-256 pinned in dataset.lock; metric code = LocAgent's strict Acc@k</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compiled, not interpreted — and measured on public corpora</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Fast enough to call on reflex</a:t>
            </a:r>
            <a:endParaRPr lang="en-US" sz="3400" dirty="0"/>
          </a:p>
        </p:txBody>
      </p:sp>
      <p:sp>
        <p:nvSpPr>
          <p:cNvPr id="4" name="Shape 2"/>
          <p:cNvSpPr/>
          <p:nvPr/>
        </p:nvSpPr>
        <p:spPr>
          <a:xfrm>
            <a:off x="566928" y="1737360"/>
            <a:ext cx="2679192" cy="1536192"/>
          </a:xfrm>
          <a:prstGeom prst="roundRect">
            <a:avLst>
              <a:gd name="adj" fmla="val 5357"/>
            </a:avLst>
          </a:prstGeom>
          <a:solidFill>
            <a:srgbClr val="161D28"/>
          </a:solidFill>
          <a:ln w="9525">
            <a:solidFill>
              <a:srgbClr val="232D3D"/>
            </a:solidFill>
            <a:prstDash val="solid"/>
          </a:ln>
        </p:spPr>
      </p:sp>
      <p:sp>
        <p:nvSpPr>
          <p:cNvPr id="5" name="Text 3"/>
          <p:cNvSpPr/>
          <p:nvPr/>
        </p:nvSpPr>
        <p:spPr>
          <a:xfrm>
            <a:off x="640080" y="1883664"/>
            <a:ext cx="2532888" cy="566928"/>
          </a:xfrm>
          <a:prstGeom prst="rect">
            <a:avLst/>
          </a:prstGeom>
          <a:noFill/>
          <a:ln/>
        </p:spPr>
        <p:txBody>
          <a:bodyPr wrap="square" lIns="0" tIns="0" rIns="0" bIns="0" rtlCol="0" anchor="ctr"/>
          <a:lstStyle/>
          <a:p>
            <a:pPr algn="ctr" indent="0" marL="0">
              <a:buNone/>
            </a:pPr>
            <a:r>
              <a:rPr lang="en-US" sz="3000" b="1" dirty="0">
                <a:solidFill>
                  <a:srgbClr val="56D6E8"/>
                </a:solidFill>
                <a:latin typeface="Arial" pitchFamily="34" charset="0"/>
                <a:ea typeface="Arial" pitchFamily="34" charset="-122"/>
                <a:cs typeface="Arial" pitchFamily="34" charset="-120"/>
              </a:rPr>
              <a:t>0.213 s</a:t>
            </a:r>
            <a:endParaRPr lang="en-US" sz="3000" dirty="0"/>
          </a:p>
        </p:txBody>
      </p:sp>
      <p:sp>
        <p:nvSpPr>
          <p:cNvPr id="6" name="Text 4"/>
          <p:cNvSpPr/>
          <p:nvPr/>
        </p:nvSpPr>
        <p:spPr>
          <a:xfrm>
            <a:off x="64008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cold — nothing to an answer: parse, rank, reply, no cache (r4)</a:t>
            </a:r>
            <a:endParaRPr lang="en-US" sz="1000" dirty="0"/>
          </a:p>
        </p:txBody>
      </p:sp>
      <p:sp>
        <p:nvSpPr>
          <p:cNvPr id="7" name="Shape 5"/>
          <p:cNvSpPr/>
          <p:nvPr/>
        </p:nvSpPr>
        <p:spPr>
          <a:xfrm>
            <a:off x="3355848" y="1737360"/>
            <a:ext cx="2679192" cy="1536192"/>
          </a:xfrm>
          <a:prstGeom prst="roundRect">
            <a:avLst>
              <a:gd name="adj" fmla="val 5357"/>
            </a:avLst>
          </a:prstGeom>
          <a:solidFill>
            <a:srgbClr val="161D28"/>
          </a:solidFill>
          <a:ln w="9525">
            <a:solidFill>
              <a:srgbClr val="232D3D"/>
            </a:solidFill>
            <a:prstDash val="solid"/>
          </a:ln>
        </p:spPr>
      </p:sp>
      <p:sp>
        <p:nvSpPr>
          <p:cNvPr id="8" name="Text 6"/>
          <p:cNvSpPr/>
          <p:nvPr/>
        </p:nvSpPr>
        <p:spPr>
          <a:xfrm>
            <a:off x="3429000" y="1883664"/>
            <a:ext cx="2532888" cy="566928"/>
          </a:xfrm>
          <a:prstGeom prst="rect">
            <a:avLst/>
          </a:prstGeom>
          <a:noFill/>
          <a:ln/>
        </p:spPr>
        <p:txBody>
          <a:bodyPr wrap="square" lIns="0" tIns="0" rIns="0" bIns="0" rtlCol="0" anchor="ctr"/>
          <a:lstStyle/>
          <a:p>
            <a:pPr algn="ctr" indent="0" marL="0">
              <a:buNone/>
            </a:pPr>
            <a:r>
              <a:rPr lang="en-US" sz="3000" b="1" dirty="0">
                <a:solidFill>
                  <a:srgbClr val="56D6E8"/>
                </a:solidFill>
                <a:latin typeface="Arial" pitchFamily="34" charset="0"/>
                <a:ea typeface="Arial" pitchFamily="34" charset="-122"/>
                <a:cs typeface="Arial" pitchFamily="34" charset="-120"/>
              </a:rPr>
              <a:t>0.108 s</a:t>
            </a:r>
            <a:endParaRPr lang="en-US" sz="3000" dirty="0"/>
          </a:p>
        </p:txBody>
      </p:sp>
      <p:sp>
        <p:nvSpPr>
          <p:cNvPr id="9" name="Text 7"/>
          <p:cNvSpPr/>
          <p:nvPr/>
        </p:nvSpPr>
        <p:spPr>
          <a:xfrm>
            <a:off x="342900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warm query, median — against aider's 2.920 s (r4)</a:t>
            </a:r>
            <a:endParaRPr lang="en-US" sz="1000" dirty="0"/>
          </a:p>
        </p:txBody>
      </p:sp>
      <p:sp>
        <p:nvSpPr>
          <p:cNvPr id="10" name="Shape 8"/>
          <p:cNvSpPr/>
          <p:nvPr/>
        </p:nvSpPr>
        <p:spPr>
          <a:xfrm>
            <a:off x="6144768" y="1737360"/>
            <a:ext cx="2679192" cy="1536192"/>
          </a:xfrm>
          <a:prstGeom prst="roundRect">
            <a:avLst>
              <a:gd name="adj" fmla="val 5357"/>
            </a:avLst>
          </a:prstGeom>
          <a:solidFill>
            <a:srgbClr val="161D28"/>
          </a:solidFill>
          <a:ln w="9525">
            <a:solidFill>
              <a:srgbClr val="232D3D"/>
            </a:solidFill>
            <a:prstDash val="solid"/>
          </a:ln>
        </p:spPr>
      </p:sp>
      <p:sp>
        <p:nvSpPr>
          <p:cNvPr id="11" name="Text 9"/>
          <p:cNvSpPr/>
          <p:nvPr/>
        </p:nvSpPr>
        <p:spPr>
          <a:xfrm>
            <a:off x="6217920" y="1883664"/>
            <a:ext cx="2532888" cy="566928"/>
          </a:xfrm>
          <a:prstGeom prst="rect">
            <a:avLst/>
          </a:prstGeom>
          <a:noFill/>
          <a:ln/>
        </p:spPr>
        <p:txBody>
          <a:bodyPr wrap="square" lIns="0" tIns="0" rIns="0" bIns="0" rtlCol="0" anchor="ctr"/>
          <a:lstStyle/>
          <a:p>
            <a:pPr algn="ctr" indent="0" marL="0">
              <a:buNone/>
            </a:pPr>
            <a:r>
              <a:rPr lang="en-US" sz="3000" b="1" dirty="0">
                <a:solidFill>
                  <a:srgbClr val="4AC26B"/>
                </a:solidFill>
                <a:latin typeface="Arial" pitchFamily="34" charset="0"/>
                <a:ea typeface="Arial" pitchFamily="34" charset="-122"/>
                <a:cs typeface="Arial" pitchFamily="34" charset="-120"/>
              </a:rPr>
              <a:t>0.31 s</a:t>
            </a:r>
            <a:endParaRPr lang="en-US" sz="3000" dirty="0"/>
          </a:p>
        </p:txBody>
      </p:sp>
      <p:sp>
        <p:nvSpPr>
          <p:cNvPr id="12" name="Text 10"/>
          <p:cNvSpPr/>
          <p:nvPr/>
        </p:nvSpPr>
        <p:spPr>
          <a:xfrm>
            <a:off x="621792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index build — against repowise's 34.0 s, worst case 352 s (r4)</a:t>
            </a:r>
            <a:endParaRPr lang="en-US" sz="1000" dirty="0"/>
          </a:p>
        </p:txBody>
      </p:sp>
      <p:sp>
        <p:nvSpPr>
          <p:cNvPr id="13" name="Shape 11"/>
          <p:cNvSpPr/>
          <p:nvPr/>
        </p:nvSpPr>
        <p:spPr>
          <a:xfrm>
            <a:off x="8933688" y="1737360"/>
            <a:ext cx="2679192" cy="1536192"/>
          </a:xfrm>
          <a:prstGeom prst="roundRect">
            <a:avLst>
              <a:gd name="adj" fmla="val 5357"/>
            </a:avLst>
          </a:prstGeom>
          <a:solidFill>
            <a:srgbClr val="161D28"/>
          </a:solidFill>
          <a:ln w="9525">
            <a:solidFill>
              <a:srgbClr val="232D3D"/>
            </a:solidFill>
            <a:prstDash val="solid"/>
          </a:ln>
        </p:spPr>
      </p:sp>
      <p:sp>
        <p:nvSpPr>
          <p:cNvPr id="14" name="Text 12"/>
          <p:cNvSpPr/>
          <p:nvPr/>
        </p:nvSpPr>
        <p:spPr>
          <a:xfrm>
            <a:off x="9006840" y="1883664"/>
            <a:ext cx="2532888" cy="566928"/>
          </a:xfrm>
          <a:prstGeom prst="rect">
            <a:avLst/>
          </a:prstGeom>
          <a:noFill/>
          <a:ln/>
        </p:spPr>
        <p:txBody>
          <a:bodyPr wrap="square" lIns="0" tIns="0" rIns="0" bIns="0" rtlCol="0" anchor="ctr"/>
          <a:lstStyle/>
          <a:p>
            <a:pPr algn="ctr" indent="0" marL="0">
              <a:buNone/>
            </a:pPr>
            <a:r>
              <a:rPr lang="en-US" sz="3000" b="1" dirty="0">
                <a:solidFill>
                  <a:srgbClr val="4AC26B"/>
                </a:solidFill>
                <a:latin typeface="Arial" pitchFamily="34" charset="0"/>
                <a:ea typeface="Arial" pitchFamily="34" charset="-122"/>
                <a:cs typeface="Arial" pitchFamily="34" charset="-120"/>
              </a:rPr>
              <a:t>49.8 ms</a:t>
            </a:r>
            <a:endParaRPr lang="en-US" sz="3000" dirty="0"/>
          </a:p>
        </p:txBody>
      </p:sp>
      <p:sp>
        <p:nvSpPr>
          <p:cNvPr id="15" name="Text 13"/>
          <p:cNvSpPr/>
          <p:nvPr/>
        </p:nvSpPr>
        <p:spPr>
          <a:xfrm>
            <a:off x="900684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warm query on this repo — against a clangd LSP's 3,760 ms (r9)</a:t>
            </a:r>
            <a:endParaRPr lang="en-US" sz="1000" dirty="0"/>
          </a:p>
        </p:txBody>
      </p:sp>
      <p:sp>
        <p:nvSpPr>
          <p:cNvPr id="16" name="Shape 14"/>
          <p:cNvSpPr/>
          <p:nvPr/>
        </p:nvSpPr>
        <p:spPr>
          <a:xfrm>
            <a:off x="566928" y="3456432"/>
            <a:ext cx="5440680" cy="2212848"/>
          </a:xfrm>
          <a:prstGeom prst="roundRect">
            <a:avLst>
              <a:gd name="adj" fmla="val 3719"/>
            </a:avLst>
          </a:prstGeom>
          <a:solidFill>
            <a:srgbClr val="161D28"/>
          </a:solidFill>
          <a:ln w="9525">
            <a:solidFill>
              <a:srgbClr val="232D3D"/>
            </a:solidFill>
            <a:prstDash val="solid"/>
          </a:ln>
        </p:spPr>
      </p:sp>
      <p:sp>
        <p:nvSpPr>
          <p:cNvPr id="17" name="Text 15"/>
          <p:cNvSpPr/>
          <p:nvPr/>
        </p:nvSpPr>
        <p:spPr>
          <a:xfrm>
            <a:off x="768096" y="3584448"/>
            <a:ext cx="502920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Where the second goes</a:t>
            </a:r>
            <a:endParaRPr lang="en-US" sz="1400" dirty="0"/>
          </a:p>
        </p:txBody>
      </p:sp>
      <p:sp>
        <p:nvSpPr>
          <p:cNvPr id="18" name="Text 16"/>
          <p:cNvSpPr/>
          <p:nvPr/>
        </p:nvSpPr>
        <p:spPr>
          <a:xfrm>
            <a:off x="768096" y="3931920"/>
            <a:ext cx="5029200" cy="164592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Cold profiles are tree-sitter parse plus tag-query capture — not graph math. Resolve and PageRank together are a small fraction of the run, and the ranking was never the bottleneck.
</a:t>
            </a:r>
            <a:pPr indent="0" marL="0">
              <a:buNone/>
            </a:pPr>
            <a:r>
              <a:rPr lang="en-US" sz="1150" dirty="0">
                <a:solidFill>
                  <a:srgbClr val="8B95A5"/>
                </a:solidFill>
                <a:latin typeface="Arial" pitchFamily="34" charset="0"/>
                <a:ea typeface="Arial" pitchFamily="34" charset="-122"/>
                <a:cs typeface="Arial" pitchFamily="34" charset="-120"/>
              </a:rPr>
              <a:t>Which is why the wins came from removing work, not micro-optimising it: demand-driven side captures, five whole-AST passes fused into one pre-order walk, a calibrated per-worker parse reserve.</a:t>
            </a:r>
            <a:endParaRPr lang="en-US" sz="1150" dirty="0"/>
          </a:p>
        </p:txBody>
      </p:sp>
      <p:sp>
        <p:nvSpPr>
          <p:cNvPr id="19" name="Shape 17"/>
          <p:cNvSpPr/>
          <p:nvPr/>
        </p:nvSpPr>
        <p:spPr>
          <a:xfrm>
            <a:off x="6172200" y="3456432"/>
            <a:ext cx="5349240" cy="2212848"/>
          </a:xfrm>
          <a:prstGeom prst="roundRect">
            <a:avLst>
              <a:gd name="adj" fmla="val 3719"/>
            </a:avLst>
          </a:prstGeom>
          <a:solidFill>
            <a:srgbClr val="161D28"/>
          </a:solidFill>
          <a:ln w="9525">
            <a:solidFill>
              <a:srgbClr val="232D3D"/>
            </a:solidFill>
            <a:prstDash val="solid"/>
          </a:ln>
        </p:spPr>
      </p:sp>
      <p:sp>
        <p:nvSpPr>
          <p:cNvPr id="20" name="Text 18"/>
          <p:cNvSpPr/>
          <p:nvPr/>
        </p:nvSpPr>
        <p:spPr>
          <a:xfrm>
            <a:off x="6373368" y="3584448"/>
            <a:ext cx="493776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Two opt-in faster builds</a:t>
            </a:r>
            <a:endParaRPr lang="en-US" sz="1400" dirty="0"/>
          </a:p>
        </p:txBody>
      </p:sp>
      <p:sp>
        <p:nvSpPr>
          <p:cNvPr id="21" name="Text 19"/>
          <p:cNvSpPr/>
          <p:nvPr/>
        </p:nvSpPr>
        <p:spPr>
          <a:xfrm>
            <a:off x="6373368" y="3931920"/>
            <a:ext cx="4937760" cy="164592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LTO is on by default. PGO is a script away and buys 14–25% cold.
</a:t>
            </a:r>
            <a:pPr indent="0" marL="0">
              <a:buNone/>
            </a:pPr>
            <a:r>
              <a:rPr lang="en-US" sz="1150" dirty="0">
                <a:solidFill>
                  <a:srgbClr val="8B95A5"/>
                </a:solidFill>
                <a:latin typeface="Arial" pitchFamily="34" charset="0"/>
                <a:ea typeface="Arial" pitchFamily="34" charset="-122"/>
                <a:cs typeface="Arial" pitchFamily="34" charset="-120"/>
              </a:rPr>
              <a:t>Both are opt-in performance, not opt-in correctness: </a:t>
            </a:r>
            <a:pPr indent="0" marL="0">
              <a:buNone/>
            </a:pPr>
            <a:r>
              <a:rPr lang="en-US" sz="1150" b="1" dirty="0">
                <a:solidFill>
                  <a:srgbClr val="56D6E8"/>
                </a:solidFill>
                <a:latin typeface="Arial" pitchFamily="34" charset="0"/>
                <a:ea typeface="Arial" pitchFamily="34" charset="-122"/>
                <a:cs typeface="Arial" pitchFamily="34" charset="-120"/>
              </a:rPr>
              <a:t>the output stays byte-identical across build flavours</a:t>
            </a:r>
            <a:pPr indent="0" marL="0">
              <a:buNone/>
            </a:pPr>
            <a:r>
              <a:rPr lang="en-US" sz="1150" dirty="0">
                <a:solidFill>
                  <a:srgbClr val="8B95A5"/>
                </a:solidFill>
                <a:latin typeface="Arial" pitchFamily="34" charset="0"/>
                <a:ea typeface="Arial" pitchFamily="34" charset="-122"/>
                <a:cs typeface="Arial" pitchFamily="34" charset="-120"/>
              </a:rPr>
              <a:t> — the determinism gate runs on both, and CI builds a plain flavour too, because NDEBUG once compiled a whole class of degrade-path checks out of existence.</a:t>
            </a:r>
            <a:endParaRPr lang="en-US" sz="1150" dirty="0"/>
          </a:p>
        </p:txBody>
      </p:sp>
      <p:sp>
        <p:nvSpPr>
          <p:cNvPr id="22" name="Text 2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card above comes from a committed harness — bench/headtohead/r4-2026-08-06/ and r9-2026-08-09/ — not from a private corpus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8B95A5"/>
                </a:solidFill>
                <a:latin typeface="Courier New" pitchFamily="34" charset="0"/>
                <a:ea typeface="Courier New" pitchFamily="34" charset="-122"/>
                <a:cs typeface="Courier New" pitchFamily="34" charset="-120"/>
              </a:rPr>
              <a:t>// how it got there — the pre-release performance sprint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Work removed before work optimized</a:t>
            </a:r>
            <a:endParaRPr lang="en-US" sz="3400" dirty="0"/>
          </a:p>
        </p:txBody>
      </p:sp>
      <p:sp>
        <p:nvSpPr>
          <p:cNvPr id="4" name="Shape 2"/>
          <p:cNvSpPr/>
          <p:nvPr/>
        </p:nvSpPr>
        <p:spPr>
          <a:xfrm>
            <a:off x="566928" y="1737360"/>
            <a:ext cx="3611880" cy="1280160"/>
          </a:xfrm>
          <a:prstGeom prst="roundRect">
            <a:avLst>
              <a:gd name="adj" fmla="val 6429"/>
            </a:avLst>
          </a:prstGeom>
          <a:solidFill>
            <a:srgbClr val="161D28"/>
          </a:solidFill>
          <a:ln w="9525">
            <a:solidFill>
              <a:srgbClr val="232D3D"/>
            </a:solidFill>
            <a:prstDash val="solid"/>
          </a:ln>
        </p:spPr>
      </p:sp>
      <p:sp>
        <p:nvSpPr>
          <p:cNvPr id="5" name="Text 3"/>
          <p:cNvSpPr/>
          <p:nvPr/>
        </p:nvSpPr>
        <p:spPr>
          <a:xfrm>
            <a:off x="731520"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file ingest</a:t>
            </a:r>
            <a:endParaRPr lang="en-US" sz="1250" dirty="0"/>
          </a:p>
        </p:txBody>
      </p:sp>
      <p:sp>
        <p:nvSpPr>
          <p:cNvPr id="6" name="Text 4"/>
          <p:cNvSpPr/>
          <p:nvPr/>
        </p:nvSpPr>
        <p:spPr>
          <a:xfrm>
            <a:off x="731520"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FILE* whole-file reads; CSV counting became a byte scan — iostream out of the hot path</a:t>
            </a:r>
            <a:endParaRPr lang="en-US" sz="1050" dirty="0"/>
          </a:p>
        </p:txBody>
      </p:sp>
      <p:sp>
        <p:nvSpPr>
          <p:cNvPr id="7" name="Shape 5"/>
          <p:cNvSpPr/>
          <p:nvPr/>
        </p:nvSpPr>
        <p:spPr>
          <a:xfrm>
            <a:off x="4288536" y="1737360"/>
            <a:ext cx="3611880" cy="1280160"/>
          </a:xfrm>
          <a:prstGeom prst="roundRect">
            <a:avLst>
              <a:gd name="adj" fmla="val 6429"/>
            </a:avLst>
          </a:prstGeom>
          <a:solidFill>
            <a:srgbClr val="161D28"/>
          </a:solidFill>
          <a:ln w="9525">
            <a:solidFill>
              <a:srgbClr val="232D3D"/>
            </a:solidFill>
            <a:prstDash val="solid"/>
          </a:ln>
        </p:spPr>
      </p:sp>
      <p:sp>
        <p:nvSpPr>
          <p:cNvPr id="8" name="Text 6"/>
          <p:cNvSpPr/>
          <p:nvPr/>
        </p:nvSpPr>
        <p:spPr>
          <a:xfrm>
            <a:off x="4453128"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capture gating</a:t>
            </a:r>
            <a:endParaRPr lang="en-US" sz="1250" dirty="0"/>
          </a:p>
        </p:txBody>
      </p:sp>
      <p:sp>
        <p:nvSpPr>
          <p:cNvPr id="9" name="Text 7"/>
          <p:cNvSpPr/>
          <p:nvPr/>
        </p:nvSpPr>
        <p:spPr>
          <a:xfrm>
            <a:off x="4453128"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value-use capture runs only for the verbs that actually need it, not on every run</a:t>
            </a:r>
            <a:endParaRPr lang="en-US" sz="1050" dirty="0"/>
          </a:p>
        </p:txBody>
      </p:sp>
      <p:sp>
        <p:nvSpPr>
          <p:cNvPr id="10" name="Shape 8"/>
          <p:cNvSpPr/>
          <p:nvPr/>
        </p:nvSpPr>
        <p:spPr>
          <a:xfrm>
            <a:off x="8010144" y="1737360"/>
            <a:ext cx="3611880" cy="1280160"/>
          </a:xfrm>
          <a:prstGeom prst="roundRect">
            <a:avLst>
              <a:gd name="adj" fmla="val 6429"/>
            </a:avLst>
          </a:prstGeom>
          <a:solidFill>
            <a:srgbClr val="161D28"/>
          </a:solidFill>
          <a:ln w="9525">
            <a:solidFill>
              <a:srgbClr val="232D3D"/>
            </a:solidFill>
            <a:prstDash val="solid"/>
          </a:ln>
        </p:spPr>
      </p:sp>
      <p:sp>
        <p:nvSpPr>
          <p:cNvPr id="11" name="Text 9"/>
          <p:cNvSpPr/>
          <p:nvPr/>
        </p:nvSpPr>
        <p:spPr>
          <a:xfrm>
            <a:off x="8174736"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AST pass fusion</a:t>
            </a:r>
            <a:endParaRPr lang="en-US" sz="1250" dirty="0"/>
          </a:p>
        </p:txBody>
      </p:sp>
      <p:sp>
        <p:nvSpPr>
          <p:cNvPr id="12" name="Text 10"/>
          <p:cNvSpPr/>
          <p:nvPr/>
        </p:nvSpPr>
        <p:spPr>
          <a:xfrm>
            <a:off x="8174736"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five whole-AST side-capture passes share ONE pre-order walk instead of five</a:t>
            </a:r>
            <a:endParaRPr lang="en-US" sz="1050" dirty="0"/>
          </a:p>
        </p:txBody>
      </p:sp>
      <p:sp>
        <p:nvSpPr>
          <p:cNvPr id="13" name="Shape 11"/>
          <p:cNvSpPr/>
          <p:nvPr/>
        </p:nvSpPr>
        <p:spPr>
          <a:xfrm>
            <a:off x="566928" y="3163824"/>
            <a:ext cx="3611880" cy="1280160"/>
          </a:xfrm>
          <a:prstGeom prst="roundRect">
            <a:avLst>
              <a:gd name="adj" fmla="val 6429"/>
            </a:avLst>
          </a:prstGeom>
          <a:solidFill>
            <a:srgbClr val="161D28"/>
          </a:solidFill>
          <a:ln w="9525">
            <a:solidFill>
              <a:srgbClr val="232D3D"/>
            </a:solidFill>
            <a:prstDash val="solid"/>
          </a:ln>
        </p:spPr>
      </p:sp>
      <p:sp>
        <p:nvSpPr>
          <p:cNvPr id="14" name="Text 12"/>
          <p:cNvSpPr/>
          <p:nvPr/>
        </p:nvSpPr>
        <p:spPr>
          <a:xfrm>
            <a:off x="731520"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parallel parse</a:t>
            </a:r>
            <a:endParaRPr lang="en-US" sz="1250" dirty="0"/>
          </a:p>
        </p:txBody>
      </p:sp>
      <p:sp>
        <p:nvSpPr>
          <p:cNvPr id="15" name="Text 13"/>
          <p:cNvSpPr/>
          <p:nvPr/>
        </p:nvSpPr>
        <p:spPr>
          <a:xfrm>
            <a:off x="731520"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query compile overlaps parse scheduling; files schedule by size — ids stay deterministic</a:t>
            </a:r>
            <a:endParaRPr lang="en-US" sz="1050" dirty="0"/>
          </a:p>
        </p:txBody>
      </p:sp>
      <p:sp>
        <p:nvSpPr>
          <p:cNvPr id="16" name="Shape 14"/>
          <p:cNvSpPr/>
          <p:nvPr/>
        </p:nvSpPr>
        <p:spPr>
          <a:xfrm>
            <a:off x="4288536" y="3163824"/>
            <a:ext cx="3611880" cy="1280160"/>
          </a:xfrm>
          <a:prstGeom prst="roundRect">
            <a:avLst>
              <a:gd name="adj" fmla="val 6429"/>
            </a:avLst>
          </a:prstGeom>
          <a:solidFill>
            <a:srgbClr val="161D28"/>
          </a:solidFill>
          <a:ln w="9525">
            <a:solidFill>
              <a:srgbClr val="232D3D"/>
            </a:solidFill>
            <a:prstDash val="solid"/>
          </a:ln>
        </p:spPr>
      </p:sp>
      <p:sp>
        <p:nvSpPr>
          <p:cNvPr id="17" name="Text 15"/>
          <p:cNvSpPr/>
          <p:nvPr/>
        </p:nvSpPr>
        <p:spPr>
          <a:xfrm>
            <a:off x="4453128"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radix + S+tree</a:t>
            </a:r>
            <a:endParaRPr lang="en-US" sz="1250" dirty="0"/>
          </a:p>
        </p:txBody>
      </p:sp>
      <p:sp>
        <p:nvSpPr>
          <p:cNvPr id="18" name="Text 16"/>
          <p:cNvSpPr/>
          <p:nvPr/>
        </p:nvSpPr>
        <p:spPr>
          <a:xfrm>
            <a:off x="4453128"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numeric keys for edges and scores; a bounded-scratch hot map whose fixed cap reports its own overflow</a:t>
            </a:r>
            <a:endParaRPr lang="en-US" sz="1050" dirty="0"/>
          </a:p>
        </p:txBody>
      </p:sp>
      <p:sp>
        <p:nvSpPr>
          <p:cNvPr id="19" name="Shape 17"/>
          <p:cNvSpPr/>
          <p:nvPr/>
        </p:nvSpPr>
        <p:spPr>
          <a:xfrm>
            <a:off x="8010144" y="3163824"/>
            <a:ext cx="3611880" cy="1280160"/>
          </a:xfrm>
          <a:prstGeom prst="roundRect">
            <a:avLst>
              <a:gd name="adj" fmla="val 6429"/>
            </a:avLst>
          </a:prstGeom>
          <a:solidFill>
            <a:srgbClr val="161D28"/>
          </a:solidFill>
          <a:ln w="9525">
            <a:solidFill>
              <a:srgbClr val="232D3D"/>
            </a:solidFill>
            <a:prstDash val="solid"/>
          </a:ln>
        </p:spPr>
      </p:sp>
      <p:sp>
        <p:nvSpPr>
          <p:cNvPr id="20" name="Text 18"/>
          <p:cNvSpPr/>
          <p:nvPr/>
        </p:nvSpPr>
        <p:spPr>
          <a:xfrm>
            <a:off x="8174736"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no std::map</a:t>
            </a:r>
            <a:endParaRPr lang="en-US" sz="1250" dirty="0"/>
          </a:p>
        </p:txBody>
      </p:sp>
      <p:sp>
        <p:nvSpPr>
          <p:cNvPr id="21" name="Text 19"/>
          <p:cNvSpPr/>
          <p:nvPr/>
        </p:nvSpPr>
        <p:spPr>
          <a:xfrm>
            <a:off x="8174736"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unordered_dense, reserve() before ingest — no std::unordered_map on any hot path</a:t>
            </a:r>
            <a:endParaRPr lang="en-US" sz="1050" dirty="0"/>
          </a:p>
        </p:txBody>
      </p:sp>
      <p:sp>
        <p:nvSpPr>
          <p:cNvPr id="22" name="Shape 20"/>
          <p:cNvSpPr/>
          <p:nvPr/>
        </p:nvSpPr>
        <p:spPr>
          <a:xfrm>
            <a:off x="566928" y="4498848"/>
            <a:ext cx="11055096" cy="1536192"/>
          </a:xfrm>
          <a:prstGeom prst="roundRect">
            <a:avLst>
              <a:gd name="adj" fmla="val 5357"/>
            </a:avLst>
          </a:prstGeom>
          <a:solidFill>
            <a:srgbClr val="1B2432"/>
          </a:solidFill>
          <a:ln w="9525">
            <a:solidFill>
              <a:srgbClr val="232D3D"/>
            </a:solidFill>
            <a:prstDash val="solid"/>
          </a:ln>
        </p:spPr>
      </p:sp>
      <p:sp>
        <p:nvSpPr>
          <p:cNvPr id="23" name="Text 21"/>
          <p:cNvSpPr/>
          <p:nvPr/>
        </p:nvSpPr>
        <p:spPr>
          <a:xfrm>
            <a:off x="795528" y="4608576"/>
            <a:ext cx="10607040" cy="1335024"/>
          </a:xfrm>
          <a:prstGeom prst="rect">
            <a:avLst/>
          </a:prstGeom>
          <a:noFill/>
          <a:ln/>
        </p:spPr>
        <p:txBody>
          <a:bodyPr wrap="square" lIns="0" tIns="0" rIns="0" bIns="0" rtlCol="0" anchor="ctr"/>
          <a:lstStyle/>
          <a:p>
            <a:pPr indent="0" marL="0">
              <a:buNone/>
            </a:pPr>
            <a:r>
              <a:rPr lang="en-US" sz="1150" b="1" dirty="0">
                <a:solidFill>
                  <a:srgbClr val="F2B84B"/>
                </a:solidFill>
                <a:latin typeface="Arial" pitchFamily="34" charset="0"/>
                <a:ea typeface="Arial" pitchFamily="34" charset="-122"/>
                <a:cs typeface="Arial" pitchFamily="34" charset="-120"/>
              </a:rPr>
              <a:t>Why this slide carries no numbers. </a:t>
            </a:r>
            <a:pPr indent="0" marL="0">
              <a:buNone/>
            </a:pPr>
            <a:r>
              <a:rPr lang="en-US" sz="1150" dirty="0">
                <a:solidFill>
                  <a:srgbClr val="8B95A5"/>
                </a:solidFill>
                <a:latin typeface="Arial" pitchFamily="34" charset="0"/>
                <a:ea typeface="Arial" pitchFamily="34" charset="-122"/>
                <a:cs typeface="Arial" pitchFamily="34" charset="-120"/>
              </a:rPr>
              <a:t>The sprint's own headline pair was measured in June 2026 on a large private C++ corpus that is not publicly reproducible, and the deck does not quote figures a reader cannot re-derive — the previous slide's numbers all come from committed harnesses. What survives the omission is the </a:t>
            </a:r>
            <a:pPr indent="0" marL="0">
              <a:buNone/>
            </a:pPr>
            <a:r>
              <a:rPr lang="en-US" sz="1150" b="1" i="1" dirty="0">
                <a:solidFill>
                  <a:srgbClr val="E6EDF3"/>
                </a:solidFill>
                <a:latin typeface="Arial" pitchFamily="34" charset="0"/>
                <a:ea typeface="Arial" pitchFamily="34" charset="-122"/>
                <a:cs typeface="Arial" pitchFamily="34" charset="-120"/>
              </a:rPr>
              <a:t>shape</a:t>
            </a:r>
            <a:pPr indent="0" marL="0">
              <a:buNone/>
            </a:pPr>
            <a:r>
              <a:rPr lang="en-US" sz="1150" dirty="0">
                <a:solidFill>
                  <a:srgbClr val="8B95A5"/>
                </a:solidFill>
                <a:latin typeface="Arial" pitchFamily="34" charset="0"/>
                <a:ea typeface="Arial" pitchFamily="34" charset="-122"/>
                <a:cs typeface="Arial" pitchFamily="34" charset="-120"/>
              </a:rPr>
              <a:t>: the graph math was never the bottleneck, and every win came from doing less work rather than doing the same work faster. Same map contract throughout — byte-identical output before and after each of these changes.</a:t>
            </a:r>
            <a:endParaRPr lang="en-US" sz="1150" dirty="0"/>
          </a:p>
        </p:txBody>
      </p:sp>
      <p:sp>
        <p:nvSpPr>
          <p:cNvPr id="24" name="Text 2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mechanisms are in bench/PROFILE.md and the commit history; the private-corpus figures they produced are deliberately not quoted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docs/EVALS.md §5, pinned on this repository 2026-08-08 (the --for row re-pinned 2026-08-22)</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Ten everyday moments, and what each one costs</a:t>
            </a:r>
            <a:endParaRPr lang="en-US" sz="3200" dirty="0"/>
          </a:p>
        </p:txBody>
      </p:sp>
      <p:sp>
        <p:nvSpPr>
          <p:cNvPr id="4" name="Shape 2"/>
          <p:cNvSpPr/>
          <p:nvPr/>
        </p:nvSpPr>
        <p:spPr>
          <a:xfrm>
            <a:off x="566928" y="1517904"/>
            <a:ext cx="11055096" cy="310896"/>
          </a:xfrm>
          <a:prstGeom prst="roundRect">
            <a:avLst>
              <a:gd name="adj" fmla="val 26471"/>
            </a:avLst>
          </a:prstGeom>
          <a:solidFill>
            <a:srgbClr val="0D1117"/>
          </a:solidFill>
          <a:ln w="9525">
            <a:solidFill>
              <a:srgbClr val="232D3D"/>
            </a:solidFill>
            <a:prstDash val="solid"/>
          </a:ln>
        </p:spPr>
      </p:sp>
      <p:sp>
        <p:nvSpPr>
          <p:cNvPr id="5" name="Text 3"/>
          <p:cNvSpPr/>
          <p:nvPr/>
        </p:nvSpPr>
        <p:spPr>
          <a:xfrm>
            <a:off x="731520" y="1545336"/>
            <a:ext cx="2971800" cy="256032"/>
          </a:xfrm>
          <a:prstGeom prst="rect">
            <a:avLst/>
          </a:prstGeom>
          <a:noFill/>
          <a:ln/>
        </p:spPr>
        <p:txBody>
          <a:bodyPr wrap="square" lIns="0" tIns="0" rIns="0" bIns="0" rtlCol="0" anchor="ctr"/>
          <a:lstStyle/>
          <a:p>
            <a:pPr algn="l" indent="0" marL="0">
              <a:buNone/>
            </a:pPr>
            <a:r>
              <a:rPr lang="en-US" sz="1000" b="1" dirty="0">
                <a:solidFill>
                  <a:srgbClr val="8B95A5"/>
                </a:solidFill>
                <a:latin typeface="Arial" pitchFamily="34" charset="0"/>
                <a:ea typeface="Arial" pitchFamily="34" charset="-122"/>
                <a:cs typeface="Arial" pitchFamily="34" charset="-120"/>
              </a:rPr>
              <a:t>Ask it</a:t>
            </a:r>
            <a:endParaRPr lang="en-US" sz="1000" dirty="0"/>
          </a:p>
        </p:txBody>
      </p:sp>
      <p:sp>
        <p:nvSpPr>
          <p:cNvPr id="6" name="Text 4"/>
          <p:cNvSpPr/>
          <p:nvPr/>
        </p:nvSpPr>
        <p:spPr>
          <a:xfrm>
            <a:off x="3813048" y="1545336"/>
            <a:ext cx="2240280" cy="256032"/>
          </a:xfrm>
          <a:prstGeom prst="rect">
            <a:avLst/>
          </a:prstGeom>
          <a:noFill/>
          <a:ln/>
        </p:spPr>
        <p:txBody>
          <a:bodyPr wrap="square" lIns="0" tIns="0" rIns="0" bIns="0" rtlCol="0" anchor="ctr"/>
          <a:lstStyle/>
          <a:p>
            <a:pPr algn="l" indent="0" marL="0">
              <a:buNone/>
            </a:pPr>
            <a:r>
              <a:rPr lang="en-US" sz="1000" b="1" dirty="0">
                <a:solidFill>
                  <a:srgbClr val="8B95A5"/>
                </a:solidFill>
                <a:latin typeface="Courier New" pitchFamily="34" charset="0"/>
                <a:ea typeface="Courier New" pitchFamily="34" charset="-122"/>
                <a:cs typeface="Courier New" pitchFamily="34" charset="-120"/>
              </a:rPr>
              <a:t>Command</a:t>
            </a:r>
            <a:endParaRPr lang="en-US" sz="1000" dirty="0"/>
          </a:p>
        </p:txBody>
      </p:sp>
      <p:sp>
        <p:nvSpPr>
          <p:cNvPr id="7" name="Text 5"/>
          <p:cNvSpPr/>
          <p:nvPr/>
        </p:nvSpPr>
        <p:spPr>
          <a:xfrm>
            <a:off x="6163056" y="1545336"/>
            <a:ext cx="132588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ripwire</a:t>
            </a:r>
            <a:endParaRPr lang="en-US" sz="1000" dirty="0"/>
          </a:p>
        </p:txBody>
      </p:sp>
      <p:sp>
        <p:nvSpPr>
          <p:cNvPr id="8" name="Text 6"/>
          <p:cNvSpPr/>
          <p:nvPr/>
        </p:nvSpPr>
        <p:spPr>
          <a:xfrm>
            <a:off x="7598664" y="1545336"/>
            <a:ext cx="164592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naive read</a:t>
            </a:r>
            <a:endParaRPr lang="en-US" sz="1000" dirty="0"/>
          </a:p>
        </p:txBody>
      </p:sp>
      <p:sp>
        <p:nvSpPr>
          <p:cNvPr id="9" name="Text 7"/>
          <p:cNvSpPr/>
          <p:nvPr/>
        </p:nvSpPr>
        <p:spPr>
          <a:xfrm>
            <a:off x="9354312" y="1545336"/>
            <a:ext cx="210312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savings</a:t>
            </a:r>
            <a:endParaRPr lang="en-US" sz="1000" dirty="0"/>
          </a:p>
        </p:txBody>
      </p:sp>
      <p:sp>
        <p:nvSpPr>
          <p:cNvPr id="10" name="Shape 8"/>
          <p:cNvSpPr/>
          <p:nvPr/>
        </p:nvSpPr>
        <p:spPr>
          <a:xfrm>
            <a:off x="566928" y="1865376"/>
            <a:ext cx="11055096" cy="384048"/>
          </a:xfrm>
          <a:prstGeom prst="roundRect">
            <a:avLst>
              <a:gd name="adj" fmla="val 21429"/>
            </a:avLst>
          </a:prstGeom>
          <a:solidFill>
            <a:srgbClr val="161D28"/>
          </a:solidFill>
          <a:ln w="9525">
            <a:solidFill>
              <a:srgbClr val="232D3D"/>
            </a:solidFill>
            <a:prstDash val="solid"/>
          </a:ln>
        </p:spPr>
      </p:sp>
      <p:sp>
        <p:nvSpPr>
          <p:cNvPr id="11" name="Text 9"/>
          <p:cNvSpPr/>
          <p:nvPr/>
        </p:nvSpPr>
        <p:spPr>
          <a:xfrm>
            <a:off x="731520" y="1892808"/>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Orient me in this repo</a:t>
            </a:r>
            <a:endParaRPr lang="en-US" sz="1050" dirty="0"/>
          </a:p>
        </p:txBody>
      </p:sp>
      <p:sp>
        <p:nvSpPr>
          <p:cNvPr id="12" name="Text 10"/>
          <p:cNvSpPr/>
          <p:nvPr/>
        </p:nvSpPr>
        <p:spPr>
          <a:xfrm>
            <a:off x="3813048" y="1892808"/>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ripwire .</a:t>
            </a:r>
            <a:endParaRPr lang="en-US" sz="950" dirty="0"/>
          </a:p>
        </p:txBody>
      </p:sp>
      <p:sp>
        <p:nvSpPr>
          <p:cNvPr id="13" name="Text 11"/>
          <p:cNvSpPr/>
          <p:nvPr/>
        </p:nvSpPr>
        <p:spPr>
          <a:xfrm>
            <a:off x="6163056" y="1892808"/>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~5.6K</a:t>
            </a:r>
            <a:endParaRPr lang="en-US" sz="1050" dirty="0"/>
          </a:p>
        </p:txBody>
      </p:sp>
      <p:sp>
        <p:nvSpPr>
          <p:cNvPr id="14" name="Text 12"/>
          <p:cNvSpPr/>
          <p:nvPr/>
        </p:nvSpPr>
        <p:spPr>
          <a:xfrm>
            <a:off x="7598664" y="1892808"/>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~20K–25K</a:t>
            </a:r>
            <a:endParaRPr lang="en-US" sz="1050" dirty="0"/>
          </a:p>
        </p:txBody>
      </p:sp>
      <p:sp>
        <p:nvSpPr>
          <p:cNvPr id="15" name="Text 13"/>
          <p:cNvSpPr/>
          <p:nvPr/>
        </p:nvSpPr>
        <p:spPr>
          <a:xfrm>
            <a:off x="9354312" y="1892808"/>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3.6×–4.5×</a:t>
            </a:r>
            <a:endParaRPr lang="en-US" sz="1050" dirty="0"/>
          </a:p>
        </p:txBody>
      </p:sp>
      <p:sp>
        <p:nvSpPr>
          <p:cNvPr id="16" name="Shape 14"/>
          <p:cNvSpPr/>
          <p:nvPr/>
        </p:nvSpPr>
        <p:spPr>
          <a:xfrm>
            <a:off x="566928" y="2295144"/>
            <a:ext cx="11055096" cy="384048"/>
          </a:xfrm>
          <a:prstGeom prst="roundRect">
            <a:avLst>
              <a:gd name="adj" fmla="val 21429"/>
            </a:avLst>
          </a:prstGeom>
          <a:solidFill>
            <a:srgbClr val="161D28"/>
          </a:solidFill>
          <a:ln w="9525">
            <a:solidFill>
              <a:srgbClr val="232D3D"/>
            </a:solidFill>
            <a:prstDash val="solid"/>
          </a:ln>
        </p:spPr>
      </p:sp>
      <p:sp>
        <p:nvSpPr>
          <p:cNvPr id="17" name="Text 15"/>
          <p:cNvSpPr/>
          <p:nvPr/>
        </p:nvSpPr>
        <p:spPr>
          <a:xfrm>
            <a:off x="731520" y="2322576"/>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Where is X handled?</a:t>
            </a:r>
            <a:endParaRPr lang="en-US" sz="1050" dirty="0"/>
          </a:p>
        </p:txBody>
      </p:sp>
      <p:sp>
        <p:nvSpPr>
          <p:cNvPr id="18" name="Text 16"/>
          <p:cNvSpPr/>
          <p:nvPr/>
        </p:nvSpPr>
        <p:spPr>
          <a:xfrm>
            <a:off x="3813048" y="2322576"/>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--for="…"</a:t>
            </a:r>
            <a:endParaRPr lang="en-US" sz="950" dirty="0"/>
          </a:p>
        </p:txBody>
      </p:sp>
      <p:sp>
        <p:nvSpPr>
          <p:cNvPr id="19" name="Text 17"/>
          <p:cNvSpPr/>
          <p:nvPr/>
        </p:nvSpPr>
        <p:spPr>
          <a:xfrm>
            <a:off x="6163056" y="2322576"/>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~2.1K</a:t>
            </a:r>
            <a:endParaRPr lang="en-US" sz="1050" dirty="0"/>
          </a:p>
        </p:txBody>
      </p:sp>
      <p:sp>
        <p:nvSpPr>
          <p:cNvPr id="20" name="Text 18"/>
          <p:cNvSpPr/>
          <p:nvPr/>
        </p:nvSpPr>
        <p:spPr>
          <a:xfrm>
            <a:off x="7598664" y="2322576"/>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~4.9K–20K</a:t>
            </a:r>
            <a:endParaRPr lang="en-US" sz="1050" dirty="0"/>
          </a:p>
        </p:txBody>
      </p:sp>
      <p:sp>
        <p:nvSpPr>
          <p:cNvPr id="21" name="Text 19"/>
          <p:cNvSpPr/>
          <p:nvPr/>
        </p:nvSpPr>
        <p:spPr>
          <a:xfrm>
            <a:off x="9354312" y="2322576"/>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2.3×–9.3×</a:t>
            </a:r>
            <a:endParaRPr lang="en-US" sz="1050" dirty="0"/>
          </a:p>
        </p:txBody>
      </p:sp>
      <p:sp>
        <p:nvSpPr>
          <p:cNvPr id="22" name="Shape 20"/>
          <p:cNvSpPr/>
          <p:nvPr/>
        </p:nvSpPr>
        <p:spPr>
          <a:xfrm>
            <a:off x="566928" y="2724912"/>
            <a:ext cx="11055096" cy="384048"/>
          </a:xfrm>
          <a:prstGeom prst="roundRect">
            <a:avLst>
              <a:gd name="adj" fmla="val 21429"/>
            </a:avLst>
          </a:prstGeom>
          <a:solidFill>
            <a:srgbClr val="161D28"/>
          </a:solidFill>
          <a:ln w="9525">
            <a:solidFill>
              <a:srgbClr val="232D3D"/>
            </a:solidFill>
            <a:prstDash val="solid"/>
          </a:ln>
        </p:spPr>
      </p:sp>
      <p:sp>
        <p:nvSpPr>
          <p:cNvPr id="23" name="Text 21"/>
          <p:cNvSpPr/>
          <p:nvPr/>
        </p:nvSpPr>
        <p:spPr>
          <a:xfrm>
            <a:off x="731520" y="2752344"/>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What do I already know?</a:t>
            </a:r>
            <a:endParaRPr lang="en-US" sz="1050" dirty="0"/>
          </a:p>
        </p:txBody>
      </p:sp>
      <p:sp>
        <p:nvSpPr>
          <p:cNvPr id="24" name="Text 22"/>
          <p:cNvSpPr/>
          <p:nvPr/>
        </p:nvSpPr>
        <p:spPr>
          <a:xfrm>
            <a:off x="3813048" y="2752344"/>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--recall="…"</a:t>
            </a:r>
            <a:endParaRPr lang="en-US" sz="950" dirty="0"/>
          </a:p>
        </p:txBody>
      </p:sp>
      <p:sp>
        <p:nvSpPr>
          <p:cNvPr id="25" name="Text 23"/>
          <p:cNvSpPr/>
          <p:nvPr/>
        </p:nvSpPr>
        <p:spPr>
          <a:xfrm>
            <a:off x="6163056" y="2752344"/>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~15K</a:t>
            </a:r>
            <a:endParaRPr lang="en-US" sz="1050" dirty="0"/>
          </a:p>
        </p:txBody>
      </p:sp>
      <p:sp>
        <p:nvSpPr>
          <p:cNvPr id="26" name="Text 24"/>
          <p:cNvSpPr/>
          <p:nvPr/>
        </p:nvSpPr>
        <p:spPr>
          <a:xfrm>
            <a:off x="7598664" y="2752344"/>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~445K</a:t>
            </a:r>
            <a:endParaRPr lang="en-US" sz="1050" dirty="0"/>
          </a:p>
        </p:txBody>
      </p:sp>
      <p:sp>
        <p:nvSpPr>
          <p:cNvPr id="27" name="Text 25"/>
          <p:cNvSpPr/>
          <p:nvPr/>
        </p:nvSpPr>
        <p:spPr>
          <a:xfrm>
            <a:off x="9354312" y="2752344"/>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29.2×</a:t>
            </a:r>
            <a:endParaRPr lang="en-US" sz="1050" dirty="0"/>
          </a:p>
        </p:txBody>
      </p:sp>
      <p:sp>
        <p:nvSpPr>
          <p:cNvPr id="28" name="Shape 26"/>
          <p:cNvSpPr/>
          <p:nvPr/>
        </p:nvSpPr>
        <p:spPr>
          <a:xfrm>
            <a:off x="566928" y="3154680"/>
            <a:ext cx="11055096" cy="384048"/>
          </a:xfrm>
          <a:prstGeom prst="roundRect">
            <a:avLst>
              <a:gd name="adj" fmla="val 21429"/>
            </a:avLst>
          </a:prstGeom>
          <a:solidFill>
            <a:srgbClr val="161D28"/>
          </a:solidFill>
          <a:ln w="9525">
            <a:solidFill>
              <a:srgbClr val="232D3D"/>
            </a:solidFill>
            <a:prstDash val="solid"/>
          </a:ln>
        </p:spPr>
      </p:sp>
      <p:sp>
        <p:nvSpPr>
          <p:cNvPr id="29" name="Text 27"/>
          <p:cNvSpPr/>
          <p:nvPr/>
        </p:nvSpPr>
        <p:spPr>
          <a:xfrm>
            <a:off x="731520" y="3182112"/>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Set me up for this task</a:t>
            </a:r>
            <a:endParaRPr lang="en-US" sz="1050" dirty="0"/>
          </a:p>
        </p:txBody>
      </p:sp>
      <p:sp>
        <p:nvSpPr>
          <p:cNvPr id="30" name="Text 28"/>
          <p:cNvSpPr/>
          <p:nvPr/>
        </p:nvSpPr>
        <p:spPr>
          <a:xfrm>
            <a:off x="3813048" y="3182112"/>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--pack-task="…"</a:t>
            </a:r>
            <a:endParaRPr lang="en-US" sz="950" dirty="0"/>
          </a:p>
        </p:txBody>
      </p:sp>
      <p:sp>
        <p:nvSpPr>
          <p:cNvPr id="31" name="Text 29"/>
          <p:cNvSpPr/>
          <p:nvPr/>
        </p:nvSpPr>
        <p:spPr>
          <a:xfrm>
            <a:off x="6163056" y="3182112"/>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~2.1K</a:t>
            </a:r>
            <a:endParaRPr lang="en-US" sz="1050" dirty="0"/>
          </a:p>
        </p:txBody>
      </p:sp>
      <p:sp>
        <p:nvSpPr>
          <p:cNvPr id="32" name="Text 30"/>
          <p:cNvSpPr/>
          <p:nvPr/>
        </p:nvSpPr>
        <p:spPr>
          <a:xfrm>
            <a:off x="7598664" y="3182112"/>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~16K–80K</a:t>
            </a:r>
            <a:endParaRPr lang="en-US" sz="1050" dirty="0"/>
          </a:p>
        </p:txBody>
      </p:sp>
      <p:sp>
        <p:nvSpPr>
          <p:cNvPr id="33" name="Text 31"/>
          <p:cNvSpPr/>
          <p:nvPr/>
        </p:nvSpPr>
        <p:spPr>
          <a:xfrm>
            <a:off x="9354312" y="3182112"/>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7.7×–37.7×</a:t>
            </a:r>
            <a:endParaRPr lang="en-US" sz="1050" dirty="0"/>
          </a:p>
        </p:txBody>
      </p:sp>
      <p:sp>
        <p:nvSpPr>
          <p:cNvPr id="34" name="Shape 32"/>
          <p:cNvSpPr/>
          <p:nvPr/>
        </p:nvSpPr>
        <p:spPr>
          <a:xfrm>
            <a:off x="566928" y="3584448"/>
            <a:ext cx="11055096" cy="384048"/>
          </a:xfrm>
          <a:prstGeom prst="roundRect">
            <a:avLst>
              <a:gd name="adj" fmla="val 21429"/>
            </a:avLst>
          </a:prstGeom>
          <a:solidFill>
            <a:srgbClr val="161D28"/>
          </a:solidFill>
          <a:ln w="9525">
            <a:solidFill>
              <a:srgbClr val="232D3D"/>
            </a:solidFill>
            <a:prstDash val="solid"/>
          </a:ln>
        </p:spPr>
      </p:sp>
      <p:sp>
        <p:nvSpPr>
          <p:cNvPr id="35" name="Text 33"/>
          <p:cNvSpPr/>
          <p:nvPr/>
        </p:nvSpPr>
        <p:spPr>
          <a:xfrm>
            <a:off x="731520" y="3611880"/>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Show me this one function</a:t>
            </a:r>
            <a:endParaRPr lang="en-US" sz="1050" dirty="0"/>
          </a:p>
        </p:txBody>
      </p:sp>
      <p:sp>
        <p:nvSpPr>
          <p:cNvPr id="36" name="Text 34"/>
          <p:cNvSpPr/>
          <p:nvPr/>
        </p:nvSpPr>
        <p:spPr>
          <a:xfrm>
            <a:off x="3813048" y="3611880"/>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--expand=SYM --top-k=0</a:t>
            </a:r>
            <a:endParaRPr lang="en-US" sz="950" dirty="0"/>
          </a:p>
        </p:txBody>
      </p:sp>
      <p:sp>
        <p:nvSpPr>
          <p:cNvPr id="37" name="Text 35"/>
          <p:cNvSpPr/>
          <p:nvPr/>
        </p:nvSpPr>
        <p:spPr>
          <a:xfrm>
            <a:off x="6163056" y="3611880"/>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~260–16.5K</a:t>
            </a:r>
            <a:endParaRPr lang="en-US" sz="1050" dirty="0"/>
          </a:p>
        </p:txBody>
      </p:sp>
      <p:sp>
        <p:nvSpPr>
          <p:cNvPr id="38" name="Text 36"/>
          <p:cNvSpPr/>
          <p:nvPr/>
        </p:nvSpPr>
        <p:spPr>
          <a:xfrm>
            <a:off x="7598664" y="3611880"/>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~43K–174K</a:t>
            </a:r>
            <a:endParaRPr lang="en-US" sz="1050" dirty="0"/>
          </a:p>
        </p:txBody>
      </p:sp>
      <p:sp>
        <p:nvSpPr>
          <p:cNvPr id="39" name="Text 37"/>
          <p:cNvSpPr/>
          <p:nvPr/>
        </p:nvSpPr>
        <p:spPr>
          <a:xfrm>
            <a:off x="9354312" y="3611880"/>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2.6×–670×</a:t>
            </a:r>
            <a:endParaRPr lang="en-US" sz="1050" dirty="0"/>
          </a:p>
        </p:txBody>
      </p:sp>
      <p:sp>
        <p:nvSpPr>
          <p:cNvPr id="40" name="Shape 38"/>
          <p:cNvSpPr/>
          <p:nvPr/>
        </p:nvSpPr>
        <p:spPr>
          <a:xfrm>
            <a:off x="566928" y="4014216"/>
            <a:ext cx="11055096" cy="384048"/>
          </a:xfrm>
          <a:prstGeom prst="roundRect">
            <a:avLst>
              <a:gd name="adj" fmla="val 21429"/>
            </a:avLst>
          </a:prstGeom>
          <a:solidFill>
            <a:srgbClr val="161D28"/>
          </a:solidFill>
          <a:ln w="9525">
            <a:solidFill>
              <a:srgbClr val="232D3D"/>
            </a:solidFill>
            <a:prstDash val="solid"/>
          </a:ln>
        </p:spPr>
      </p:sp>
      <p:sp>
        <p:nvSpPr>
          <p:cNvPr id="41" name="Text 39"/>
          <p:cNvSpPr/>
          <p:nvPr/>
        </p:nvSpPr>
        <p:spPr>
          <a:xfrm>
            <a:off x="731520" y="4041648"/>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Who calls this function?</a:t>
            </a:r>
            <a:endParaRPr lang="en-US" sz="1050" dirty="0"/>
          </a:p>
        </p:txBody>
      </p:sp>
      <p:sp>
        <p:nvSpPr>
          <p:cNvPr id="42" name="Text 40"/>
          <p:cNvSpPr/>
          <p:nvPr/>
        </p:nvSpPr>
        <p:spPr>
          <a:xfrm>
            <a:off x="3813048" y="4041648"/>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--callers=SYM</a:t>
            </a:r>
            <a:endParaRPr lang="en-US" sz="950" dirty="0"/>
          </a:p>
        </p:txBody>
      </p:sp>
      <p:sp>
        <p:nvSpPr>
          <p:cNvPr id="43" name="Text 41"/>
          <p:cNvSpPr/>
          <p:nvPr/>
        </p:nvSpPr>
        <p:spPr>
          <a:xfrm>
            <a:off x="6163056" y="4041648"/>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~580</a:t>
            </a:r>
            <a:endParaRPr lang="en-US" sz="1050" dirty="0"/>
          </a:p>
        </p:txBody>
      </p:sp>
      <p:sp>
        <p:nvSpPr>
          <p:cNvPr id="44" name="Text 42"/>
          <p:cNvSpPr/>
          <p:nvPr/>
        </p:nvSpPr>
        <p:spPr>
          <a:xfrm>
            <a:off x="7598664" y="4041648"/>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~40K–52K</a:t>
            </a:r>
            <a:endParaRPr lang="en-US" sz="1050" dirty="0"/>
          </a:p>
        </p:txBody>
      </p:sp>
      <p:sp>
        <p:nvSpPr>
          <p:cNvPr id="45" name="Text 43"/>
          <p:cNvSpPr/>
          <p:nvPr/>
        </p:nvSpPr>
        <p:spPr>
          <a:xfrm>
            <a:off x="9354312" y="4041648"/>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69.2×–89.1×</a:t>
            </a:r>
            <a:endParaRPr lang="en-US" sz="1050" dirty="0"/>
          </a:p>
        </p:txBody>
      </p:sp>
      <p:sp>
        <p:nvSpPr>
          <p:cNvPr id="46" name="Shape 44"/>
          <p:cNvSpPr/>
          <p:nvPr/>
        </p:nvSpPr>
        <p:spPr>
          <a:xfrm>
            <a:off x="566928" y="4443984"/>
            <a:ext cx="11055096" cy="384048"/>
          </a:xfrm>
          <a:prstGeom prst="roundRect">
            <a:avLst>
              <a:gd name="adj" fmla="val 21429"/>
            </a:avLst>
          </a:prstGeom>
          <a:solidFill>
            <a:srgbClr val="161D28"/>
          </a:solidFill>
          <a:ln w="9525">
            <a:solidFill>
              <a:srgbClr val="232D3D"/>
            </a:solidFill>
            <a:prstDash val="solid"/>
          </a:ln>
        </p:spPr>
      </p:sp>
      <p:sp>
        <p:nvSpPr>
          <p:cNvPr id="47" name="Text 45"/>
          <p:cNvSpPr/>
          <p:nvPr/>
        </p:nvSpPr>
        <p:spPr>
          <a:xfrm>
            <a:off x="731520" y="4471416"/>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Is it safe to change this?</a:t>
            </a:r>
            <a:endParaRPr lang="en-US" sz="1050" dirty="0"/>
          </a:p>
        </p:txBody>
      </p:sp>
      <p:sp>
        <p:nvSpPr>
          <p:cNvPr id="48" name="Text 46"/>
          <p:cNvSpPr/>
          <p:nvPr/>
        </p:nvSpPr>
        <p:spPr>
          <a:xfrm>
            <a:off x="3813048" y="4471416"/>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--impact=SYM + --uses=SYM</a:t>
            </a:r>
            <a:endParaRPr lang="en-US" sz="950" dirty="0"/>
          </a:p>
        </p:txBody>
      </p:sp>
      <p:sp>
        <p:nvSpPr>
          <p:cNvPr id="49" name="Text 47"/>
          <p:cNvSpPr/>
          <p:nvPr/>
        </p:nvSpPr>
        <p:spPr>
          <a:xfrm>
            <a:off x="6163056" y="4471416"/>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~1.3K</a:t>
            </a:r>
            <a:endParaRPr lang="en-US" sz="1050" dirty="0"/>
          </a:p>
        </p:txBody>
      </p:sp>
      <p:sp>
        <p:nvSpPr>
          <p:cNvPr id="50" name="Text 48"/>
          <p:cNvSpPr/>
          <p:nvPr/>
        </p:nvSpPr>
        <p:spPr>
          <a:xfrm>
            <a:off x="7598664" y="4471416"/>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~18K</a:t>
            </a:r>
            <a:endParaRPr lang="en-US" sz="1050" dirty="0"/>
          </a:p>
        </p:txBody>
      </p:sp>
      <p:sp>
        <p:nvSpPr>
          <p:cNvPr id="51" name="Text 49"/>
          <p:cNvSpPr/>
          <p:nvPr/>
        </p:nvSpPr>
        <p:spPr>
          <a:xfrm>
            <a:off x="9354312" y="4471416"/>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14.4×</a:t>
            </a:r>
            <a:endParaRPr lang="en-US" sz="1050" dirty="0"/>
          </a:p>
        </p:txBody>
      </p:sp>
      <p:sp>
        <p:nvSpPr>
          <p:cNvPr id="52" name="Shape 50"/>
          <p:cNvSpPr/>
          <p:nvPr/>
        </p:nvSpPr>
        <p:spPr>
          <a:xfrm>
            <a:off x="566928" y="4873752"/>
            <a:ext cx="11055096" cy="384048"/>
          </a:xfrm>
          <a:prstGeom prst="roundRect">
            <a:avLst>
              <a:gd name="adj" fmla="val 21429"/>
            </a:avLst>
          </a:prstGeom>
          <a:solidFill>
            <a:srgbClr val="161D28"/>
          </a:solidFill>
          <a:ln w="9525">
            <a:solidFill>
              <a:srgbClr val="232D3D"/>
            </a:solidFill>
            <a:prstDash val="solid"/>
          </a:ln>
        </p:spPr>
      </p:sp>
      <p:sp>
        <p:nvSpPr>
          <p:cNvPr id="53" name="Text 51"/>
          <p:cNvSpPr/>
          <p:nvPr/>
        </p:nvSpPr>
        <p:spPr>
          <a:xfrm>
            <a:off x="731520" y="4901184"/>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 have a stack trace</a:t>
            </a:r>
            <a:endParaRPr lang="en-US" sz="1050" dirty="0"/>
          </a:p>
        </p:txBody>
      </p:sp>
      <p:sp>
        <p:nvSpPr>
          <p:cNvPr id="54" name="Text 52"/>
          <p:cNvSpPr/>
          <p:nvPr/>
        </p:nvSpPr>
        <p:spPr>
          <a:xfrm>
            <a:off x="3813048" y="4901184"/>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--from-trace=FILE</a:t>
            </a:r>
            <a:endParaRPr lang="en-US" sz="950" dirty="0"/>
          </a:p>
        </p:txBody>
      </p:sp>
      <p:sp>
        <p:nvSpPr>
          <p:cNvPr id="55" name="Text 53"/>
          <p:cNvSpPr/>
          <p:nvPr/>
        </p:nvSpPr>
        <p:spPr>
          <a:xfrm>
            <a:off x="6163056" y="4901184"/>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~1.4K</a:t>
            </a:r>
            <a:endParaRPr lang="en-US" sz="1050" dirty="0"/>
          </a:p>
        </p:txBody>
      </p:sp>
      <p:sp>
        <p:nvSpPr>
          <p:cNvPr id="56" name="Text 54"/>
          <p:cNvSpPr/>
          <p:nvPr/>
        </p:nvSpPr>
        <p:spPr>
          <a:xfrm>
            <a:off x="7598664" y="4901184"/>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~124K–298K</a:t>
            </a:r>
            <a:endParaRPr lang="en-US" sz="1050" dirty="0"/>
          </a:p>
        </p:txBody>
      </p:sp>
      <p:sp>
        <p:nvSpPr>
          <p:cNvPr id="57" name="Text 55"/>
          <p:cNvSpPr/>
          <p:nvPr/>
        </p:nvSpPr>
        <p:spPr>
          <a:xfrm>
            <a:off x="9354312" y="4901184"/>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86.9×–208.6×</a:t>
            </a:r>
            <a:endParaRPr lang="en-US" sz="1050" dirty="0"/>
          </a:p>
        </p:txBody>
      </p:sp>
      <p:sp>
        <p:nvSpPr>
          <p:cNvPr id="58" name="Shape 56"/>
          <p:cNvSpPr/>
          <p:nvPr/>
        </p:nvSpPr>
        <p:spPr>
          <a:xfrm>
            <a:off x="566928" y="5303520"/>
            <a:ext cx="11055096" cy="384048"/>
          </a:xfrm>
          <a:prstGeom prst="roundRect">
            <a:avLst>
              <a:gd name="adj" fmla="val 21429"/>
            </a:avLst>
          </a:prstGeom>
          <a:solidFill>
            <a:srgbClr val="161D28"/>
          </a:solidFill>
          <a:ln w="9525">
            <a:solidFill>
              <a:srgbClr val="232D3D"/>
            </a:solidFill>
            <a:prstDash val="solid"/>
          </a:ln>
        </p:spPr>
      </p:sp>
      <p:sp>
        <p:nvSpPr>
          <p:cNvPr id="59" name="Text 57"/>
          <p:cNvSpPr/>
          <p:nvPr/>
        </p:nvSpPr>
        <p:spPr>
          <a:xfrm>
            <a:off x="731520" y="5330952"/>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 changed these files — tests? radius?</a:t>
            </a:r>
            <a:endParaRPr lang="en-US" sz="1050" dirty="0"/>
          </a:p>
        </p:txBody>
      </p:sp>
      <p:sp>
        <p:nvSpPr>
          <p:cNvPr id="60" name="Text 58"/>
          <p:cNvSpPr/>
          <p:nvPr/>
        </p:nvSpPr>
        <p:spPr>
          <a:xfrm>
            <a:off x="3813048" y="5330952"/>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--situ</a:t>
            </a:r>
            <a:endParaRPr lang="en-US" sz="950" dirty="0"/>
          </a:p>
        </p:txBody>
      </p:sp>
      <p:sp>
        <p:nvSpPr>
          <p:cNvPr id="61" name="Text 59"/>
          <p:cNvSpPr/>
          <p:nvPr/>
        </p:nvSpPr>
        <p:spPr>
          <a:xfrm>
            <a:off x="6163056" y="5330952"/>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~410</a:t>
            </a:r>
            <a:endParaRPr lang="en-US" sz="1050" dirty="0"/>
          </a:p>
        </p:txBody>
      </p:sp>
      <p:sp>
        <p:nvSpPr>
          <p:cNvPr id="62" name="Text 60"/>
          <p:cNvSpPr/>
          <p:nvPr/>
        </p:nvSpPr>
        <p:spPr>
          <a:xfrm>
            <a:off x="7598664" y="5330952"/>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~3K–132K</a:t>
            </a:r>
            <a:endParaRPr lang="en-US" sz="1050" dirty="0"/>
          </a:p>
        </p:txBody>
      </p:sp>
      <p:sp>
        <p:nvSpPr>
          <p:cNvPr id="63" name="Text 61"/>
          <p:cNvSpPr/>
          <p:nvPr/>
        </p:nvSpPr>
        <p:spPr>
          <a:xfrm>
            <a:off x="9354312" y="5330952"/>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7.3×–324.2×</a:t>
            </a:r>
            <a:endParaRPr lang="en-US" sz="1050" dirty="0"/>
          </a:p>
        </p:txBody>
      </p:sp>
      <p:sp>
        <p:nvSpPr>
          <p:cNvPr id="64" name="Shape 62"/>
          <p:cNvSpPr/>
          <p:nvPr/>
        </p:nvSpPr>
        <p:spPr>
          <a:xfrm>
            <a:off x="566928" y="5733288"/>
            <a:ext cx="11055096" cy="384048"/>
          </a:xfrm>
          <a:prstGeom prst="roundRect">
            <a:avLst>
              <a:gd name="adj" fmla="val 21429"/>
            </a:avLst>
          </a:prstGeom>
          <a:solidFill>
            <a:srgbClr val="161D28"/>
          </a:solidFill>
          <a:ln w="9525">
            <a:solidFill>
              <a:srgbClr val="232D3D"/>
            </a:solidFill>
            <a:prstDash val="solid"/>
          </a:ln>
        </p:spPr>
      </p:sp>
      <p:sp>
        <p:nvSpPr>
          <p:cNvPr id="65" name="Text 63"/>
          <p:cNvSpPr/>
          <p:nvPr/>
        </p:nvSpPr>
        <p:spPr>
          <a:xfrm>
            <a:off x="731520" y="5760720"/>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Review this PR/diff</a:t>
            </a:r>
            <a:endParaRPr lang="en-US" sz="1050" dirty="0"/>
          </a:p>
        </p:txBody>
      </p:sp>
      <p:sp>
        <p:nvSpPr>
          <p:cNvPr id="66" name="Text 64"/>
          <p:cNvSpPr/>
          <p:nvPr/>
        </p:nvSpPr>
        <p:spPr>
          <a:xfrm>
            <a:off x="3813048" y="5760720"/>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--pr-context=REF</a:t>
            </a:r>
            <a:endParaRPr lang="en-US" sz="950" dirty="0"/>
          </a:p>
        </p:txBody>
      </p:sp>
      <p:sp>
        <p:nvSpPr>
          <p:cNvPr id="67" name="Text 65"/>
          <p:cNvSpPr/>
          <p:nvPr/>
        </p:nvSpPr>
        <p:spPr>
          <a:xfrm>
            <a:off x="6163056" y="5760720"/>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~1.9K</a:t>
            </a:r>
            <a:endParaRPr lang="en-US" sz="1050" dirty="0"/>
          </a:p>
        </p:txBody>
      </p:sp>
      <p:sp>
        <p:nvSpPr>
          <p:cNvPr id="68" name="Text 66"/>
          <p:cNvSpPr/>
          <p:nvPr/>
        </p:nvSpPr>
        <p:spPr>
          <a:xfrm>
            <a:off x="7598664" y="5760720"/>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~4.8K–51K</a:t>
            </a:r>
            <a:endParaRPr lang="en-US" sz="1050" dirty="0"/>
          </a:p>
        </p:txBody>
      </p:sp>
      <p:sp>
        <p:nvSpPr>
          <p:cNvPr id="69" name="Text 67"/>
          <p:cNvSpPr/>
          <p:nvPr/>
        </p:nvSpPr>
        <p:spPr>
          <a:xfrm>
            <a:off x="9354312" y="5760720"/>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2.6×–27.5×</a:t>
            </a:r>
            <a:endParaRPr lang="en-US" sz="1050" dirty="0"/>
          </a:p>
        </p:txBody>
      </p:sp>
      <p:sp>
        <p:nvSpPr>
          <p:cNvPr id="70" name="Text 68"/>
          <p:cNvSpPr/>
          <p:nvPr/>
        </p:nvSpPr>
        <p:spPr>
          <a:xfrm>
            <a:off x="566928" y="6199632"/>
            <a:ext cx="11055096" cy="566928"/>
          </a:xfrm>
          <a:prstGeom prst="rect">
            <a:avLst/>
          </a:prstGeom>
          <a:noFill/>
          <a:ln/>
        </p:spPr>
        <p:txBody>
          <a:bodyPr wrap="square" lIns="0" tIns="0" rIns="0" bIns="0" rtlCol="0" anchor="ctr"/>
          <a:lstStyle/>
          <a:p>
            <a:pPr indent="0" marL="0">
              <a:buNone/>
            </a:pPr>
            <a:r>
              <a:rPr lang="en-US" sz="1000" dirty="0">
                <a:solidFill>
                  <a:srgbClr val="8B95A5"/>
                </a:solidFill>
                <a:latin typeface="Arial" pitchFamily="34" charset="0"/>
                <a:ea typeface="Arial" pitchFamily="34" charset="-122"/>
                <a:cs typeface="Arial" pitchFamily="34" charset="-120"/>
              </a:rPr>
              <a:t>Figures are ~tokens (≈ bytes/4). Every row is scored same-correct-answer-or-it-doesn't-count — both sides were checked, not assumed — and every ratio is a </a:t>
            </a:r>
            <a:pPr indent="0" marL="0">
              <a:buNone/>
            </a:pPr>
            <a:r>
              <a:rPr lang="en-US" sz="1000" b="1" dirty="0">
                <a:solidFill>
                  <a:srgbClr val="E6EDF3"/>
                </a:solidFill>
                <a:latin typeface="Arial" pitchFamily="34" charset="0"/>
                <a:ea typeface="Arial" pitchFamily="34" charset="-122"/>
                <a:cs typeface="Arial" pitchFamily="34" charset="-120"/>
              </a:rPr>
              <a:t>range</a:t>
            </a:r>
            <a:pPr indent="0" marL="0">
              <a:buNone/>
            </a:pPr>
            <a:r>
              <a:rPr lang="en-US" sz="1000" dirty="0">
                <a:solidFill>
                  <a:srgbClr val="8B95A5"/>
                </a:solidFill>
                <a:latin typeface="Arial" pitchFamily="34" charset="0"/>
                <a:ea typeface="Arial" pitchFamily="34" charset="-122"/>
                <a:cs typeface="Arial" pitchFamily="34" charset="-120"/>
              </a:rPr>
              <a:t>: the cheap end and the honest end of what an agent would actually read, never the single most flattering number. Absolute counts belong to the corpus AT THE PIN — .gitignore became a crawl default on 2026-09-03, which moved what a re-run reads; the commands, not the constants, are what reproduces.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cost lever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Smaller answers that are also better answers</a:t>
            </a:r>
            <a:endParaRPr lang="en-US" sz="3400" dirty="0"/>
          </a:p>
        </p:txBody>
      </p:sp>
      <p:sp>
        <p:nvSpPr>
          <p:cNvPr id="4" name="Shape 2"/>
          <p:cNvSpPr/>
          <p:nvPr/>
        </p:nvSpPr>
        <p:spPr>
          <a:xfrm>
            <a:off x="566928" y="1783080"/>
            <a:ext cx="5394960" cy="2286000"/>
          </a:xfrm>
          <a:prstGeom prst="roundRect">
            <a:avLst>
              <a:gd name="adj" fmla="val 3600"/>
            </a:avLst>
          </a:prstGeom>
          <a:solidFill>
            <a:srgbClr val="161D28"/>
          </a:solidFill>
          <a:ln w="9525">
            <a:solidFill>
              <a:srgbClr val="232D3D"/>
            </a:solidFill>
            <a:prstDash val="solid"/>
          </a:ln>
        </p:spPr>
      </p:sp>
      <p:sp>
        <p:nvSpPr>
          <p:cNvPr id="5" name="Text 3"/>
          <p:cNvSpPr/>
          <p:nvPr/>
        </p:nvSpPr>
        <p:spPr>
          <a:xfrm>
            <a:off x="749808" y="2057400"/>
            <a:ext cx="5029200" cy="868680"/>
          </a:xfrm>
          <a:prstGeom prst="rect">
            <a:avLst/>
          </a:prstGeom>
          <a:noFill/>
          <a:ln/>
        </p:spPr>
        <p:txBody>
          <a:bodyPr wrap="square" lIns="0" tIns="0" rIns="0" bIns="0" rtlCol="0" anchor="ctr"/>
          <a:lstStyle/>
          <a:p>
            <a:pPr algn="ctr" indent="0" marL="0">
              <a:buNone/>
            </a:pPr>
            <a:r>
              <a:rPr lang="en-US" sz="5200" b="1" dirty="0">
                <a:solidFill>
                  <a:srgbClr val="56D6E8"/>
                </a:solidFill>
                <a:latin typeface="Arial" pitchFamily="34" charset="0"/>
                <a:ea typeface="Arial" pitchFamily="34" charset="-122"/>
                <a:cs typeface="Arial" pitchFamily="34" charset="-120"/>
              </a:rPr>
              <a:t>74.7%</a:t>
            </a:r>
            <a:endParaRPr lang="en-US" sz="5200" dirty="0"/>
          </a:p>
        </p:txBody>
      </p:sp>
      <p:sp>
        <p:nvSpPr>
          <p:cNvPr id="6" name="Text 4"/>
          <p:cNvSpPr/>
          <p:nvPr/>
        </p:nvSpPr>
        <p:spPr>
          <a:xfrm>
            <a:off x="749808" y="2871216"/>
            <a:ext cx="5029200" cy="685800"/>
          </a:xfrm>
          <a:prstGeom prst="rect">
            <a:avLst/>
          </a:prstGeom>
          <a:noFill/>
          <a:ln/>
        </p:spPr>
        <p:txBody>
          <a:bodyPr wrap="square" lIns="0" tIns="0" rIns="0" bIns="0" rtlCol="0" anchor="ctr"/>
          <a:lstStyle/>
          <a:p>
            <a:pPr algn="ctr" indent="0" marL="0">
              <a:buNone/>
            </a:pPr>
            <a:r>
              <a:rPr lang="en-US" sz="1200" dirty="0">
                <a:solidFill>
                  <a:srgbClr val="8B95A5"/>
                </a:solidFill>
                <a:latin typeface="Arial" pitchFamily="34" charset="0"/>
                <a:ea typeface="Arial" pitchFamily="34" charset="-122"/>
                <a:cs typeface="Arial" pitchFamily="34" charset="-120"/>
              </a:rPr>
              <a:t>fewer element bytes at top-50 — the --pack-signatures ladder,</a:t>
            </a:r>
            <a:endParaRPr lang="en-US" sz="1200" dirty="0"/>
          </a:p>
          <a:p>
            <a:pPr algn="ctr" indent="0" marL="0">
              <a:buNone/>
            </a:pPr>
            <a:r>
              <a:rPr lang="en-US" sz="1200" dirty="0">
                <a:solidFill>
                  <a:srgbClr val="8B95A5"/>
                </a:solidFill>
                <a:latin typeface="Arial" pitchFamily="34" charset="0"/>
                <a:ea typeface="Arial" pitchFamily="34" charset="-122"/>
                <a:cs typeface="Arial" pitchFamily="34" charset="-120"/>
              </a:rPr>
              <a:t>root-neutralised, re-derived on this repo every run</a:t>
            </a:r>
            <a:endParaRPr lang="en-US" sz="1200" dirty="0"/>
          </a:p>
        </p:txBody>
      </p:sp>
      <p:sp>
        <p:nvSpPr>
          <p:cNvPr id="7" name="Shape 5"/>
          <p:cNvSpPr/>
          <p:nvPr/>
        </p:nvSpPr>
        <p:spPr>
          <a:xfrm>
            <a:off x="566928" y="4251960"/>
            <a:ext cx="5394960" cy="1737360"/>
          </a:xfrm>
          <a:prstGeom prst="roundRect">
            <a:avLst>
              <a:gd name="adj" fmla="val 4737"/>
            </a:avLst>
          </a:prstGeom>
          <a:solidFill>
            <a:srgbClr val="161D28"/>
          </a:solidFill>
          <a:ln w="9525">
            <a:solidFill>
              <a:srgbClr val="232D3D"/>
            </a:solidFill>
            <a:prstDash val="solid"/>
          </a:ln>
        </p:spPr>
      </p:sp>
      <p:sp>
        <p:nvSpPr>
          <p:cNvPr id="8" name="Text 6"/>
          <p:cNvSpPr/>
          <p:nvPr/>
        </p:nvSpPr>
        <p:spPr>
          <a:xfrm>
            <a:off x="795528" y="4434840"/>
            <a:ext cx="4937760" cy="1417320"/>
          </a:xfrm>
          <a:prstGeom prst="rect">
            <a:avLst/>
          </a:prstGeom>
          <a:noFill/>
          <a:ln/>
        </p:spPr>
        <p:txBody>
          <a:bodyPr wrap="square" lIns="0" tIns="0" rIns="0" bIns="0" rtlCol="0" anchor="ctr"/>
          <a:lstStyle/>
          <a:p>
            <a:pPr indent="0" marL="0">
              <a:buNone/>
            </a:pPr>
            <a:r>
              <a:rPr lang="en-US" sz="1250" dirty="0">
                <a:solidFill>
                  <a:srgbClr val="8B95A5"/>
                </a:solidFill>
                <a:latin typeface="Arial" pitchFamily="34" charset="0"/>
                <a:ea typeface="Arial" pitchFamily="34" charset="-122"/>
                <a:cs typeface="Arial" pitchFamily="34" charset="-120"/>
              </a:rPr>
              <a:t>This figure survived its own audit: three corrections deep, re-derived root-neutrally after the original was shown to depend on how the corpus path was spelled — three spellings of one root read 18.6 points apart before that subtraction. top-50 is the quotable number because the payload is top-50 whatever --top-k says.</a:t>
            </a:r>
            <a:endParaRPr lang="en-US" sz="1250" dirty="0"/>
          </a:p>
        </p:txBody>
      </p:sp>
      <p:sp>
        <p:nvSpPr>
          <p:cNvPr id="9" name="Shape 7"/>
          <p:cNvSpPr/>
          <p:nvPr/>
        </p:nvSpPr>
        <p:spPr>
          <a:xfrm>
            <a:off x="6629400" y="1783080"/>
            <a:ext cx="4892040" cy="2286000"/>
          </a:xfrm>
          <a:prstGeom prst="roundRect">
            <a:avLst>
              <a:gd name="adj" fmla="val 3600"/>
            </a:avLst>
          </a:prstGeom>
          <a:solidFill>
            <a:srgbClr val="161D28"/>
          </a:solidFill>
          <a:ln w="9525">
            <a:solidFill>
              <a:srgbClr val="232D3D"/>
            </a:solidFill>
            <a:prstDash val="solid"/>
          </a:ln>
        </p:spPr>
      </p:sp>
      <p:sp>
        <p:nvSpPr>
          <p:cNvPr id="10" name="Text 8"/>
          <p:cNvSpPr/>
          <p:nvPr/>
        </p:nvSpPr>
        <p:spPr>
          <a:xfrm>
            <a:off x="6858000" y="1965960"/>
            <a:ext cx="4480560" cy="548640"/>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Ask for a symbol by NAME and the router uses the name-exact ranker:</a:t>
            </a:r>
            <a:endParaRPr lang="en-US" sz="1300" dirty="0"/>
          </a:p>
        </p:txBody>
      </p:sp>
      <p:sp>
        <p:nvSpPr>
          <p:cNvPr id="11" name="Text 9"/>
          <p:cNvSpPr/>
          <p:nvPr/>
        </p:nvSpPr>
        <p:spPr>
          <a:xfrm>
            <a:off x="6858000" y="2560320"/>
            <a:ext cx="4480560" cy="1371600"/>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MRR  0.745 → 0.960
</a:t>
            </a:r>
            <a:pPr indent="0" marL="0">
              <a:buNone/>
            </a:pPr>
            <a:r>
              <a:rPr lang="en-US" sz="1400" b="1" dirty="0">
                <a:solidFill>
                  <a:srgbClr val="4AC26B"/>
                </a:solidFill>
                <a:latin typeface="Courier New" pitchFamily="34" charset="0"/>
                <a:ea typeface="Courier New" pitchFamily="34" charset="-122"/>
                <a:cs typeface="Courier New" pitchFamily="34" charset="-120"/>
              </a:rPr>
              <a:t>recall@1  61.1% → 91.3%
</a:t>
            </a:r>
            <a:pPr indent="0" marL="0">
              <a:buNone/>
            </a:pPr>
            <a:r>
              <a:rPr lang="en-US" sz="1400" dirty="0">
                <a:solidFill>
                  <a:srgbClr val="8B95A5"/>
                </a:solidFill>
                <a:latin typeface="Courier New" pitchFamily="34" charset="0"/>
                <a:ea typeface="Courier New" pitchFamily="34" charset="-122"/>
                <a:cs typeface="Courier New" pitchFamily="34" charset="-120"/>
              </a:rPr>
              <a:t>name-shaped queries on src/, all 3,011 doc-commented symbols scored, re-pinned 2026-09-05</a:t>
            </a:r>
            <a:endParaRPr lang="en-US" sz="1400" dirty="0"/>
          </a:p>
        </p:txBody>
      </p:sp>
      <p:sp>
        <p:nvSpPr>
          <p:cNvPr id="12" name="Shape 10"/>
          <p:cNvSpPr/>
          <p:nvPr/>
        </p:nvSpPr>
        <p:spPr>
          <a:xfrm>
            <a:off x="6629400" y="4251960"/>
            <a:ext cx="4892040" cy="1737360"/>
          </a:xfrm>
          <a:prstGeom prst="roundRect">
            <a:avLst>
              <a:gd name="adj" fmla="val 4737"/>
            </a:avLst>
          </a:prstGeom>
          <a:solidFill>
            <a:srgbClr val="161D28"/>
          </a:solidFill>
          <a:ln w="9525">
            <a:solidFill>
              <a:srgbClr val="232D3D"/>
            </a:solidFill>
            <a:prstDash val="solid"/>
          </a:ln>
        </p:spPr>
      </p:sp>
      <p:sp>
        <p:nvSpPr>
          <p:cNvPr id="13" name="Text 11"/>
          <p:cNvSpPr/>
          <p:nvPr/>
        </p:nvSpPr>
        <p:spPr>
          <a:xfrm>
            <a:off x="6858000" y="4434840"/>
            <a:ext cx="4480560" cy="1417320"/>
          </a:xfrm>
          <a:prstGeom prst="rect">
            <a:avLst/>
          </a:prstGeom>
          <a:noFill/>
          <a:ln/>
        </p:spPr>
        <p:txBody>
          <a:bodyPr wrap="square" lIns="0" tIns="0" rIns="0" bIns="0" rtlCol="0" anchor="ctr"/>
          <a:lstStyle/>
          <a:p>
            <a:pPr indent="0" marL="0">
              <a:buNone/>
            </a:pPr>
            <a:r>
              <a:rPr lang="en-US" sz="1250" dirty="0">
                <a:solidFill>
                  <a:srgbClr val="8B95A5"/>
                </a:solidFill>
                <a:latin typeface="Arial" pitchFamily="34" charset="0"/>
                <a:ea typeface="Arial" pitchFamily="34" charset="-122"/>
                <a:cs typeface="Arial" pitchFamily="34" charset="-120"/>
              </a:rPr>
              <a:t>And the pollution metric — fixture and generated paths contaminating results — is driven to 0.0% on the ranking lane while recall went UP, not down.</a:t>
            </a:r>
            <a:endParaRPr lang="en-US" sz="1250" dirty="0"/>
          </a:p>
        </p:txBody>
      </p:sp>
      <p:sp>
        <p:nvSpPr>
          <p:cNvPr id="14" name="Text 1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§4–§5 — showcasecapturecheck re-derives the byte-reduction triple; `ripwire src --eval-retrieval` re-derives the ranking bars, scoring every doc-commented symbol rather than a sample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half no other tool ships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tripwire: honesty as an output contract</a:t>
            </a:r>
            <a:endParaRPr lang="en-US" sz="3400" dirty="0"/>
          </a:p>
        </p:txBody>
      </p:sp>
      <p:sp>
        <p:nvSpPr>
          <p:cNvPr id="4" name="Shape 2"/>
          <p:cNvSpPr/>
          <p:nvPr/>
        </p:nvSpPr>
        <p:spPr>
          <a:xfrm>
            <a:off x="566928" y="1783080"/>
            <a:ext cx="6949440" cy="969264"/>
          </a:xfrm>
          <a:prstGeom prst="roundRect">
            <a:avLst>
              <a:gd name="adj" fmla="val 8491"/>
            </a:avLst>
          </a:prstGeom>
          <a:solidFill>
            <a:srgbClr val="161D28"/>
          </a:solidFill>
          <a:ln w="9525">
            <a:solidFill>
              <a:srgbClr val="232D3D"/>
            </a:solidFill>
            <a:prstDash val="solid"/>
          </a:ln>
        </p:spPr>
      </p:sp>
      <p:sp>
        <p:nvSpPr>
          <p:cNvPr id="5" name="Text 3"/>
          <p:cNvSpPr/>
          <p:nvPr/>
        </p:nvSpPr>
        <p:spPr>
          <a:xfrm>
            <a:off x="749808" y="1865376"/>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counts_floor="1"</a:t>
            </a:r>
            <a:endParaRPr lang="en-US" sz="1350" dirty="0"/>
          </a:p>
        </p:txBody>
      </p:sp>
      <p:sp>
        <p:nvSpPr>
          <p:cNvPr id="6" name="Text 4"/>
          <p:cNvSpPr/>
          <p:nvPr/>
        </p:nvSpPr>
        <p:spPr>
          <a:xfrm>
            <a:off x="749808" y="2194560"/>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call edges come from source text — dynamic dispatch adds no edge, so every count that cannot claim completeness is labelled a floor, in the output itself</a:t>
            </a:r>
            <a:endParaRPr lang="en-US" sz="1100" dirty="0"/>
          </a:p>
        </p:txBody>
      </p:sp>
      <p:sp>
        <p:nvSpPr>
          <p:cNvPr id="7" name="Shape 5"/>
          <p:cNvSpPr/>
          <p:nvPr/>
        </p:nvSpPr>
        <p:spPr>
          <a:xfrm>
            <a:off x="566928" y="2862072"/>
            <a:ext cx="6949440" cy="969264"/>
          </a:xfrm>
          <a:prstGeom prst="roundRect">
            <a:avLst>
              <a:gd name="adj" fmla="val 8491"/>
            </a:avLst>
          </a:prstGeom>
          <a:solidFill>
            <a:srgbClr val="161D28"/>
          </a:solidFill>
          <a:ln w="9525">
            <a:solidFill>
              <a:srgbClr val="232D3D"/>
            </a:solidFill>
            <a:prstDash val="solid"/>
          </a:ln>
        </p:spPr>
      </p:sp>
      <p:sp>
        <p:nvSpPr>
          <p:cNvPr id="8" name="Text 6"/>
          <p:cNvSpPr/>
          <p:nvPr/>
        </p:nvSpPr>
        <p:spPr>
          <a:xfrm>
            <a:off x="749808" y="2944368"/>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a zero is a measurement</a:t>
            </a:r>
            <a:endParaRPr lang="en-US" sz="1350" dirty="0"/>
          </a:p>
        </p:txBody>
      </p:sp>
      <p:sp>
        <p:nvSpPr>
          <p:cNvPr id="9" name="Text 7"/>
          <p:cNvSpPr/>
          <p:nvPr/>
        </p:nvSpPr>
        <p:spPr>
          <a:xfrm>
            <a:off x="749808" y="3273552"/>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zero means none found, never none exists — and absent ≠ 0</a:t>
            </a:r>
            <a:endParaRPr lang="en-US" sz="1100" dirty="0"/>
          </a:p>
        </p:txBody>
      </p:sp>
      <p:sp>
        <p:nvSpPr>
          <p:cNvPr id="10" name="Shape 8"/>
          <p:cNvSpPr/>
          <p:nvPr/>
        </p:nvSpPr>
        <p:spPr>
          <a:xfrm>
            <a:off x="566928" y="3941064"/>
            <a:ext cx="6949440" cy="969264"/>
          </a:xfrm>
          <a:prstGeom prst="roundRect">
            <a:avLst>
              <a:gd name="adj" fmla="val 8491"/>
            </a:avLst>
          </a:prstGeom>
          <a:solidFill>
            <a:srgbClr val="161D28"/>
          </a:solidFill>
          <a:ln w="9525">
            <a:solidFill>
              <a:srgbClr val="232D3D"/>
            </a:solidFill>
            <a:prstDash val="solid"/>
          </a:ln>
        </p:spPr>
      </p:sp>
      <p:sp>
        <p:nvSpPr>
          <p:cNvPr id="11" name="Text 9"/>
          <p:cNvSpPr/>
          <p:nvPr/>
        </p:nvSpPr>
        <p:spPr>
          <a:xfrm>
            <a:off x="749808" y="4023360"/>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truncation is disclosed</a:t>
            </a:r>
            <a:endParaRPr lang="en-US" sz="1350" dirty="0"/>
          </a:p>
        </p:txBody>
      </p:sp>
      <p:sp>
        <p:nvSpPr>
          <p:cNvPr id="12" name="Text 10"/>
          <p:cNvSpPr/>
          <p:nvPr/>
        </p:nvSpPr>
        <p:spPr>
          <a:xfrm>
            <a:off x="749808" y="4352544"/>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every cap, page seam and budget cut is named in the header before you read a row</a:t>
            </a:r>
            <a:endParaRPr lang="en-US" sz="1100" dirty="0"/>
          </a:p>
        </p:txBody>
      </p:sp>
      <p:sp>
        <p:nvSpPr>
          <p:cNvPr id="13" name="Shape 11"/>
          <p:cNvSpPr/>
          <p:nvPr/>
        </p:nvSpPr>
        <p:spPr>
          <a:xfrm>
            <a:off x="566928" y="5020056"/>
            <a:ext cx="6949440" cy="969264"/>
          </a:xfrm>
          <a:prstGeom prst="roundRect">
            <a:avLst>
              <a:gd name="adj" fmla="val 8491"/>
            </a:avLst>
          </a:prstGeom>
          <a:solidFill>
            <a:srgbClr val="161D28"/>
          </a:solidFill>
          <a:ln w="9525">
            <a:solidFill>
              <a:srgbClr val="232D3D"/>
            </a:solidFill>
            <a:prstDash val="solid"/>
          </a:ln>
        </p:spPr>
      </p:sp>
      <p:sp>
        <p:nvSpPr>
          <p:cNvPr id="14" name="Text 12"/>
          <p:cNvSpPr/>
          <p:nvPr/>
        </p:nvSpPr>
        <p:spPr>
          <a:xfrm>
            <a:off x="749808" y="5102352"/>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refusals teach</a:t>
            </a:r>
            <a:endParaRPr lang="en-US" sz="1350" dirty="0"/>
          </a:p>
        </p:txBody>
      </p:sp>
      <p:sp>
        <p:nvSpPr>
          <p:cNvPr id="15" name="Text 13"/>
          <p:cNvSpPr/>
          <p:nvPr/>
        </p:nvSpPr>
        <p:spPr>
          <a:xfrm>
            <a:off x="749808" y="5431536"/>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a refused query names the flag, the problem, and a working example — never a bare error</a:t>
            </a:r>
            <a:endParaRPr lang="en-US" sz="1100" dirty="0"/>
          </a:p>
        </p:txBody>
      </p:sp>
      <p:sp>
        <p:nvSpPr>
          <p:cNvPr id="16" name="Shape 14"/>
          <p:cNvSpPr/>
          <p:nvPr/>
        </p:nvSpPr>
        <p:spPr>
          <a:xfrm>
            <a:off x="7772400" y="1783080"/>
            <a:ext cx="3749040" cy="2834640"/>
          </a:xfrm>
          <a:prstGeom prst="roundRect">
            <a:avLst>
              <a:gd name="adj" fmla="val 2903"/>
            </a:avLst>
          </a:prstGeom>
          <a:solidFill>
            <a:srgbClr val="1B2432"/>
          </a:solidFill>
          <a:ln w="9525">
            <a:solidFill>
              <a:srgbClr val="232D3D"/>
            </a:solidFill>
            <a:prstDash val="solid"/>
          </a:ln>
        </p:spPr>
      </p:sp>
      <p:sp>
        <p:nvSpPr>
          <p:cNvPr id="17" name="Text 15"/>
          <p:cNvSpPr/>
          <p:nvPr/>
        </p:nvSpPr>
        <p:spPr>
          <a:xfrm>
            <a:off x="7936992" y="1920240"/>
            <a:ext cx="3474720" cy="274320"/>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 ripwire . --callers=rankGraphTeleport</a:t>
            </a:r>
            <a:endParaRPr lang="en-US" sz="1000" dirty="0"/>
          </a:p>
        </p:txBody>
      </p:sp>
      <p:sp>
        <p:nvSpPr>
          <p:cNvPr id="18" name="Text 16"/>
          <p:cNvSpPr/>
          <p:nvPr/>
        </p:nvSpPr>
        <p:spPr>
          <a:xfrm>
            <a:off x="7936992" y="2212848"/>
            <a:ext cx="3474720" cy="2286000"/>
          </a:xfrm>
          <a:prstGeom prst="rect">
            <a:avLst/>
          </a:prstGeom>
          <a:noFill/>
          <a:ln/>
        </p:spPr>
        <p:txBody>
          <a:bodyPr wrap="square" lIns="0" tIns="0" rIns="0" bIns="0" rtlCol="0" anchor="t"/>
          <a:lstStyle/>
          <a:p>
            <a:pPr indent="0" marL="0">
              <a:buNone/>
            </a:pPr>
            <a:r>
              <a:rPr lang="en-US" sz="1050" dirty="0">
                <a:solidFill>
                  <a:srgbClr val="E6EDF3"/>
                </a:solidFill>
                <a:latin typeface="Courier New" pitchFamily="34" charset="0"/>
                <a:ea typeface="Courier New" pitchFamily="34" charset="-122"/>
                <a:cs typeface="Courier New" pitchFamily="34" charset="-120"/>
              </a:rPr>
              <a:t>&lt;callers of="rankGraphTeleport"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defs="1" count="6" </a:t>
            </a:r>
            <a:endParaRPr lang="en-US" sz="1050" dirty="0"/>
          </a:p>
          <a:p>
            <a:pPr indent="0" marL="0">
              <a:buNone/>
            </a:pPr>
            <a:r>
              <a:rPr lang="en-US" sz="1050" b="1" dirty="0">
                <a:solidFill>
                  <a:srgbClr val="F2B84B"/>
                </a:solidFill>
                <a:latin typeface="Courier New" pitchFamily="34" charset="0"/>
                <a:ea typeface="Courier New" pitchFamily="34" charset="-122"/>
                <a:cs typeface="Courier New" pitchFamily="34" charset="-120"/>
              </a:rPr>
              <a:t>counts_floor="1"</a:t>
            </a:r>
            <a:pPr indent="0" marL="0">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&lt;s t="fn" n="runEval" .../&gt;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&lt;s t="fn" n="rankGraph" .../&gt;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&lt;/callers&gt;</a:t>
            </a:r>
            <a:endParaRPr lang="en-US" sz="1050" dirty="0"/>
          </a:p>
        </p:txBody>
      </p:sp>
      <p:sp>
        <p:nvSpPr>
          <p:cNvPr id="19" name="Shape 17"/>
          <p:cNvSpPr/>
          <p:nvPr/>
        </p:nvSpPr>
        <p:spPr>
          <a:xfrm>
            <a:off x="7772400" y="4800600"/>
            <a:ext cx="3749040" cy="1325880"/>
          </a:xfrm>
          <a:prstGeom prst="roundRect">
            <a:avLst>
              <a:gd name="adj" fmla="val 6207"/>
            </a:avLst>
          </a:prstGeom>
          <a:solidFill>
            <a:srgbClr val="161D28"/>
          </a:solidFill>
          <a:ln w="9525">
            <a:solidFill>
              <a:srgbClr val="232D3D"/>
            </a:solidFill>
            <a:prstDash val="solid"/>
          </a:ln>
        </p:spPr>
      </p:sp>
      <p:sp>
        <p:nvSpPr>
          <p:cNvPr id="20" name="Text 18"/>
          <p:cNvSpPr/>
          <p:nvPr/>
        </p:nvSpPr>
        <p:spPr>
          <a:xfrm>
            <a:off x="7936992" y="4901184"/>
            <a:ext cx="3474720" cy="1133856"/>
          </a:xfrm>
          <a:prstGeom prst="rect">
            <a:avLst/>
          </a:prstGeom>
          <a:noFill/>
          <a:ln/>
        </p:spPr>
        <p:txBody>
          <a:bodyPr wrap="square" lIns="0" tIns="0" rIns="0" bIns="0" rtlCol="0" anchor="ctr"/>
          <a:lstStyle/>
          <a:p>
            <a:pPr indent="0" marL="0">
              <a:buNone/>
            </a:pPr>
            <a:r>
              <a:rPr lang="en-US" sz="1000" b="1" dirty="0">
                <a:solidFill>
                  <a:srgbClr val="E6EDF3"/>
                </a:solidFill>
                <a:latin typeface="Arial" pitchFamily="34" charset="0"/>
                <a:ea typeface="Arial" pitchFamily="34" charset="-122"/>
                <a:cs typeface="Arial" pitchFamily="34" charset="-120"/>
              </a:rPr>
              <a:t>The map grades itself before it answers. </a:t>
            </a:r>
            <a:pPr indent="0" marL="0">
              <a:buNone/>
            </a:pPr>
            <a:r>
              <a:rPr lang="en-US" sz="1000" dirty="0">
                <a:solidFill>
                  <a:srgbClr val="8B95A5"/>
                </a:solidFill>
                <a:latin typeface="Courier New" pitchFamily="34" charset="0"/>
                <a:ea typeface="Courier New" pitchFamily="34" charset="-122"/>
                <a:cs typeface="Courier New" pitchFamily="34" charset="-120"/>
              </a:rPr>
              <a:t>This repository's own src/: files=153 symbols=5122 edges=14182 ambiguous=5982 unresolved=1598.</a:t>
            </a:r>
            <a:endParaRPr lang="en-US" sz="1000" dirty="0"/>
          </a:p>
        </p:txBody>
      </p:sp>
      <p:sp>
        <p:nvSpPr>
          <p:cNvPr id="21" name="Text 1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§8 lists the numbers this project refuses to publish, each with its reason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honesty marks stop being a promise and become a measurement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Four levers accepted, one rejected on purpose</a:t>
            </a:r>
            <a:endParaRPr lang="en-US" sz="3400" dirty="0"/>
          </a:p>
        </p:txBody>
      </p:sp>
      <p:sp>
        <p:nvSpPr>
          <p:cNvPr id="4" name="Shape 2"/>
          <p:cNvSpPr/>
          <p:nvPr/>
        </p:nvSpPr>
        <p:spPr>
          <a:xfrm>
            <a:off x="566928" y="1645920"/>
            <a:ext cx="11055096" cy="603504"/>
          </a:xfrm>
          <a:prstGeom prst="roundRect">
            <a:avLst>
              <a:gd name="adj" fmla="val 13636"/>
            </a:avLst>
          </a:prstGeom>
          <a:solidFill>
            <a:srgbClr val="161D28"/>
          </a:solidFill>
          <a:ln w="9525">
            <a:solidFill>
              <a:srgbClr val="232D3D"/>
            </a:solidFill>
            <a:prstDash val="solid"/>
          </a:ln>
        </p:spPr>
      </p:sp>
      <p:sp>
        <p:nvSpPr>
          <p:cNvPr id="5" name="Text 3"/>
          <p:cNvSpPr/>
          <p:nvPr/>
        </p:nvSpPr>
        <p:spPr>
          <a:xfrm>
            <a:off x="731520" y="1673352"/>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macro edges</a:t>
            </a:r>
            <a:endParaRPr lang="en-US" sz="1200" dirty="0"/>
          </a:p>
        </p:txBody>
      </p:sp>
      <p:sp>
        <p:nvSpPr>
          <p:cNvPr id="6" name="Text 4"/>
          <p:cNvSpPr/>
          <p:nvPr/>
        </p:nvSpPr>
        <p:spPr>
          <a:xfrm>
            <a:off x="2807208" y="1673352"/>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48</a:t>
            </a:r>
            <a:endParaRPr lang="en-US" sz="1050" dirty="0"/>
          </a:p>
        </p:txBody>
      </p:sp>
      <p:sp>
        <p:nvSpPr>
          <p:cNvPr id="7" name="Text 5"/>
          <p:cNvSpPr/>
          <p:nvPr/>
        </p:nvSpPr>
        <p:spPr>
          <a:xfrm>
            <a:off x="4242816" y="1673352"/>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function-like #define invocations land role="macro" edges on disclosed-degraded symbols</a:t>
            </a:r>
            <a:endParaRPr lang="en-US" sz="1100" dirty="0"/>
          </a:p>
        </p:txBody>
      </p:sp>
      <p:sp>
        <p:nvSpPr>
          <p:cNvPr id="8" name="Shape 6"/>
          <p:cNvSpPr/>
          <p:nvPr/>
        </p:nvSpPr>
        <p:spPr>
          <a:xfrm>
            <a:off x="566928" y="2322576"/>
            <a:ext cx="11055096" cy="603504"/>
          </a:xfrm>
          <a:prstGeom prst="roundRect">
            <a:avLst>
              <a:gd name="adj" fmla="val 13636"/>
            </a:avLst>
          </a:prstGeom>
          <a:solidFill>
            <a:srgbClr val="161D28"/>
          </a:solidFill>
          <a:ln w="9525">
            <a:solidFill>
              <a:srgbClr val="232D3D"/>
            </a:solidFill>
            <a:prstDash val="solid"/>
          </a:ln>
        </p:spPr>
      </p:sp>
      <p:sp>
        <p:nvSpPr>
          <p:cNvPr id="9" name="Text 7"/>
          <p:cNvSpPr/>
          <p:nvPr/>
        </p:nvSpPr>
        <p:spPr>
          <a:xfrm>
            <a:off x="731520" y="2350008"/>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fn-pointer bindings</a:t>
            </a:r>
            <a:endParaRPr lang="en-US" sz="1200" dirty="0"/>
          </a:p>
        </p:txBody>
      </p:sp>
      <p:sp>
        <p:nvSpPr>
          <p:cNvPr id="10" name="Text 8"/>
          <p:cNvSpPr/>
          <p:nvPr/>
        </p:nvSpPr>
        <p:spPr>
          <a:xfrm>
            <a:off x="2807208" y="2350008"/>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49</a:t>
            </a:r>
            <a:endParaRPr lang="en-US" sz="1050" dirty="0"/>
          </a:p>
        </p:txBody>
      </p:sp>
      <p:sp>
        <p:nvSpPr>
          <p:cNvPr id="11" name="Text 9"/>
          <p:cNvSpPr/>
          <p:nvPr/>
        </p:nvSpPr>
        <p:spPr>
          <a:xfrm>
            <a:off x="4242816" y="2350008"/>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calls through unambiguous local function-pointer bindings now resolve</a:t>
            </a:r>
            <a:endParaRPr lang="en-US" sz="1100" dirty="0"/>
          </a:p>
        </p:txBody>
      </p:sp>
      <p:sp>
        <p:nvSpPr>
          <p:cNvPr id="12" name="Shape 10"/>
          <p:cNvSpPr/>
          <p:nvPr/>
        </p:nvSpPr>
        <p:spPr>
          <a:xfrm>
            <a:off x="566928" y="2999232"/>
            <a:ext cx="11055096" cy="603504"/>
          </a:xfrm>
          <a:prstGeom prst="roundRect">
            <a:avLst>
              <a:gd name="adj" fmla="val 13636"/>
            </a:avLst>
          </a:prstGeom>
          <a:solidFill>
            <a:srgbClr val="161D28"/>
          </a:solidFill>
          <a:ln w="9525">
            <a:solidFill>
              <a:srgbClr val="232D3D"/>
            </a:solidFill>
            <a:prstDash val="solid"/>
          </a:ln>
        </p:spPr>
      </p:sp>
      <p:sp>
        <p:nvSpPr>
          <p:cNvPr id="13" name="Text 11"/>
          <p:cNvSpPr/>
          <p:nvPr/>
        </p:nvSpPr>
        <p:spPr>
          <a:xfrm>
            <a:off x="731520" y="3026664"/>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using-declarations</a:t>
            </a:r>
            <a:endParaRPr lang="en-US" sz="1200" dirty="0"/>
          </a:p>
        </p:txBody>
      </p:sp>
      <p:sp>
        <p:nvSpPr>
          <p:cNvPr id="14" name="Text 12"/>
          <p:cNvSpPr/>
          <p:nvPr/>
        </p:nvSpPr>
        <p:spPr>
          <a:xfrm>
            <a:off x="2807208" y="3026664"/>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51</a:t>
            </a:r>
            <a:endParaRPr lang="en-US" sz="1050" dirty="0"/>
          </a:p>
        </p:txBody>
      </p:sp>
      <p:sp>
        <p:nvSpPr>
          <p:cNvPr id="15" name="Text 13"/>
          <p:cNvSpPr/>
          <p:nvPr/>
        </p:nvSpPr>
        <p:spPr>
          <a:xfrm>
            <a:off x="4242816" y="3026664"/>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re-exports emit role="import" references — r9 loss bucket 1</a:t>
            </a:r>
            <a:endParaRPr lang="en-US" sz="1100" dirty="0"/>
          </a:p>
        </p:txBody>
      </p:sp>
      <p:sp>
        <p:nvSpPr>
          <p:cNvPr id="16" name="Shape 14"/>
          <p:cNvSpPr/>
          <p:nvPr/>
        </p:nvSpPr>
        <p:spPr>
          <a:xfrm>
            <a:off x="566928" y="3675888"/>
            <a:ext cx="11055096" cy="603504"/>
          </a:xfrm>
          <a:prstGeom prst="roundRect">
            <a:avLst>
              <a:gd name="adj" fmla="val 13636"/>
            </a:avLst>
          </a:prstGeom>
          <a:solidFill>
            <a:srgbClr val="161D28"/>
          </a:solidFill>
          <a:ln w="9525">
            <a:solidFill>
              <a:srgbClr val="232D3D"/>
            </a:solidFill>
            <a:prstDash val="solid"/>
          </a:ln>
        </p:spPr>
      </p:sp>
      <p:sp>
        <p:nvSpPr>
          <p:cNvPr id="17" name="Text 15"/>
          <p:cNvSpPr/>
          <p:nvPr/>
        </p:nvSpPr>
        <p:spPr>
          <a:xfrm>
            <a:off x="731520" y="3703320"/>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shadow suppression</a:t>
            </a:r>
            <a:endParaRPr lang="en-US" sz="1200" dirty="0"/>
          </a:p>
        </p:txBody>
      </p:sp>
      <p:sp>
        <p:nvSpPr>
          <p:cNvPr id="18" name="Text 16"/>
          <p:cNvSpPr/>
          <p:nvPr/>
        </p:nvSpPr>
        <p:spPr>
          <a:xfrm>
            <a:off x="2807208" y="3703320"/>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52</a:t>
            </a:r>
            <a:endParaRPr lang="en-US" sz="1050" dirty="0"/>
          </a:p>
        </p:txBody>
      </p:sp>
      <p:sp>
        <p:nvSpPr>
          <p:cNvPr id="19" name="Text 17"/>
          <p:cNvSpPr/>
          <p:nvPr/>
        </p:nvSpPr>
        <p:spPr>
          <a:xfrm>
            <a:off x="4242816" y="3703320"/>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a local variable shadowing a function name stops stealing its use-sites — r9 loss bucket 2</a:t>
            </a:r>
            <a:endParaRPr lang="en-US" sz="1100" dirty="0"/>
          </a:p>
        </p:txBody>
      </p:sp>
      <p:sp>
        <p:nvSpPr>
          <p:cNvPr id="20" name="Shape 18"/>
          <p:cNvSpPr/>
          <p:nvPr/>
        </p:nvSpPr>
        <p:spPr>
          <a:xfrm>
            <a:off x="566928" y="4352544"/>
            <a:ext cx="11055096" cy="603504"/>
          </a:xfrm>
          <a:prstGeom prst="roundRect">
            <a:avLst>
              <a:gd name="adj" fmla="val 13636"/>
            </a:avLst>
          </a:prstGeom>
          <a:solidFill>
            <a:srgbClr val="1B2432"/>
          </a:solidFill>
          <a:ln w="9525">
            <a:solidFill>
              <a:srgbClr val="232D3D"/>
            </a:solidFill>
            <a:prstDash val="solid"/>
          </a:ln>
        </p:spPr>
      </p:sp>
      <p:sp>
        <p:nvSpPr>
          <p:cNvPr id="21" name="Text 19"/>
          <p:cNvSpPr/>
          <p:nvPr/>
        </p:nvSpPr>
        <p:spPr>
          <a:xfrm>
            <a:off x="731520" y="4379976"/>
            <a:ext cx="1965960" cy="548640"/>
          </a:xfrm>
          <a:prstGeom prst="rect">
            <a:avLst/>
          </a:prstGeom>
          <a:noFill/>
          <a:ln/>
        </p:spPr>
        <p:txBody>
          <a:bodyPr wrap="square" lIns="0" tIns="0" rIns="0" bIns="0" rtlCol="0" anchor="ctr"/>
          <a:lstStyle/>
          <a:p>
            <a:pPr algn="l" indent="0" marL="0">
              <a:buNone/>
            </a:pPr>
            <a:r>
              <a:rPr lang="en-US" sz="1200" b="1" dirty="0">
                <a:solidFill>
                  <a:srgbClr val="E5534B"/>
                </a:solidFill>
                <a:latin typeface="Arial" pitchFamily="34" charset="0"/>
                <a:ea typeface="Arial" pitchFamily="34" charset="-122"/>
                <a:cs typeface="Arial" pitchFamily="34" charset="-120"/>
              </a:rPr>
              <a:t>RTA-lite</a:t>
            </a:r>
            <a:endParaRPr lang="en-US" sz="1200" dirty="0"/>
          </a:p>
        </p:txBody>
      </p:sp>
      <p:sp>
        <p:nvSpPr>
          <p:cNvPr id="22" name="Text 20"/>
          <p:cNvSpPr/>
          <p:nvPr/>
        </p:nvSpPr>
        <p:spPr>
          <a:xfrm>
            <a:off x="2807208" y="4379976"/>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reverted</a:t>
            </a:r>
            <a:endParaRPr lang="en-US" sz="1050" dirty="0"/>
          </a:p>
        </p:txBody>
      </p:sp>
      <p:sp>
        <p:nvSpPr>
          <p:cNvPr id="23" name="Text 21"/>
          <p:cNvSpPr/>
          <p:nvPr/>
        </p:nvSpPr>
        <p:spPr>
          <a:xfrm>
            <a:off x="4242816" y="4379976"/>
            <a:ext cx="7315200" cy="548640"/>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instantiation-filtered CHA cone: refuted TWICE — the instantiated set crossed namespaces, and narrowed calls LOST their amb= mark</a:t>
            </a:r>
            <a:endParaRPr lang="en-US" sz="1100" dirty="0"/>
          </a:p>
        </p:txBody>
      </p:sp>
      <p:sp>
        <p:nvSpPr>
          <p:cNvPr id="24" name="Shape 22"/>
          <p:cNvSpPr/>
          <p:nvPr/>
        </p:nvSpPr>
        <p:spPr>
          <a:xfrm>
            <a:off x="566928" y="5074920"/>
            <a:ext cx="5440680" cy="1051560"/>
          </a:xfrm>
          <a:prstGeom prst="roundRect">
            <a:avLst>
              <a:gd name="adj" fmla="val 7826"/>
            </a:avLst>
          </a:prstGeom>
          <a:solidFill>
            <a:srgbClr val="161D28"/>
          </a:solidFill>
          <a:ln w="9525">
            <a:solidFill>
              <a:srgbClr val="232D3D"/>
            </a:solidFill>
            <a:prstDash val="solid"/>
          </a:ln>
        </p:spPr>
      </p:sp>
      <p:sp>
        <p:nvSpPr>
          <p:cNvPr id="25" name="Text 23"/>
          <p:cNvSpPr/>
          <p:nvPr/>
        </p:nvSpPr>
        <p:spPr>
          <a:xfrm>
            <a:off x="768096" y="5193792"/>
            <a:ext cx="5029200" cy="841248"/>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The two r9 levers, against the compiler oracle: </a:t>
            </a:r>
            <a:pPr indent="0" marL="0">
              <a:buNone/>
            </a:pPr>
            <a:r>
              <a:rPr lang="en-US" sz="1150" b="1" dirty="0">
                <a:solidFill>
                  <a:srgbClr val="4AC26B"/>
                </a:solidFill>
                <a:latin typeface="Arial" pitchFamily="34" charset="0"/>
                <a:ea typeface="Arial" pitchFamily="34" charset="-122"/>
                <a:cs typeface="Arial" pitchFamily="34" charset="-120"/>
              </a:rPr>
              <a:t>site precision 0.9046 → 0.9136, recall 0.9285 → 0.9412.</a:t>
            </a:r>
            <a:endParaRPr lang="en-US" sz="1150" dirty="0"/>
          </a:p>
        </p:txBody>
      </p:sp>
      <p:sp>
        <p:nvSpPr>
          <p:cNvPr id="26" name="Shape 24"/>
          <p:cNvSpPr/>
          <p:nvPr/>
        </p:nvSpPr>
        <p:spPr>
          <a:xfrm>
            <a:off x="6172200" y="5074920"/>
            <a:ext cx="5349240" cy="1051560"/>
          </a:xfrm>
          <a:prstGeom prst="roundRect">
            <a:avLst>
              <a:gd name="adj" fmla="val 7826"/>
            </a:avLst>
          </a:prstGeom>
          <a:solidFill>
            <a:srgbClr val="1B2432"/>
          </a:solidFill>
          <a:ln w="9525">
            <a:solidFill>
              <a:srgbClr val="232D3D"/>
            </a:solidFill>
            <a:prstDash val="solid"/>
          </a:ln>
        </p:spPr>
      </p:sp>
      <p:sp>
        <p:nvSpPr>
          <p:cNvPr id="27" name="Text 25"/>
          <p:cNvSpPr/>
          <p:nvPr/>
        </p:nvSpPr>
        <p:spPr>
          <a:xfrm>
            <a:off x="6373368" y="5193792"/>
            <a:ext cx="4937760" cy="841248"/>
          </a:xfrm>
          <a:prstGeom prst="rect">
            <a:avLst/>
          </a:prstGeom>
          <a:noFill/>
          <a:ln/>
        </p:spPr>
        <p:txBody>
          <a:bodyPr wrap="square" lIns="0" tIns="0" rIns="0" bIns="0" rtlCol="0" anchor="ctr"/>
          <a:lstStyle/>
          <a:p>
            <a:pPr indent="0" marL="0">
              <a:buNone/>
            </a:pPr>
            <a:r>
              <a:rPr lang="en-US" sz="1100" b="1" dirty="0">
                <a:solidFill>
                  <a:srgbClr val="F2B84B"/>
                </a:solidFill>
                <a:latin typeface="Arial" pitchFamily="34" charset="0"/>
                <a:ea typeface="Arial" pitchFamily="34" charset="-122"/>
                <a:cs typeface="Arial" pitchFamily="34" charset="-120"/>
              </a:rPr>
              <a:t>The fn-pointer lever raised unresolved= by 1,039. Disclosure, not regression: </a:t>
            </a:r>
            <a:pPr indent="0" marL="0">
              <a:buNone/>
            </a:pPr>
            <a:r>
              <a:rPr lang="en-US" sz="1100" dirty="0">
                <a:solidFill>
                  <a:srgbClr val="8B95A5"/>
                </a:solidFill>
                <a:latin typeface="Arial" pitchFamily="34" charset="0"/>
                <a:ea typeface="Arial" pitchFamily="34" charset="-122"/>
                <a:cs typeface="Arial" pitchFamily="34" charset="-120"/>
              </a:rPr>
              <a:t>call sites the resolver now RECOGNIZES but refuses to resolve are counted instead of silently ignored.</a:t>
            </a:r>
            <a:endParaRPr lang="en-US" sz="1100" dirty="0"/>
          </a:p>
        </p:txBody>
      </p:sp>
      <p:sp>
        <p:nvSpPr>
          <p:cNvPr id="28" name="Text 26"/>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bench/resolverround/RESULTS.md — per-lever attribution; RTA-lite's rejection is written up in docs/EVALS.md §7</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how it stays true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Proven, not promised</a:t>
            </a:r>
            <a:endParaRPr lang="en-US" sz="3400" dirty="0"/>
          </a:p>
        </p:txBody>
      </p:sp>
      <p:sp>
        <p:nvSpPr>
          <p:cNvPr id="4" name="Shape 2"/>
          <p:cNvSpPr/>
          <p:nvPr/>
        </p:nvSpPr>
        <p:spPr>
          <a:xfrm>
            <a:off x="566928" y="1783080"/>
            <a:ext cx="3611880" cy="2011680"/>
          </a:xfrm>
          <a:prstGeom prst="roundRect">
            <a:avLst>
              <a:gd name="adj" fmla="val 4091"/>
            </a:avLst>
          </a:prstGeom>
          <a:solidFill>
            <a:srgbClr val="161D28"/>
          </a:solidFill>
          <a:ln w="9525">
            <a:solidFill>
              <a:srgbClr val="232D3D"/>
            </a:solidFill>
            <a:prstDash val="solid"/>
          </a:ln>
        </p:spPr>
      </p:sp>
      <p:sp>
        <p:nvSpPr>
          <p:cNvPr id="5" name="Text 3"/>
          <p:cNvSpPr/>
          <p:nvPr/>
        </p:nvSpPr>
        <p:spPr>
          <a:xfrm>
            <a:off x="731520"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598 gate scripts</a:t>
            </a:r>
            <a:endParaRPr lang="en-US" sz="1450" dirty="0"/>
          </a:p>
        </p:txBody>
      </p:sp>
      <p:sp>
        <p:nvSpPr>
          <p:cNvPr id="6" name="Text 4"/>
          <p:cNvSpPr/>
          <p:nvPr/>
        </p:nvSpPr>
        <p:spPr>
          <a:xfrm>
            <a:off x="731520"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the suite runs on every push — plus determinism, cache-transparency and golden contracts; the gate count itself is gated against the runner's own loop</a:t>
            </a:r>
            <a:endParaRPr lang="en-US" sz="1050" dirty="0"/>
          </a:p>
        </p:txBody>
      </p:sp>
      <p:sp>
        <p:nvSpPr>
          <p:cNvPr id="7" name="Shape 5"/>
          <p:cNvSpPr/>
          <p:nvPr/>
        </p:nvSpPr>
        <p:spPr>
          <a:xfrm>
            <a:off x="4288536" y="1783080"/>
            <a:ext cx="3611880" cy="2011680"/>
          </a:xfrm>
          <a:prstGeom prst="roundRect">
            <a:avLst>
              <a:gd name="adj" fmla="val 4091"/>
            </a:avLst>
          </a:prstGeom>
          <a:solidFill>
            <a:srgbClr val="161D28"/>
          </a:solidFill>
          <a:ln w="9525">
            <a:solidFill>
              <a:srgbClr val="232D3D"/>
            </a:solidFill>
            <a:prstDash val="solid"/>
          </a:ln>
        </p:spPr>
      </p:sp>
      <p:sp>
        <p:nvSpPr>
          <p:cNvPr id="8" name="Text 6"/>
          <p:cNvSpPr/>
          <p:nvPr/>
        </p:nvSpPr>
        <p:spPr>
          <a:xfrm>
            <a:off x="4453128"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byte-identical, always</a:t>
            </a:r>
            <a:endParaRPr lang="en-US" sz="1450" dirty="0"/>
          </a:p>
        </p:txBody>
      </p:sp>
      <p:sp>
        <p:nvSpPr>
          <p:cNvPr id="9" name="Text 7"/>
          <p:cNvSpPr/>
          <p:nvPr/>
        </p:nvSpPr>
        <p:spPr>
          <a:xfrm>
            <a:off x="4453128"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two runs over the same tree produce the same bytes; warm equals cold. Enforced in CI, twice — Release AND a plain flavour, because NDEBUG once blinded a whole class of checks</a:t>
            </a:r>
            <a:endParaRPr lang="en-US" sz="1050" dirty="0"/>
          </a:p>
        </p:txBody>
      </p:sp>
      <p:sp>
        <p:nvSpPr>
          <p:cNvPr id="10" name="Shape 8"/>
          <p:cNvSpPr/>
          <p:nvPr/>
        </p:nvSpPr>
        <p:spPr>
          <a:xfrm>
            <a:off x="8010144" y="1783080"/>
            <a:ext cx="3611880" cy="2011680"/>
          </a:xfrm>
          <a:prstGeom prst="roundRect">
            <a:avLst>
              <a:gd name="adj" fmla="val 4091"/>
            </a:avLst>
          </a:prstGeom>
          <a:solidFill>
            <a:srgbClr val="161D28"/>
          </a:solidFill>
          <a:ln w="9525">
            <a:solidFill>
              <a:srgbClr val="232D3D"/>
            </a:solidFill>
            <a:prstDash val="solid"/>
          </a:ln>
        </p:spPr>
      </p:sp>
      <p:sp>
        <p:nvSpPr>
          <p:cNvPr id="11" name="Text 9"/>
          <p:cNvSpPr/>
          <p:nvPr/>
        </p:nvSpPr>
        <p:spPr>
          <a:xfrm>
            <a:off x="8174736"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differential refactoring</a:t>
            </a:r>
            <a:endParaRPr lang="en-US" sz="1450" dirty="0"/>
          </a:p>
        </p:txBody>
      </p:sp>
      <p:sp>
        <p:nvSpPr>
          <p:cNvPr id="12" name="Text 10"/>
          <p:cNvSpPr/>
          <p:nvPr/>
        </p:nvSpPr>
        <p:spPr>
          <a:xfrm>
            <a:off x="8174736"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a refactor must prove it changed nothing observable: two binaries, hundreds of argv vectors, stdout + stderr + exit codes byte-identical</a:t>
            </a:r>
            <a:endParaRPr lang="en-US" sz="1050" dirty="0"/>
          </a:p>
        </p:txBody>
      </p:sp>
      <p:sp>
        <p:nvSpPr>
          <p:cNvPr id="13" name="Shape 11"/>
          <p:cNvSpPr/>
          <p:nvPr/>
        </p:nvSpPr>
        <p:spPr>
          <a:xfrm>
            <a:off x="566928" y="3959352"/>
            <a:ext cx="3611880" cy="2011680"/>
          </a:xfrm>
          <a:prstGeom prst="roundRect">
            <a:avLst>
              <a:gd name="adj" fmla="val 4091"/>
            </a:avLst>
          </a:prstGeom>
          <a:solidFill>
            <a:srgbClr val="161D28"/>
          </a:solidFill>
          <a:ln w="9525">
            <a:solidFill>
              <a:srgbClr val="232D3D"/>
            </a:solidFill>
            <a:prstDash val="solid"/>
          </a:ln>
        </p:spPr>
      </p:sp>
      <p:sp>
        <p:nvSpPr>
          <p:cNvPr id="14" name="Text 12"/>
          <p:cNvSpPr/>
          <p:nvPr/>
        </p:nvSpPr>
        <p:spPr>
          <a:xfrm>
            <a:off x="731520"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held-out labels, authored blind</a:t>
            </a:r>
            <a:endParaRPr lang="en-US" sz="1450" dirty="0"/>
          </a:p>
        </p:txBody>
      </p:sp>
      <p:sp>
        <p:nvSpPr>
          <p:cNvPr id="15" name="Text 13"/>
          <p:cNvSpPr/>
          <p:nvPr/>
        </p:nvSpPr>
        <p:spPr>
          <a:xfrm>
            <a:off x="731520"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eval labels were written by reading source before the ranker ever ran on them — so the eval is allowed to say the ranker is wrong. It has.</a:t>
            </a:r>
            <a:endParaRPr lang="en-US" sz="1050" dirty="0"/>
          </a:p>
        </p:txBody>
      </p:sp>
      <p:sp>
        <p:nvSpPr>
          <p:cNvPr id="16" name="Shape 14"/>
          <p:cNvSpPr/>
          <p:nvPr/>
        </p:nvSpPr>
        <p:spPr>
          <a:xfrm>
            <a:off x="4288536" y="3959352"/>
            <a:ext cx="3611880" cy="2011680"/>
          </a:xfrm>
          <a:prstGeom prst="roundRect">
            <a:avLst>
              <a:gd name="adj" fmla="val 4091"/>
            </a:avLst>
          </a:prstGeom>
          <a:solidFill>
            <a:srgbClr val="161D28"/>
          </a:solidFill>
          <a:ln w="9525">
            <a:solidFill>
              <a:srgbClr val="232D3D"/>
            </a:solidFill>
            <a:prstDash val="solid"/>
          </a:ln>
        </p:spPr>
      </p:sp>
      <p:sp>
        <p:nvSpPr>
          <p:cNvPr id="17" name="Text 15"/>
          <p:cNvSpPr/>
          <p:nvPr/>
        </p:nvSpPr>
        <p:spPr>
          <a:xfrm>
            <a:off x="4453128"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sanitizer wall</a:t>
            </a:r>
            <a:endParaRPr lang="en-US" sz="1450" dirty="0"/>
          </a:p>
        </p:txBody>
      </p:sp>
      <p:sp>
        <p:nvSpPr>
          <p:cNvPr id="18" name="Text 16"/>
          <p:cNvSpPr/>
          <p:nvPr/>
        </p:nvSpPr>
        <p:spPr>
          <a:xfrm>
            <a:off x="4453128"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ASan + UBSan + integer + float-cast, no-recover; TSan separately; leak suppression is one pinned file</a:t>
            </a:r>
            <a:endParaRPr lang="en-US" sz="1050" dirty="0"/>
          </a:p>
        </p:txBody>
      </p:sp>
      <p:sp>
        <p:nvSpPr>
          <p:cNvPr id="19" name="Shape 17"/>
          <p:cNvSpPr/>
          <p:nvPr/>
        </p:nvSpPr>
        <p:spPr>
          <a:xfrm>
            <a:off x="8010144" y="3959352"/>
            <a:ext cx="3611880" cy="2011680"/>
          </a:xfrm>
          <a:prstGeom prst="roundRect">
            <a:avLst>
              <a:gd name="adj" fmla="val 4091"/>
            </a:avLst>
          </a:prstGeom>
          <a:solidFill>
            <a:srgbClr val="161D28"/>
          </a:solidFill>
          <a:ln w="9525">
            <a:solidFill>
              <a:srgbClr val="232D3D"/>
            </a:solidFill>
            <a:prstDash val="solid"/>
          </a:ln>
        </p:spPr>
      </p:sp>
      <p:sp>
        <p:nvSpPr>
          <p:cNvPr id="20" name="Text 18"/>
          <p:cNvSpPr/>
          <p:nvPr/>
        </p:nvSpPr>
        <p:spPr>
          <a:xfrm>
            <a:off x="8174736"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its own output is audited</a:t>
            </a:r>
            <a:endParaRPr lang="en-US" sz="1450" dirty="0"/>
          </a:p>
        </p:txBody>
      </p:sp>
      <p:sp>
        <p:nvSpPr>
          <p:cNvPr id="21" name="Text 19"/>
          <p:cNvSpPr/>
          <p:nvPr/>
        </p:nvSpPr>
        <p:spPr>
          <a:xfrm>
            <a:off x="8174736"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the showcase capture is regenerated and adversarially re-read as a claims corpus — the methodology ships in docs/METHODOLOGY.md</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reason to believe any number on this deck</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Claims you can trust, because we publish what failed</a:t>
            </a:r>
            <a:endParaRPr lang="en-US" sz="3200" dirty="0"/>
          </a:p>
        </p:txBody>
      </p:sp>
      <p:sp>
        <p:nvSpPr>
          <p:cNvPr id="4" name="Shape 2"/>
          <p:cNvSpPr/>
          <p:nvPr/>
        </p:nvSpPr>
        <p:spPr>
          <a:xfrm>
            <a:off x="566928" y="1572768"/>
            <a:ext cx="3529584" cy="1572768"/>
          </a:xfrm>
          <a:prstGeom prst="roundRect">
            <a:avLst>
              <a:gd name="adj" fmla="val 5233"/>
            </a:avLst>
          </a:prstGeom>
          <a:solidFill>
            <a:srgbClr val="161D28"/>
          </a:solidFill>
          <a:ln w="9525">
            <a:solidFill>
              <a:srgbClr val="232D3D"/>
            </a:solidFill>
            <a:prstDash val="solid"/>
          </a:ln>
        </p:spPr>
      </p:sp>
      <p:sp>
        <p:nvSpPr>
          <p:cNvPr id="5" name="Text 3"/>
          <p:cNvSpPr/>
          <p:nvPr/>
        </p:nvSpPr>
        <p:spPr>
          <a:xfrm>
            <a:off x="704088" y="1700784"/>
            <a:ext cx="3255264" cy="603504"/>
          </a:xfrm>
          <a:prstGeom prst="rect">
            <a:avLst/>
          </a:prstGeom>
          <a:noFill/>
          <a:ln/>
        </p:spPr>
        <p:txBody>
          <a:bodyPr wrap="square" lIns="0" tIns="0" rIns="0" bIns="0" rtlCol="0" anchor="ctr"/>
          <a:lstStyle/>
          <a:p>
            <a:pPr algn="ctr" indent="0" marL="0">
              <a:buNone/>
            </a:pPr>
            <a:r>
              <a:rPr lang="en-US" sz="4200" b="1" dirty="0">
                <a:solidFill>
                  <a:srgbClr val="56D6E8"/>
                </a:solidFill>
                <a:latin typeface="Arial" pitchFamily="34" charset="0"/>
                <a:ea typeface="Arial" pitchFamily="34" charset="-122"/>
                <a:cs typeface="Arial" pitchFamily="34" charset="-120"/>
              </a:rPr>
              <a:t>598</a:t>
            </a:r>
            <a:endParaRPr lang="en-US" sz="4200" dirty="0"/>
          </a:p>
        </p:txBody>
      </p:sp>
      <p:sp>
        <p:nvSpPr>
          <p:cNvPr id="6" name="Text 4"/>
          <p:cNvSpPr/>
          <p:nvPr/>
        </p:nvSpPr>
        <p:spPr>
          <a:xfrm>
            <a:off x="704088"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gate scripts named by test/regression.sh — and the COUNT itself is gated against the runner's own loop, so it cannot go stale quietly</a:t>
            </a:r>
            <a:endParaRPr lang="en-US" sz="950" dirty="0"/>
          </a:p>
        </p:txBody>
      </p:sp>
      <p:sp>
        <p:nvSpPr>
          <p:cNvPr id="7" name="Shape 5"/>
          <p:cNvSpPr/>
          <p:nvPr/>
        </p:nvSpPr>
        <p:spPr>
          <a:xfrm>
            <a:off x="4279392" y="1572768"/>
            <a:ext cx="3529584" cy="1572768"/>
          </a:xfrm>
          <a:prstGeom prst="roundRect">
            <a:avLst>
              <a:gd name="adj" fmla="val 5233"/>
            </a:avLst>
          </a:prstGeom>
          <a:solidFill>
            <a:srgbClr val="1B2432"/>
          </a:solidFill>
          <a:ln w="9525">
            <a:solidFill>
              <a:srgbClr val="232D3D"/>
            </a:solidFill>
            <a:prstDash val="solid"/>
          </a:ln>
        </p:spPr>
      </p:sp>
      <p:sp>
        <p:nvSpPr>
          <p:cNvPr id="8" name="Text 6"/>
          <p:cNvSpPr/>
          <p:nvPr/>
        </p:nvSpPr>
        <p:spPr>
          <a:xfrm>
            <a:off x="4416552" y="1700784"/>
            <a:ext cx="3255264" cy="603504"/>
          </a:xfrm>
          <a:prstGeom prst="rect">
            <a:avLst/>
          </a:prstGeom>
          <a:noFill/>
          <a:ln/>
        </p:spPr>
        <p:txBody>
          <a:bodyPr wrap="square" lIns="0" tIns="0" rIns="0" bIns="0" rtlCol="0" anchor="ctr"/>
          <a:lstStyle/>
          <a:p>
            <a:pPr algn="ctr" indent="0" marL="0">
              <a:buNone/>
            </a:pPr>
            <a:r>
              <a:rPr lang="en-US" sz="4200" b="1" dirty="0">
                <a:solidFill>
                  <a:srgbClr val="E5534B"/>
                </a:solidFill>
                <a:latin typeface="Arial" pitchFamily="34" charset="0"/>
                <a:ea typeface="Arial" pitchFamily="34" charset="-122"/>
                <a:cs typeface="Arial" pitchFamily="34" charset="-120"/>
              </a:rPr>
              <a:t>8</a:t>
            </a:r>
            <a:endParaRPr lang="en-US" sz="4200" dirty="0"/>
          </a:p>
        </p:txBody>
      </p:sp>
      <p:sp>
        <p:nvSpPr>
          <p:cNvPr id="9" name="Text 7"/>
          <p:cNvSpPr/>
          <p:nvPr/>
        </p:nvSpPr>
        <p:spPr>
          <a:xfrm>
            <a:off x="4416552"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registered NEGATIVES — changes built, gated green, measured against a band written before the code, and reverted rather than tuned</a:t>
            </a:r>
            <a:endParaRPr lang="en-US" sz="950" dirty="0"/>
          </a:p>
        </p:txBody>
      </p:sp>
      <p:sp>
        <p:nvSpPr>
          <p:cNvPr id="10" name="Shape 8"/>
          <p:cNvSpPr/>
          <p:nvPr/>
        </p:nvSpPr>
        <p:spPr>
          <a:xfrm>
            <a:off x="8010144" y="1572768"/>
            <a:ext cx="3529584" cy="1572768"/>
          </a:xfrm>
          <a:prstGeom prst="roundRect">
            <a:avLst>
              <a:gd name="adj" fmla="val 5233"/>
            </a:avLst>
          </a:prstGeom>
          <a:solidFill>
            <a:srgbClr val="161D28"/>
          </a:solidFill>
          <a:ln w="9525">
            <a:solidFill>
              <a:srgbClr val="232D3D"/>
            </a:solidFill>
            <a:prstDash val="solid"/>
          </a:ln>
        </p:spPr>
      </p:sp>
      <p:sp>
        <p:nvSpPr>
          <p:cNvPr id="11" name="Text 9"/>
          <p:cNvSpPr/>
          <p:nvPr/>
        </p:nvSpPr>
        <p:spPr>
          <a:xfrm>
            <a:off x="8147304" y="1700784"/>
            <a:ext cx="3255264" cy="603504"/>
          </a:xfrm>
          <a:prstGeom prst="rect">
            <a:avLst/>
          </a:prstGeom>
          <a:noFill/>
          <a:ln/>
        </p:spPr>
        <p:txBody>
          <a:bodyPr wrap="square" lIns="0" tIns="0" rIns="0" bIns="0" rtlCol="0" anchor="ctr"/>
          <a:lstStyle/>
          <a:p>
            <a:pPr algn="ctr" indent="0" marL="0">
              <a:buNone/>
            </a:pPr>
            <a:r>
              <a:rPr lang="en-US" sz="4200" b="1" dirty="0">
                <a:solidFill>
                  <a:srgbClr val="4AC26B"/>
                </a:solidFill>
                <a:latin typeface="Arial" pitchFamily="34" charset="0"/>
                <a:ea typeface="Arial" pitchFamily="34" charset="-122"/>
                <a:cs typeface="Arial" pitchFamily="34" charset="-120"/>
              </a:rPr>
              <a:t>0</a:t>
            </a:r>
            <a:endParaRPr lang="en-US" sz="4200" dirty="0"/>
          </a:p>
        </p:txBody>
      </p:sp>
      <p:sp>
        <p:nvSpPr>
          <p:cNvPr id="12" name="Text 10"/>
          <p:cNvSpPr/>
          <p:nvPr/>
        </p:nvSpPr>
        <p:spPr>
          <a:xfrm>
            <a:off x="8147304"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numbers on this deck without a committed instrument behind them — §8 lists the ones this project refuses to publish at all</a:t>
            </a:r>
            <a:endParaRPr lang="en-US" sz="950" dirty="0"/>
          </a:p>
        </p:txBody>
      </p:sp>
      <p:sp>
        <p:nvSpPr>
          <p:cNvPr id="13" name="Shape 11"/>
          <p:cNvSpPr/>
          <p:nvPr/>
        </p:nvSpPr>
        <p:spPr>
          <a:xfrm>
            <a:off x="566928" y="3310128"/>
            <a:ext cx="11055096" cy="969264"/>
          </a:xfrm>
          <a:prstGeom prst="roundRect">
            <a:avLst>
              <a:gd name="adj" fmla="val 8491"/>
            </a:avLst>
          </a:prstGeom>
          <a:solidFill>
            <a:srgbClr val="161D28"/>
          </a:solidFill>
          <a:ln w="9525">
            <a:solidFill>
              <a:srgbClr val="232D3D"/>
            </a:solidFill>
            <a:prstDash val="solid"/>
          </a:ln>
        </p:spPr>
      </p:sp>
      <p:sp>
        <p:nvSpPr>
          <p:cNvPr id="14" name="Text 12"/>
          <p:cNvSpPr/>
          <p:nvPr/>
        </p:nvSpPr>
        <p:spPr>
          <a:xfrm>
            <a:off x="749808" y="3364992"/>
            <a:ext cx="2743200" cy="85953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the fresh-clone arm</a:t>
            </a:r>
            <a:endParaRPr lang="en-US" sz="1200" dirty="0"/>
          </a:p>
        </p:txBody>
      </p:sp>
      <p:sp>
        <p:nvSpPr>
          <p:cNvPr id="15" name="Text 13"/>
          <p:cNvSpPr/>
          <p:nvPr/>
        </p:nvSpPr>
        <p:spPr>
          <a:xfrm>
            <a:off x="3675888" y="3364992"/>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our own battery only ever ran inside a configured, long-lived worktree — one value of every AMBIENT input. It clones HEAD into a genuinely unconfigured checkout and re-runs the gates whose past failures were exactly that: a developer's git config, a fixture's inherited branch name, the checkout's own path length.</a:t>
            </a:r>
            <a:endParaRPr lang="en-US" sz="1050" dirty="0"/>
          </a:p>
        </p:txBody>
      </p:sp>
      <p:sp>
        <p:nvSpPr>
          <p:cNvPr id="16" name="Shape 14"/>
          <p:cNvSpPr/>
          <p:nvPr/>
        </p:nvSpPr>
        <p:spPr>
          <a:xfrm>
            <a:off x="566928" y="4352544"/>
            <a:ext cx="11055096" cy="969264"/>
          </a:xfrm>
          <a:prstGeom prst="roundRect">
            <a:avLst>
              <a:gd name="adj" fmla="val 8491"/>
            </a:avLst>
          </a:prstGeom>
          <a:solidFill>
            <a:srgbClr val="161D28"/>
          </a:solidFill>
          <a:ln w="9525">
            <a:solidFill>
              <a:srgbClr val="232D3D"/>
            </a:solidFill>
            <a:prstDash val="solid"/>
          </a:ln>
        </p:spPr>
      </p:sp>
      <p:sp>
        <p:nvSpPr>
          <p:cNvPr id="17" name="Text 15"/>
          <p:cNvSpPr/>
          <p:nvPr/>
        </p:nvSpPr>
        <p:spPr>
          <a:xfrm>
            <a:off x="749808" y="4407408"/>
            <a:ext cx="2743200" cy="85953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the merge-conservation gate</a:t>
            </a:r>
            <a:endParaRPr lang="en-US" sz="1200" dirty="0"/>
          </a:p>
        </p:txBody>
      </p:sp>
      <p:sp>
        <p:nvSpPr>
          <p:cNvPr id="18" name="Text 16"/>
          <p:cNvSpPr/>
          <p:nvPr/>
        </p:nvSpPr>
        <p:spPr>
          <a:xfrm>
            <a:off x="3675888" y="4407408"/>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consistency is not conservation. A conflict resolution can drop a gate from the runner's loop while regenerating the pinned count from that SAME damaged list — both sides then agree at a wrong number. On a merge, the loop must equal the UNION of both parents', minus explicit tombstones.</a:t>
            </a:r>
            <a:endParaRPr lang="en-US" sz="1050" dirty="0"/>
          </a:p>
        </p:txBody>
      </p:sp>
      <p:sp>
        <p:nvSpPr>
          <p:cNvPr id="19" name="Shape 17"/>
          <p:cNvSpPr/>
          <p:nvPr/>
        </p:nvSpPr>
        <p:spPr>
          <a:xfrm>
            <a:off x="566928" y="5394960"/>
            <a:ext cx="11055096" cy="969264"/>
          </a:xfrm>
          <a:prstGeom prst="roundRect">
            <a:avLst>
              <a:gd name="adj" fmla="val 8491"/>
            </a:avLst>
          </a:prstGeom>
          <a:solidFill>
            <a:srgbClr val="161D28"/>
          </a:solidFill>
          <a:ln w="9525">
            <a:solidFill>
              <a:srgbClr val="232D3D"/>
            </a:solidFill>
            <a:prstDash val="solid"/>
          </a:ln>
        </p:spPr>
      </p:sp>
      <p:sp>
        <p:nvSpPr>
          <p:cNvPr id="20" name="Text 18"/>
          <p:cNvSpPr/>
          <p:nvPr/>
        </p:nvSpPr>
        <p:spPr>
          <a:xfrm>
            <a:off x="749808" y="5449824"/>
            <a:ext cx="2743200" cy="859536"/>
          </a:xfrm>
          <a:prstGeom prst="rect">
            <a:avLst/>
          </a:prstGeom>
          <a:noFill/>
          <a:ln/>
        </p:spPr>
        <p:txBody>
          <a:bodyPr wrap="square" lIns="0" tIns="0" rIns="0" bIns="0" rtlCol="0" anchor="ctr"/>
          <a:lstStyle/>
          <a:p>
            <a:pPr indent="0" marL="0">
              <a:buNone/>
            </a:pPr>
            <a:r>
              <a:rPr lang="en-US" sz="1200" b="1" dirty="0">
                <a:solidFill>
                  <a:srgbClr val="E5534B"/>
                </a:solidFill>
                <a:latin typeface="Courier New" pitchFamily="34" charset="0"/>
                <a:ea typeface="Courier New" pitchFamily="34" charset="-122"/>
                <a:cs typeface="Courier New" pitchFamily="34" charset="-120"/>
              </a:rPr>
              <a:t>the eight, by name</a:t>
            </a:r>
            <a:endParaRPr lang="en-US" sz="1200" dirty="0"/>
          </a:p>
        </p:txBody>
      </p:sp>
      <p:sp>
        <p:nvSpPr>
          <p:cNvPr id="21" name="Text 19"/>
          <p:cNvSpPr/>
          <p:nvPr/>
        </p:nvSpPr>
        <p:spPr>
          <a:xfrm>
            <a:off x="3675888" y="5449824"/>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r7's prose-strip fix (predicted 12/22, band 10–14, measured 5/22) · RTA-lite, refuted twice · file-level evidence pooling, +0.00pp held-out · un-guarded query stemming · its IDF-guarded retry, VOIDED by its own verifier · query-term density weighting, both displacement guards tripped · --anchor and --cochange-boost, no confirmed lift · a name-coverage floor that MET its pre-registered band and was reverted anyway for a standing requirement.</a:t>
            </a:r>
            <a:endParaRPr lang="en-US" sz="1050" dirty="0"/>
          </a:p>
        </p:txBody>
      </p:sp>
      <p:sp>
        <p:nvSpPr>
          <p:cNvPr id="22" name="Text 20"/>
          <p:cNvSpPr/>
          <p:nvPr/>
        </p:nvSpPr>
        <p:spPr>
          <a:xfrm>
            <a:off x="566928" y="6400800"/>
            <a:ext cx="10972800" cy="365760"/>
          </a:xfrm>
          <a:prstGeom prst="rect">
            <a:avLst/>
          </a:prstGeom>
          <a:noFill/>
          <a:ln/>
        </p:spPr>
        <p:txBody>
          <a:bodyPr wrap="square" lIns="0" tIns="0" rIns="0" bIns="0" rtlCol="0" anchor="ctr"/>
          <a:lstStyle/>
          <a:p>
            <a:pPr indent="0" marL="0">
              <a:buNone/>
            </a:pPr>
            <a:r>
              <a:rPr lang="en-US" sz="1250" i="1" dirty="0">
                <a:solidFill>
                  <a:srgbClr val="F2B84B"/>
                </a:solidFill>
                <a:latin typeface="Arial" pitchFamily="34" charset="0"/>
                <a:ea typeface="Arial" pitchFamily="34" charset="-122"/>
                <a:cs typeface="Arial" pitchFamily="34" charset="-120"/>
              </a:rPr>
              <a:t>A gate that cannot go red is a gate that proves nothing — which is why every arm on this deck ships with the mutation that makes it fail.</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own the losses — they are in the README too</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Where it loses, published with the wins</a:t>
            </a:r>
            <a:endParaRPr lang="en-US" sz="3400" dirty="0"/>
          </a:p>
        </p:txBody>
      </p:sp>
      <p:sp>
        <p:nvSpPr>
          <p:cNvPr id="4" name="Shape 2"/>
          <p:cNvSpPr/>
          <p:nvPr/>
        </p:nvSpPr>
        <p:spPr>
          <a:xfrm>
            <a:off x="566928" y="1700784"/>
            <a:ext cx="11055096" cy="1005840"/>
          </a:xfrm>
          <a:prstGeom prst="roundRect">
            <a:avLst>
              <a:gd name="adj" fmla="val 8182"/>
            </a:avLst>
          </a:prstGeom>
          <a:solidFill>
            <a:srgbClr val="161D28"/>
          </a:solidFill>
          <a:ln w="9525">
            <a:solidFill>
              <a:srgbClr val="232D3D"/>
            </a:solidFill>
            <a:prstDash val="solid"/>
          </a:ln>
        </p:spPr>
      </p:sp>
      <p:sp>
        <p:nvSpPr>
          <p:cNvPr id="5" name="Text 3"/>
          <p:cNvSpPr/>
          <p:nvPr/>
        </p:nvSpPr>
        <p:spPr>
          <a:xfrm>
            <a:off x="768096" y="175564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The public C++ number is lower than the private one it replaced</a:t>
            </a:r>
            <a:endParaRPr lang="en-US" sz="1300" dirty="0"/>
          </a:p>
        </p:txBody>
      </p:sp>
      <p:sp>
        <p:nvSpPr>
          <p:cNvPr id="6" name="Text 4"/>
          <p:cNvSpPr/>
          <p:nvPr/>
        </p:nvSpPr>
        <p:spPr>
          <a:xfrm>
            <a:off x="5093208" y="175564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SFML: strict file@10 28.7%, any@10 41.7%, first-hit MRR 0.21. Until 2026-08-07 this bullet compared against a ~89% any@10 private corpus that is no longer reproducible. That comparison is retired; the public number is the baseline going forward.</a:t>
            </a:r>
            <a:endParaRPr lang="en-US" sz="1100" dirty="0"/>
          </a:p>
        </p:txBody>
      </p:sp>
      <p:sp>
        <p:nvSpPr>
          <p:cNvPr id="7" name="Shape 5"/>
          <p:cNvSpPr/>
          <p:nvPr/>
        </p:nvSpPr>
        <p:spPr>
          <a:xfrm>
            <a:off x="566928" y="2798064"/>
            <a:ext cx="11055096" cy="1005840"/>
          </a:xfrm>
          <a:prstGeom prst="roundRect">
            <a:avLst>
              <a:gd name="adj" fmla="val 8182"/>
            </a:avLst>
          </a:prstGeom>
          <a:solidFill>
            <a:srgbClr val="161D28"/>
          </a:solidFill>
          <a:ln w="9525">
            <a:solidFill>
              <a:srgbClr val="232D3D"/>
            </a:solidFill>
            <a:prstDash val="solid"/>
          </a:ln>
        </p:spPr>
      </p:sp>
      <p:sp>
        <p:nvSpPr>
          <p:cNvPr id="8" name="Text 6"/>
          <p:cNvSpPr/>
          <p:nvPr/>
        </p:nvSpPr>
        <p:spPr>
          <a:xfrm>
            <a:off x="768096" y="285292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--grep costs more than it saves</a:t>
            </a:r>
            <a:endParaRPr lang="en-US" sz="1300" dirty="0"/>
          </a:p>
        </p:txBody>
      </p:sp>
      <p:sp>
        <p:nvSpPr>
          <p:cNvPr id="9" name="Text 7"/>
          <p:cNvSpPr/>
          <p:nvPr/>
        </p:nvSpPr>
        <p:spPr>
          <a:xfrm>
            <a:off x="5093208" y="285292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+19.7% tokens / −11.2% — published next to the flag it indicts, and carrying the same private-corpus caveat as every figure in that source</a:t>
            </a:r>
            <a:endParaRPr lang="en-US" sz="1100" dirty="0"/>
          </a:p>
        </p:txBody>
      </p:sp>
      <p:sp>
        <p:nvSpPr>
          <p:cNvPr id="10" name="Shape 8"/>
          <p:cNvSpPr/>
          <p:nvPr/>
        </p:nvSpPr>
        <p:spPr>
          <a:xfrm>
            <a:off x="566928" y="3895344"/>
            <a:ext cx="11055096" cy="1005840"/>
          </a:xfrm>
          <a:prstGeom prst="roundRect">
            <a:avLst>
              <a:gd name="adj" fmla="val 8182"/>
            </a:avLst>
          </a:prstGeom>
          <a:solidFill>
            <a:srgbClr val="161D28"/>
          </a:solidFill>
          <a:ln w="9525">
            <a:solidFill>
              <a:srgbClr val="232D3D"/>
            </a:solidFill>
            <a:prstDash val="solid"/>
          </a:ln>
        </p:spPr>
      </p:sp>
      <p:sp>
        <p:nvSpPr>
          <p:cNvPr id="11" name="Text 9"/>
          <p:cNvSpPr/>
          <p:nvPr/>
        </p:nvSpPr>
        <p:spPr>
          <a:xfrm>
            <a:off x="768096" y="395020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PageRank is the wrong co-change ranker</a:t>
            </a:r>
            <a:endParaRPr lang="en-US" sz="1300" dirty="0"/>
          </a:p>
        </p:txBody>
      </p:sp>
      <p:sp>
        <p:nvSpPr>
          <p:cNvPr id="12" name="Text 10"/>
          <p:cNvSpPr/>
          <p:nvPr/>
        </p:nvSpPr>
        <p:spPr>
          <a:xfrm>
            <a:off x="5093208" y="395020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3.8% recall@5 against 40.3% for plain lexical, and fusing the two made it worse — relatedness is lexical, importance is structural</a:t>
            </a:r>
            <a:endParaRPr lang="en-US" sz="1100" dirty="0"/>
          </a:p>
        </p:txBody>
      </p:sp>
      <p:sp>
        <p:nvSpPr>
          <p:cNvPr id="13" name="Shape 11"/>
          <p:cNvSpPr/>
          <p:nvPr/>
        </p:nvSpPr>
        <p:spPr>
          <a:xfrm>
            <a:off x="566928" y="4992624"/>
            <a:ext cx="11055096" cy="1005840"/>
          </a:xfrm>
          <a:prstGeom prst="roundRect">
            <a:avLst>
              <a:gd name="adj" fmla="val 8182"/>
            </a:avLst>
          </a:prstGeom>
          <a:solidFill>
            <a:srgbClr val="161D28"/>
          </a:solidFill>
          <a:ln w="9525">
            <a:solidFill>
              <a:srgbClr val="232D3D"/>
            </a:solidFill>
            <a:prstDash val="solid"/>
          </a:ln>
        </p:spPr>
      </p:sp>
      <p:sp>
        <p:nvSpPr>
          <p:cNvPr id="14" name="Text 12"/>
          <p:cNvSpPr/>
          <p:nvPr/>
        </p:nvSpPr>
        <p:spPr>
          <a:xfrm>
            <a:off x="768096" y="504748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Strict multi-file localization stays hard</a:t>
            </a:r>
            <a:endParaRPr lang="en-US" sz="1300" dirty="0"/>
          </a:p>
        </p:txBody>
      </p:sp>
      <p:sp>
        <p:nvSpPr>
          <p:cNvPr id="15" name="Text 13"/>
          <p:cNvSpPr/>
          <p:nvPr/>
        </p:nvSpPr>
        <p:spPr>
          <a:xfrm>
            <a:off x="5093208" y="504748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single-file gold 73.4% vs multi-file 18.2% (held-out); the same cliff on every corpus — open headroom, said plainly</a:t>
            </a:r>
            <a:endParaRPr lang="en-US" sz="1100" dirty="0"/>
          </a:p>
        </p:txBody>
      </p:sp>
      <p:sp>
        <p:nvSpPr>
          <p:cNvPr id="16" name="Text 14"/>
          <p:cNvSpPr/>
          <p:nvPr/>
        </p:nvSpPr>
        <p:spPr>
          <a:xfrm>
            <a:off x="566928" y="6144768"/>
            <a:ext cx="10972800" cy="365760"/>
          </a:xfrm>
          <a:prstGeom prst="rect">
            <a:avLst/>
          </a:prstGeom>
          <a:noFill/>
          <a:ln/>
        </p:spPr>
        <p:txBody>
          <a:bodyPr wrap="square" lIns="0" tIns="0" rIns="0" bIns="0" rtlCol="0" anchor="ctr"/>
          <a:lstStyle/>
          <a:p>
            <a:pPr indent="0" marL="0">
              <a:buNone/>
            </a:pPr>
            <a:r>
              <a:rPr lang="en-US" sz="1400" i="1" dirty="0">
                <a:solidFill>
                  <a:srgbClr val="F2B84B"/>
                </a:solidFill>
                <a:latin typeface="Arial" pitchFamily="34" charset="0"/>
                <a:ea typeface="Arial" pitchFamily="34" charset="-122"/>
                <a:cs typeface="Arial" pitchFamily="34" charset="-120"/>
              </a:rPr>
              <a:t>A tool that publishes its counterexamples is a tool whose wins you can believe.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single command for "is this code actually rotten?"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Six families of evidence, counted — never blended</a:t>
            </a:r>
            <a:endParaRPr lang="en-US" sz="3200" dirty="0"/>
          </a:p>
        </p:txBody>
      </p:sp>
      <p:sp>
        <p:nvSpPr>
          <p:cNvPr id="4" name="Shape 2"/>
          <p:cNvSpPr/>
          <p:nvPr/>
        </p:nvSpPr>
        <p:spPr>
          <a:xfrm>
            <a:off x="566928" y="1645920"/>
            <a:ext cx="11055096" cy="548640"/>
          </a:xfrm>
          <a:prstGeom prst="roundRect">
            <a:avLst>
              <a:gd name="adj" fmla="val 15000"/>
            </a:avLst>
          </a:prstGeom>
          <a:solidFill>
            <a:srgbClr val="161D28"/>
          </a:solidFill>
          <a:ln w="9525">
            <a:solidFill>
              <a:srgbClr val="232D3D"/>
            </a:solidFill>
            <a:prstDash val="solid"/>
          </a:ln>
        </p:spPr>
      </p:sp>
      <p:sp>
        <p:nvSpPr>
          <p:cNvPr id="5" name="Text 3"/>
          <p:cNvSpPr/>
          <p:nvPr/>
        </p:nvSpPr>
        <p:spPr>
          <a:xfrm>
            <a:off x="731520" y="1673352"/>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structural</a:t>
            </a:r>
            <a:endParaRPr lang="en-US" sz="1200" dirty="0"/>
          </a:p>
        </p:txBody>
      </p:sp>
      <p:sp>
        <p:nvSpPr>
          <p:cNvPr id="6" name="Text 4"/>
          <p:cNvSpPr/>
          <p:nvPr/>
        </p:nvSpPr>
        <p:spPr>
          <a:xfrm>
            <a:off x="2441448" y="1673352"/>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shape: complexity, size, nesting, params, readability rank</a:t>
            </a:r>
            <a:endParaRPr lang="en-US" sz="1150" dirty="0"/>
          </a:p>
        </p:txBody>
      </p:sp>
      <p:sp>
        <p:nvSpPr>
          <p:cNvPr id="7" name="Text 5"/>
          <p:cNvSpPr/>
          <p:nvPr/>
        </p:nvSpPr>
        <p:spPr>
          <a:xfrm>
            <a:off x="8403336" y="1673352"/>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--metrics</a:t>
            </a:r>
            <a:endParaRPr lang="en-US" sz="1050" dirty="0"/>
          </a:p>
        </p:txBody>
      </p:sp>
      <p:sp>
        <p:nvSpPr>
          <p:cNvPr id="8" name="Shape 6"/>
          <p:cNvSpPr/>
          <p:nvPr/>
        </p:nvSpPr>
        <p:spPr>
          <a:xfrm>
            <a:off x="566928" y="2267712"/>
            <a:ext cx="11055096" cy="548640"/>
          </a:xfrm>
          <a:prstGeom prst="roundRect">
            <a:avLst>
              <a:gd name="adj" fmla="val 15000"/>
            </a:avLst>
          </a:prstGeom>
          <a:solidFill>
            <a:srgbClr val="161D28"/>
          </a:solidFill>
          <a:ln w="9525">
            <a:solidFill>
              <a:srgbClr val="232D3D"/>
            </a:solidFill>
            <a:prstDash val="solid"/>
          </a:ln>
        </p:spPr>
      </p:sp>
      <p:sp>
        <p:nvSpPr>
          <p:cNvPr id="9" name="Text 7"/>
          <p:cNvSpPr/>
          <p:nvPr/>
        </p:nvSpPr>
        <p:spPr>
          <a:xfrm>
            <a:off x="731520" y="2295144"/>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lexical</a:t>
            </a:r>
            <a:endParaRPr lang="en-US" sz="1200" dirty="0"/>
          </a:p>
        </p:txBody>
      </p:sp>
      <p:sp>
        <p:nvSpPr>
          <p:cNvPr id="10" name="Text 8"/>
          <p:cNvSpPr/>
          <p:nvPr/>
        </p:nvSpPr>
        <p:spPr>
          <a:xfrm>
            <a:off x="2441448" y="2295144"/>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identifier text: the naming rules</a:t>
            </a:r>
            <a:endParaRPr lang="en-US" sz="1150" dirty="0"/>
          </a:p>
        </p:txBody>
      </p:sp>
      <p:sp>
        <p:nvSpPr>
          <p:cNvPr id="11" name="Text 9"/>
          <p:cNvSpPr/>
          <p:nvPr/>
        </p:nvSpPr>
        <p:spPr>
          <a:xfrm>
            <a:off x="8403336" y="2295144"/>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--lint  --naming-consistency</a:t>
            </a:r>
            <a:endParaRPr lang="en-US" sz="1050" dirty="0"/>
          </a:p>
        </p:txBody>
      </p:sp>
      <p:sp>
        <p:nvSpPr>
          <p:cNvPr id="12" name="Shape 10"/>
          <p:cNvSpPr/>
          <p:nvPr/>
        </p:nvSpPr>
        <p:spPr>
          <a:xfrm>
            <a:off x="566928" y="2889504"/>
            <a:ext cx="11055096" cy="548640"/>
          </a:xfrm>
          <a:prstGeom prst="roundRect">
            <a:avLst>
              <a:gd name="adj" fmla="val 15000"/>
            </a:avLst>
          </a:prstGeom>
          <a:solidFill>
            <a:srgbClr val="161D28"/>
          </a:solidFill>
          <a:ln w="9525">
            <a:solidFill>
              <a:srgbClr val="232D3D"/>
            </a:solidFill>
            <a:prstDash val="solid"/>
          </a:ln>
        </p:spPr>
      </p:sp>
      <p:sp>
        <p:nvSpPr>
          <p:cNvPr id="13" name="Text 11"/>
          <p:cNvSpPr/>
          <p:nvPr/>
        </p:nvSpPr>
        <p:spPr>
          <a:xfrm>
            <a:off x="731520" y="2916936"/>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confusion</a:t>
            </a:r>
            <a:endParaRPr lang="en-US" sz="1200" dirty="0"/>
          </a:p>
        </p:txBody>
      </p:sp>
      <p:sp>
        <p:nvSpPr>
          <p:cNvPr id="14" name="Text 12"/>
          <p:cNvSpPr/>
          <p:nvPr/>
        </p:nvSpPr>
        <p:spPr>
          <a:xfrm>
            <a:off x="2441448" y="2916936"/>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syntax: the atoms-of-confusion rules</a:t>
            </a:r>
            <a:endParaRPr lang="en-US" sz="1150" dirty="0"/>
          </a:p>
        </p:txBody>
      </p:sp>
      <p:sp>
        <p:nvSpPr>
          <p:cNvPr id="15" name="Text 13"/>
          <p:cNvSpPr/>
          <p:nvPr/>
        </p:nvSpPr>
        <p:spPr>
          <a:xfrm>
            <a:off x="8403336" y="2916936"/>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--lint</a:t>
            </a:r>
            <a:endParaRPr lang="en-US" sz="1050" dirty="0"/>
          </a:p>
        </p:txBody>
      </p:sp>
      <p:sp>
        <p:nvSpPr>
          <p:cNvPr id="16" name="Shape 14"/>
          <p:cNvSpPr/>
          <p:nvPr/>
        </p:nvSpPr>
        <p:spPr>
          <a:xfrm>
            <a:off x="566928" y="3511296"/>
            <a:ext cx="11055096" cy="548640"/>
          </a:xfrm>
          <a:prstGeom prst="roundRect">
            <a:avLst>
              <a:gd name="adj" fmla="val 15000"/>
            </a:avLst>
          </a:prstGeom>
          <a:solidFill>
            <a:srgbClr val="161D28"/>
          </a:solidFill>
          <a:ln w="9525">
            <a:solidFill>
              <a:srgbClr val="232D3D"/>
            </a:solidFill>
            <a:prstDash val="solid"/>
          </a:ln>
        </p:spPr>
      </p:sp>
      <p:sp>
        <p:nvSpPr>
          <p:cNvPr id="17" name="Text 15"/>
          <p:cNvSpPr/>
          <p:nvPr/>
        </p:nvSpPr>
        <p:spPr>
          <a:xfrm>
            <a:off x="731520" y="3538728"/>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historical</a:t>
            </a:r>
            <a:endParaRPr lang="en-US" sz="1200" dirty="0"/>
          </a:p>
        </p:txBody>
      </p:sp>
      <p:sp>
        <p:nvSpPr>
          <p:cNvPr id="18" name="Text 16"/>
          <p:cNvSpPr/>
          <p:nvPr/>
        </p:nvSpPr>
        <p:spPr>
          <a:xfrm>
            <a:off x="2441448" y="3538728"/>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git change frequency, measured PER FILE</a:t>
            </a:r>
            <a:endParaRPr lang="en-US" sz="1150" dirty="0"/>
          </a:p>
        </p:txBody>
      </p:sp>
      <p:sp>
        <p:nvSpPr>
          <p:cNvPr id="19" name="Text 17"/>
          <p:cNvSpPr/>
          <p:nvPr/>
        </p:nvSpPr>
        <p:spPr>
          <a:xfrm>
            <a:off x="8403336" y="3538728"/>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--hotspots</a:t>
            </a:r>
            <a:endParaRPr lang="en-US" sz="1050" dirty="0"/>
          </a:p>
        </p:txBody>
      </p:sp>
      <p:sp>
        <p:nvSpPr>
          <p:cNvPr id="20" name="Shape 18"/>
          <p:cNvSpPr/>
          <p:nvPr/>
        </p:nvSpPr>
        <p:spPr>
          <a:xfrm>
            <a:off x="566928" y="4133088"/>
            <a:ext cx="11055096" cy="548640"/>
          </a:xfrm>
          <a:prstGeom prst="roundRect">
            <a:avLst>
              <a:gd name="adj" fmla="val 15000"/>
            </a:avLst>
          </a:prstGeom>
          <a:solidFill>
            <a:srgbClr val="161D28"/>
          </a:solidFill>
          <a:ln w="9525">
            <a:solidFill>
              <a:srgbClr val="232D3D"/>
            </a:solidFill>
            <a:prstDash val="solid"/>
          </a:ln>
        </p:spPr>
      </p:sp>
      <p:sp>
        <p:nvSpPr>
          <p:cNvPr id="21" name="Text 19"/>
          <p:cNvSpPr/>
          <p:nvPr/>
        </p:nvSpPr>
        <p:spPr>
          <a:xfrm>
            <a:off x="731520" y="4160520"/>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colocation</a:t>
            </a:r>
            <a:endParaRPr lang="en-US" sz="1200" dirty="0"/>
          </a:p>
        </p:txBody>
      </p:sp>
      <p:sp>
        <p:nvSpPr>
          <p:cNvPr id="22" name="Text 20"/>
          <p:cNvSpPr/>
          <p:nvPr/>
        </p:nvSpPr>
        <p:spPr>
          <a:xfrm>
            <a:off x="2441448" y="4160520"/>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how much you must READ outside this file</a:t>
            </a:r>
            <a:endParaRPr lang="en-US" sz="1150" dirty="0"/>
          </a:p>
        </p:txBody>
      </p:sp>
      <p:sp>
        <p:nvSpPr>
          <p:cNvPr id="23" name="Text 21"/>
          <p:cNvSpPr/>
          <p:nvPr/>
        </p:nvSpPr>
        <p:spPr>
          <a:xfrm>
            <a:off x="8403336" y="4160520"/>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--context-ratio</a:t>
            </a:r>
            <a:endParaRPr lang="en-US" sz="1050" dirty="0"/>
          </a:p>
        </p:txBody>
      </p:sp>
      <p:sp>
        <p:nvSpPr>
          <p:cNvPr id="24" name="Shape 22"/>
          <p:cNvSpPr/>
          <p:nvPr/>
        </p:nvSpPr>
        <p:spPr>
          <a:xfrm>
            <a:off x="566928" y="4754880"/>
            <a:ext cx="11055096" cy="548640"/>
          </a:xfrm>
          <a:prstGeom prst="roundRect">
            <a:avLst>
              <a:gd name="adj" fmla="val 15000"/>
            </a:avLst>
          </a:prstGeom>
          <a:solidFill>
            <a:srgbClr val="161D28"/>
          </a:solidFill>
          <a:ln w="9525">
            <a:solidFill>
              <a:srgbClr val="232D3D"/>
            </a:solidFill>
            <a:prstDash val="solid"/>
          </a:ln>
        </p:spPr>
      </p:sp>
      <p:sp>
        <p:nvSpPr>
          <p:cNvPr id="25" name="Text 23"/>
          <p:cNvSpPr/>
          <p:nvPr/>
        </p:nvSpPr>
        <p:spPr>
          <a:xfrm>
            <a:off x="731520" y="4782312"/>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state</a:t>
            </a:r>
            <a:endParaRPr lang="en-US" sz="1200" dirty="0"/>
          </a:p>
        </p:txBody>
      </p:sp>
      <p:sp>
        <p:nvSpPr>
          <p:cNvPr id="26" name="Text 24"/>
          <p:cNvSpPr/>
          <p:nvPr/>
        </p:nvSpPr>
        <p:spPr>
          <a:xfrm>
            <a:off x="2441448" y="4782312"/>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this function's OWN BODY touching non-local mutable state</a:t>
            </a:r>
            <a:endParaRPr lang="en-US" sz="1150" dirty="0"/>
          </a:p>
        </p:txBody>
      </p:sp>
      <p:sp>
        <p:nvSpPr>
          <p:cNvPr id="27" name="Text 25"/>
          <p:cNvSpPr/>
          <p:nvPr/>
        </p:nvSpPr>
        <p:spPr>
          <a:xfrm>
            <a:off x="8403336" y="4782312"/>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--nonlocal-state</a:t>
            </a:r>
            <a:endParaRPr lang="en-US" sz="1050" dirty="0"/>
          </a:p>
        </p:txBody>
      </p:sp>
      <p:sp>
        <p:nvSpPr>
          <p:cNvPr id="28" name="Shape 26"/>
          <p:cNvSpPr/>
          <p:nvPr/>
        </p:nvSpPr>
        <p:spPr>
          <a:xfrm>
            <a:off x="566928" y="5394960"/>
            <a:ext cx="5440680" cy="777240"/>
          </a:xfrm>
          <a:prstGeom prst="roundRect">
            <a:avLst>
              <a:gd name="adj" fmla="val 10588"/>
            </a:avLst>
          </a:prstGeom>
          <a:solidFill>
            <a:srgbClr val="1B2432"/>
          </a:solidFill>
          <a:ln w="9525">
            <a:solidFill>
              <a:srgbClr val="232D3D"/>
            </a:solidFill>
            <a:prstDash val="solid"/>
          </a:ln>
        </p:spPr>
      </p:sp>
      <p:sp>
        <p:nvSpPr>
          <p:cNvPr id="29" name="Text 27"/>
          <p:cNvSpPr/>
          <p:nvPr/>
        </p:nvSpPr>
        <p:spPr>
          <a:xfrm>
            <a:off x="768096" y="5486400"/>
            <a:ext cx="5029200" cy="594360"/>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Ranked by the COUNT of distinct families that fire</a:t>
            </a:r>
            <a:pPr indent="0" marL="0">
              <a:buNone/>
            </a:pPr>
            <a:r>
              <a:rPr lang="en-US" sz="1100" dirty="0">
                <a:solidFill>
                  <a:srgbClr val="8B95A5"/>
                </a:solidFill>
                <a:latin typeface="Arial" pitchFamily="34" charset="0"/>
                <a:ea typeface="Arial" pitchFamily="34" charset="-122"/>
                <a:cs typeface="Arial" pitchFamily="34" charset="-120"/>
              </a:rPr>
              <a:t> — never a weighted composite, because a composite lets one loud family impersonate six.</a:t>
            </a:r>
            <a:endParaRPr lang="en-US" sz="1100" dirty="0"/>
          </a:p>
        </p:txBody>
      </p:sp>
      <p:sp>
        <p:nvSpPr>
          <p:cNvPr id="30" name="Shape 28"/>
          <p:cNvSpPr/>
          <p:nvPr/>
        </p:nvSpPr>
        <p:spPr>
          <a:xfrm>
            <a:off x="6172200" y="5394960"/>
            <a:ext cx="5349240" cy="777240"/>
          </a:xfrm>
          <a:prstGeom prst="roundRect">
            <a:avLst>
              <a:gd name="adj" fmla="val 10588"/>
            </a:avLst>
          </a:prstGeom>
          <a:solidFill>
            <a:srgbClr val="161D28"/>
          </a:solidFill>
          <a:ln w="9525">
            <a:solidFill>
              <a:srgbClr val="232D3D"/>
            </a:solidFill>
            <a:prstDash val="solid"/>
          </a:ln>
        </p:spPr>
      </p:sp>
      <p:sp>
        <p:nvSpPr>
          <p:cNvPr id="31" name="Text 29"/>
          <p:cNvSpPr/>
          <p:nvPr/>
        </p:nvSpPr>
        <p:spPr>
          <a:xfrm>
            <a:off x="6373368" y="5486400"/>
            <a:ext cx="4937760" cy="594360"/>
          </a:xfrm>
          <a:prstGeom prst="rect">
            <a:avLst/>
          </a:prstGeom>
          <a:noFill/>
          <a:ln/>
        </p:spPr>
        <p:txBody>
          <a:bodyPr wrap="square" lIns="0" tIns="0" rIns="0" bIns="0" rtlCol="0" anchor="ctr"/>
          <a:lstStyle/>
          <a:p>
            <a:pPr indent="0" marL="0">
              <a:buNone/>
            </a:pPr>
            <a:r>
              <a:rPr lang="en-US" sz="1600" b="1" dirty="0">
                <a:solidFill>
                  <a:srgbClr val="F2B84B"/>
                </a:solidFill>
                <a:latin typeface="Arial" pitchFamily="34" charset="0"/>
                <a:ea typeface="Arial" pitchFamily="34" charset="-122"/>
                <a:cs typeface="Arial" pitchFamily="34" charset="-120"/>
              </a:rPr>
              <a:t>4 of 6</a:t>
            </a:r>
            <a:pPr indent="0" marL="0">
              <a:buNone/>
            </a:pPr>
            <a:r>
              <a:rPr lang="en-US" sz="1100" dirty="0">
                <a:solidFill>
                  <a:srgbClr val="8B95A5"/>
                </a:solidFill>
                <a:latin typeface="Arial" pitchFamily="34" charset="0"/>
                <a:ea typeface="Arial" pitchFamily="34" charset="-122"/>
                <a:cs typeface="Arial" pitchFamily="34" charset="-120"/>
              </a:rPr>
              <a:t>  is what the strict preset counts — the verb says so itself, families="6" enabled_n="4". Two families did not clear the stability ladder.</a:t>
            </a:r>
            <a:endParaRPr lang="en-US" sz="160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--quality-panel[=strict|default|lenient] — and --quality-delta for the narrower question: what did MY change make worse?</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a new lens does not ship because it sounds plausible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 calibration that disqualified a family</a:t>
            </a:r>
            <a:endParaRPr lang="en-US" sz="3200" dirty="0"/>
          </a:p>
        </p:txBody>
      </p:sp>
      <p:sp>
        <p:nvSpPr>
          <p:cNvPr id="4" name="Shape 2"/>
          <p:cNvSpPr/>
          <p:nvPr/>
        </p:nvSpPr>
        <p:spPr>
          <a:xfrm>
            <a:off x="566928" y="1645920"/>
            <a:ext cx="3529584" cy="1965960"/>
          </a:xfrm>
          <a:prstGeom prst="roundRect">
            <a:avLst>
              <a:gd name="adj" fmla="val 4186"/>
            </a:avLst>
          </a:prstGeom>
          <a:solidFill>
            <a:srgbClr val="161D28"/>
          </a:solidFill>
          <a:ln w="9525">
            <a:solidFill>
              <a:srgbClr val="232D3D"/>
            </a:solidFill>
            <a:prstDash val="solid"/>
          </a:ln>
        </p:spPr>
      </p:sp>
      <p:sp>
        <p:nvSpPr>
          <p:cNvPr id="5" name="Text 3"/>
          <p:cNvSpPr/>
          <p:nvPr/>
        </p:nvSpPr>
        <p:spPr>
          <a:xfrm>
            <a:off x="704088" y="1810512"/>
            <a:ext cx="3255264" cy="658368"/>
          </a:xfrm>
          <a:prstGeom prst="rect">
            <a:avLst/>
          </a:prstGeom>
          <a:noFill/>
          <a:ln/>
        </p:spPr>
        <p:txBody>
          <a:bodyPr wrap="square" lIns="0" tIns="0" rIns="0" bIns="0" rtlCol="0" anchor="ctr"/>
          <a:lstStyle/>
          <a:p>
            <a:pPr algn="ctr" indent="0" marL="0">
              <a:buNone/>
            </a:pPr>
            <a:r>
              <a:rPr lang="en-US" sz="4000" b="1" dirty="0">
                <a:solidFill>
                  <a:srgbClr val="4AC26B"/>
                </a:solidFill>
                <a:latin typeface="Arial" pitchFamily="34" charset="0"/>
                <a:ea typeface="Arial" pitchFamily="34" charset="-122"/>
                <a:cs typeface="Arial" pitchFamily="34" charset="-120"/>
              </a:rPr>
              <a:t>+0.168</a:t>
            </a:r>
            <a:endParaRPr lang="en-US" sz="4000" dirty="0"/>
          </a:p>
        </p:txBody>
      </p:sp>
      <p:sp>
        <p:nvSpPr>
          <p:cNvPr id="6" name="Text 4"/>
          <p:cNvSpPr/>
          <p:nvPr/>
        </p:nvSpPr>
        <p:spPr>
          <a:xfrm>
            <a:off x="704088"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the LARGEST cross-family correlation in the whole 6×6 matrix — widening the panel from four families to six did not raise it</a:t>
            </a:r>
            <a:endParaRPr lang="en-US" sz="1050" dirty="0"/>
          </a:p>
        </p:txBody>
      </p:sp>
      <p:sp>
        <p:nvSpPr>
          <p:cNvPr id="7" name="Shape 5"/>
          <p:cNvSpPr/>
          <p:nvPr/>
        </p:nvSpPr>
        <p:spPr>
          <a:xfrm>
            <a:off x="4279392" y="1645920"/>
            <a:ext cx="3529584" cy="1965960"/>
          </a:xfrm>
          <a:prstGeom prst="roundRect">
            <a:avLst>
              <a:gd name="adj" fmla="val 4186"/>
            </a:avLst>
          </a:prstGeom>
          <a:solidFill>
            <a:srgbClr val="161D28"/>
          </a:solidFill>
          <a:ln w="9525">
            <a:solidFill>
              <a:srgbClr val="232D3D"/>
            </a:solidFill>
            <a:prstDash val="solid"/>
          </a:ln>
        </p:spPr>
      </p:sp>
      <p:sp>
        <p:nvSpPr>
          <p:cNvPr id="8" name="Text 6"/>
          <p:cNvSpPr/>
          <p:nvPr/>
        </p:nvSpPr>
        <p:spPr>
          <a:xfrm>
            <a:off x="4416552" y="1810512"/>
            <a:ext cx="3255264" cy="658368"/>
          </a:xfrm>
          <a:prstGeom prst="rect">
            <a:avLst/>
          </a:prstGeom>
          <a:noFill/>
          <a:ln/>
        </p:spPr>
        <p:txBody>
          <a:bodyPr wrap="square" lIns="0" tIns="0" rIns="0" bIns="0" rtlCol="0" anchor="ctr"/>
          <a:lstStyle/>
          <a:p>
            <a:pPr algn="ctr" indent="0" marL="0">
              <a:buNone/>
            </a:pPr>
            <a:r>
              <a:rPr lang="en-US" sz="4000" b="1" dirty="0">
                <a:solidFill>
                  <a:srgbClr val="56D6E8"/>
                </a:solidFill>
                <a:latin typeface="Arial" pitchFamily="34" charset="0"/>
                <a:ea typeface="Arial" pitchFamily="34" charset="-122"/>
                <a:cs typeface="Arial" pitchFamily="34" charset="-120"/>
              </a:rPr>
              <a:t>27,889</a:t>
            </a:r>
            <a:endParaRPr lang="en-US" sz="4000" dirty="0"/>
          </a:p>
        </p:txBody>
      </p:sp>
      <p:sp>
        <p:nvSpPr>
          <p:cNvPr id="9" name="Text 7"/>
          <p:cNvSpPr/>
          <p:nvPr/>
        </p:nvSpPr>
        <p:spPr>
          <a:xfrm>
            <a:off x="4416552"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eligible functions, five independent trees — two reported separately and never pooled, because one of them is this repository</a:t>
            </a:r>
            <a:endParaRPr lang="en-US" sz="1050" dirty="0"/>
          </a:p>
        </p:txBody>
      </p:sp>
      <p:sp>
        <p:nvSpPr>
          <p:cNvPr id="10" name="Shape 8"/>
          <p:cNvSpPr/>
          <p:nvPr/>
        </p:nvSpPr>
        <p:spPr>
          <a:xfrm>
            <a:off x="8010144" y="1645920"/>
            <a:ext cx="3529584" cy="1965960"/>
          </a:xfrm>
          <a:prstGeom prst="roundRect">
            <a:avLst>
              <a:gd name="adj" fmla="val 4186"/>
            </a:avLst>
          </a:prstGeom>
          <a:solidFill>
            <a:srgbClr val="1B2432"/>
          </a:solidFill>
          <a:ln w="9525">
            <a:solidFill>
              <a:srgbClr val="232D3D"/>
            </a:solidFill>
            <a:prstDash val="solid"/>
          </a:ln>
        </p:spPr>
      </p:sp>
      <p:sp>
        <p:nvSpPr>
          <p:cNvPr id="11" name="Text 9"/>
          <p:cNvSpPr/>
          <p:nvPr/>
        </p:nvSpPr>
        <p:spPr>
          <a:xfrm>
            <a:off x="8147304" y="1810512"/>
            <a:ext cx="3255264" cy="658368"/>
          </a:xfrm>
          <a:prstGeom prst="rect">
            <a:avLst/>
          </a:prstGeom>
          <a:noFill/>
          <a:ln/>
        </p:spPr>
        <p:txBody>
          <a:bodyPr wrap="square" lIns="0" tIns="0" rIns="0" bIns="0" rtlCol="0" anchor="ctr"/>
          <a:lstStyle/>
          <a:p>
            <a:pPr algn="ctr" indent="0" marL="0">
              <a:buNone/>
            </a:pPr>
            <a:r>
              <a:rPr lang="en-US" sz="4000" b="1" dirty="0">
                <a:solidFill>
                  <a:srgbClr val="F2B84B"/>
                </a:solidFill>
                <a:latin typeface="Arial" pitchFamily="34" charset="0"/>
                <a:ea typeface="Arial" pitchFamily="34" charset="-122"/>
                <a:cs typeface="Arial" pitchFamily="34" charset="-120"/>
              </a:rPr>
              <a:t>4 of 6</a:t>
            </a:r>
            <a:endParaRPr lang="en-US" sz="4000" dirty="0"/>
          </a:p>
        </p:txBody>
      </p:sp>
      <p:sp>
        <p:nvSpPr>
          <p:cNvPr id="12" name="Text 10"/>
          <p:cNvSpPr/>
          <p:nvPr/>
        </p:nvSpPr>
        <p:spPr>
          <a:xfrm>
            <a:off x="8147304"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families the strict preset actually counts — TWO were measured and held back from gating</a:t>
            </a:r>
            <a:endParaRPr lang="en-US" sz="1050" dirty="0"/>
          </a:p>
        </p:txBody>
      </p:sp>
      <p:sp>
        <p:nvSpPr>
          <p:cNvPr id="13" name="Shape 11"/>
          <p:cNvSpPr/>
          <p:nvPr/>
        </p:nvSpPr>
        <p:spPr>
          <a:xfrm>
            <a:off x="566928" y="3794760"/>
            <a:ext cx="10972800" cy="1234440"/>
          </a:xfrm>
          <a:prstGeom prst="roundRect">
            <a:avLst>
              <a:gd name="adj" fmla="val 6667"/>
            </a:avLst>
          </a:prstGeom>
          <a:solidFill>
            <a:srgbClr val="161D28"/>
          </a:solidFill>
          <a:ln w="9525">
            <a:solidFill>
              <a:srgbClr val="232D3D"/>
            </a:solidFill>
            <a:prstDash val="solid"/>
          </a:ln>
        </p:spPr>
      </p:sp>
      <p:sp>
        <p:nvSpPr>
          <p:cNvPr id="14" name="Text 12"/>
          <p:cNvSpPr/>
          <p:nvPr/>
        </p:nvSpPr>
        <p:spPr>
          <a:xfrm>
            <a:off x="795528" y="3913632"/>
            <a:ext cx="10561320" cy="1051560"/>
          </a:xfrm>
          <a:prstGeom prst="rect">
            <a:avLst/>
          </a:prstGeom>
          <a:noFill/>
          <a:ln/>
        </p:spPr>
        <p:txBody>
          <a:bodyPr wrap="square" lIns="0" tIns="0" rIns="0" bIns="0" rtlCol="0" anchor="ctr"/>
          <a:lstStyle/>
          <a:p>
            <a:pPr indent="0" marL="0">
              <a:buNone/>
            </a:pPr>
            <a:r>
              <a:rPr lang="en-US" sz="1200" b="1" dirty="0">
                <a:solidFill>
                  <a:srgbClr val="F2B84B"/>
                </a:solidFill>
                <a:latin typeface="Arial" pitchFamily="34" charset="0"/>
                <a:ea typeface="Arial" pitchFamily="34" charset="-122"/>
                <a:cs typeface="Arial" pitchFamily="34" charset="-120"/>
              </a:rPr>
              <a:t>The uncomfortable result, kept. </a:t>
            </a:r>
            <a:pPr indent="0" marL="0">
              <a:buNone/>
            </a:pPr>
            <a:r>
              <a:rPr lang="en-US" sz="1200" dirty="0">
                <a:solidFill>
                  <a:srgbClr val="8B95A5"/>
                </a:solidFill>
                <a:latin typeface="Arial" pitchFamily="34" charset="0"/>
                <a:ea typeface="Arial" pitchFamily="34" charset="-122"/>
                <a:cs typeface="Arial" pitchFamily="34" charset="-120"/>
              </a:rPr>
              <a:t>The stability pass ran each family across a ladder of commits to ask whether it is steady enough to gate on. </a:t>
            </a:r>
            <a:pPr indent="0" marL="0">
              <a:buNone/>
            </a:pPr>
            <a:r>
              <a:rPr lang="en-US" sz="1200" b="1" dirty="0">
                <a:solidFill>
                  <a:srgbClr val="E6EDF3"/>
                </a:solidFill>
                <a:latin typeface="Arial" pitchFamily="34" charset="0"/>
                <a:ea typeface="Arial" pitchFamily="34" charset="-122"/>
                <a:cs typeface="Arial" pitchFamily="34" charset="-120"/>
              </a:rPr>
              <a:t>colocation came out worse than historical on one ladder</a:t>
            </a:r>
            <a:pPr indent="0" marL="0">
              <a:buNone/>
            </a:pPr>
            <a:r>
              <a:rPr lang="en-US" sz="1200" dirty="0">
                <a:solidFill>
                  <a:srgbClr val="8B95A5"/>
                </a:solidFill>
                <a:latin typeface="Arial" pitchFamily="34" charset="0"/>
                <a:ea typeface="Arial" pitchFamily="34" charset="-122"/>
                <a:cs typeface="Arial" pitchFamily="34" charset="-120"/>
              </a:rPr>
              <a:t>, so neither gates: strict counts four of the six — a lens its own author wanted, measured, and demoted. The ladder was run precisely because that answer was possible; assuming it would pass is how a plausible axis becomes a permanent one.</a:t>
            </a:r>
            <a:endParaRPr lang="en-US" sz="1200" dirty="0"/>
          </a:p>
        </p:txBody>
      </p:sp>
      <p:sp>
        <p:nvSpPr>
          <p:cNvPr id="15" name="Shape 13"/>
          <p:cNvSpPr/>
          <p:nvPr/>
        </p:nvSpPr>
        <p:spPr>
          <a:xfrm>
            <a:off x="566928" y="5193792"/>
            <a:ext cx="10972800" cy="932688"/>
          </a:xfrm>
          <a:prstGeom prst="roundRect">
            <a:avLst>
              <a:gd name="adj" fmla="val 8824"/>
            </a:avLst>
          </a:prstGeom>
          <a:solidFill>
            <a:srgbClr val="1B2432"/>
          </a:solidFill>
          <a:ln w="9525">
            <a:solidFill>
              <a:srgbClr val="232D3D"/>
            </a:solidFill>
            <a:prstDash val="solid"/>
          </a:ln>
        </p:spPr>
      </p:sp>
      <p:sp>
        <p:nvSpPr>
          <p:cNvPr id="16" name="Text 14"/>
          <p:cNvSpPr/>
          <p:nvPr/>
        </p:nvSpPr>
        <p:spPr>
          <a:xfrm>
            <a:off x="795528" y="5294376"/>
            <a:ext cx="10561320" cy="768096"/>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--field-affinity was NOT made a family either</a:t>
            </a:r>
            <a:pPr indent="0" marL="0">
              <a:buNone/>
            </a:pPr>
            <a:r>
              <a:rPr lang="en-US" sz="1150" dirty="0">
                <a:solidFill>
                  <a:srgbClr val="8B95A5"/>
                </a:solidFill>
                <a:latin typeface="Arial" pitchFamily="34" charset="0"/>
                <a:ea typeface="Arial" pitchFamily="34" charset="-122"/>
                <a:cs typeface="Arial" pitchFamily="34" charset="-120"/>
              </a:rPr>
              <a:t> — an exclusion by unit, not a failed measurement: it ranks struct FIELDS by co-access against declared layout, and the panel's unit is a function. Stated in the calibration rather than left for someone to notice.</a:t>
            </a:r>
            <a:endParaRPr lang="en-US" sz="1150" dirty="0"/>
          </a:p>
        </p:txBody>
      </p:sp>
      <p:sp>
        <p:nvSpPr>
          <p:cNvPr id="17" name="Text 15"/>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§9.9 — same harness and criteria as the original four families, run BEFORE the two new ones shipped enabled</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examples from docs/QUALITY_DELTA_CATALOG.md — each one reproduced, none invented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--quality-delta catches</a:t>
            </a:r>
            <a:endParaRPr lang="en-US" sz="3200" dirty="0"/>
          </a:p>
        </p:txBody>
      </p:sp>
      <p:sp>
        <p:nvSpPr>
          <p:cNvPr id="4" name="Shape 2"/>
          <p:cNvSpPr/>
          <p:nvPr/>
        </p:nvSpPr>
        <p:spPr>
          <a:xfrm>
            <a:off x="566928" y="1591056"/>
            <a:ext cx="11055096" cy="1463040"/>
          </a:xfrm>
          <a:prstGeom prst="roundRect">
            <a:avLst>
              <a:gd name="adj" fmla="val 5625"/>
            </a:avLst>
          </a:prstGeom>
          <a:solidFill>
            <a:srgbClr val="161D28"/>
          </a:solidFill>
          <a:ln w="12700">
            <a:solidFill>
              <a:srgbClr val="3A4353"/>
            </a:solidFill>
            <a:prstDash val="dash"/>
          </a:ln>
        </p:spPr>
      </p:sp>
      <p:sp>
        <p:nvSpPr>
          <p:cNvPr id="5" name="Text 3"/>
          <p:cNvSpPr/>
          <p:nvPr/>
        </p:nvSpPr>
        <p:spPr>
          <a:xfrm>
            <a:off x="731520" y="1664208"/>
            <a:ext cx="2011680" cy="274320"/>
          </a:xfrm>
          <a:prstGeom prst="rect">
            <a:avLst/>
          </a:prstGeom>
          <a:noFill/>
          <a:ln/>
        </p:spPr>
        <p:txBody>
          <a:bodyPr wrap="square" lIns="0" tIns="0" rIns="0" bIns="0" rtlCol="0" anchor="ctr"/>
          <a:lstStyle/>
          <a:p>
            <a:pPr indent="0" marL="0">
              <a:buNone/>
            </a:pPr>
            <a:r>
              <a:rPr lang="en-US" sz="1100" b="1" dirty="0">
                <a:solidFill>
                  <a:srgbClr val="8B95A5"/>
                </a:solidFill>
                <a:latin typeface="Courier New" pitchFamily="34" charset="0"/>
                <a:ea typeface="Courier New" pitchFamily="34" charset="-122"/>
                <a:cs typeface="Courier New" pitchFamily="34" charset="-120"/>
              </a:rPr>
              <a:t>‹kind›</a:t>
            </a:r>
            <a:endParaRPr lang="en-US" sz="1100" dirty="0"/>
          </a:p>
        </p:txBody>
      </p:sp>
      <p:sp>
        <p:nvSpPr>
          <p:cNvPr id="6" name="Text 4"/>
          <p:cNvSpPr/>
          <p:nvPr/>
        </p:nvSpPr>
        <p:spPr>
          <a:xfrm>
            <a:off x="2807208" y="1664208"/>
            <a:ext cx="8650224" cy="2743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finding, as the tool prints it›</a:t>
            </a:r>
            <a:endParaRPr lang="en-US" sz="1050" dirty="0"/>
          </a:p>
        </p:txBody>
      </p:sp>
      <p:sp>
        <p:nvSpPr>
          <p:cNvPr id="7" name="Shape 5"/>
          <p:cNvSpPr/>
          <p:nvPr/>
        </p:nvSpPr>
        <p:spPr>
          <a:xfrm>
            <a:off x="731520" y="1993392"/>
            <a:ext cx="5308092" cy="676656"/>
          </a:xfrm>
          <a:prstGeom prst="rect">
            <a:avLst/>
          </a:prstGeom>
          <a:solidFill>
            <a:srgbClr val="0D1117"/>
          </a:solidFill>
          <a:ln w="6350">
            <a:solidFill>
              <a:srgbClr val="232D3D"/>
            </a:solidFill>
            <a:prstDash val="solid"/>
          </a:ln>
        </p:spPr>
      </p:sp>
      <p:sp>
        <p:nvSpPr>
          <p:cNvPr id="8" name="Text 6"/>
          <p:cNvSpPr/>
          <p:nvPr/>
        </p:nvSpPr>
        <p:spPr>
          <a:xfrm>
            <a:off x="804672" y="2020824"/>
            <a:ext cx="5161788" cy="182880"/>
          </a:xfrm>
          <a:prstGeom prst="rect">
            <a:avLst/>
          </a:prstGeom>
          <a:noFill/>
          <a:ln/>
        </p:spPr>
        <p:txBody>
          <a:bodyPr wrap="square" lIns="0" tIns="0" rIns="0" bIns="0" rtlCol="0" anchor="ctr"/>
          <a:lstStyle/>
          <a:p>
            <a:pPr indent="0" marL="0">
              <a:buNone/>
            </a:pPr>
            <a:r>
              <a:rPr lang="en-US" sz="800" dirty="0">
                <a:solidFill>
                  <a:srgbClr val="8B95A5"/>
                </a:solidFill>
                <a:latin typeface="Courier New" pitchFamily="34" charset="0"/>
                <a:ea typeface="Courier New" pitchFamily="34" charset="-122"/>
                <a:cs typeface="Courier New" pitchFamily="34" charset="-120"/>
              </a:rPr>
              <a:t>before</a:t>
            </a:r>
            <a:endParaRPr lang="en-US" sz="800" dirty="0"/>
          </a:p>
        </p:txBody>
      </p:sp>
      <p:sp>
        <p:nvSpPr>
          <p:cNvPr id="9" name="Text 7"/>
          <p:cNvSpPr/>
          <p:nvPr/>
        </p:nvSpPr>
        <p:spPr>
          <a:xfrm>
            <a:off x="804672" y="2212848"/>
            <a:ext cx="5161788" cy="420624"/>
          </a:xfrm>
          <a:prstGeom prst="rect">
            <a:avLst/>
          </a:prstGeom>
          <a:noFill/>
          <a:ln/>
        </p:spPr>
        <p:txBody>
          <a:bodyPr wrap="square" lIns="0" tIns="0" rIns="0" bIns="0" rtlCol="0" anchor="t"/>
          <a:lstStyle/>
          <a:p>
            <a:pPr indent="0" marL="0">
              <a:buNone/>
            </a:pPr>
            <a:r>
              <a:rPr lang="en-US" sz="950" dirty="0">
                <a:solidFill>
                  <a:srgbClr val="8B95A5"/>
                </a:solidFill>
                <a:latin typeface="Courier New" pitchFamily="34" charset="0"/>
                <a:ea typeface="Courier New" pitchFamily="34" charset="-122"/>
                <a:cs typeface="Courier New" pitchFamily="34" charset="-120"/>
              </a:rPr>
              <a:t>‹before›</a:t>
            </a:r>
            <a:endParaRPr lang="en-US" sz="950" dirty="0"/>
          </a:p>
        </p:txBody>
      </p:sp>
      <p:sp>
        <p:nvSpPr>
          <p:cNvPr id="10" name="Shape 8"/>
          <p:cNvSpPr/>
          <p:nvPr/>
        </p:nvSpPr>
        <p:spPr>
          <a:xfrm>
            <a:off x="6149340" y="1993392"/>
            <a:ext cx="5308092" cy="676656"/>
          </a:xfrm>
          <a:prstGeom prst="rect">
            <a:avLst/>
          </a:prstGeom>
          <a:solidFill>
            <a:srgbClr val="0D1117"/>
          </a:solidFill>
          <a:ln w="6350">
            <a:solidFill>
              <a:srgbClr val="232D3D"/>
            </a:solidFill>
            <a:prstDash val="solid"/>
          </a:ln>
        </p:spPr>
      </p:sp>
      <p:sp>
        <p:nvSpPr>
          <p:cNvPr id="11" name="Text 9"/>
          <p:cNvSpPr/>
          <p:nvPr/>
        </p:nvSpPr>
        <p:spPr>
          <a:xfrm>
            <a:off x="6222492" y="2020824"/>
            <a:ext cx="5161788" cy="182880"/>
          </a:xfrm>
          <a:prstGeom prst="rect">
            <a:avLst/>
          </a:prstGeom>
          <a:noFill/>
          <a:ln/>
        </p:spPr>
        <p:txBody>
          <a:bodyPr wrap="square" lIns="0" tIns="0" rIns="0" bIns="0" rtlCol="0" anchor="ctr"/>
          <a:lstStyle/>
          <a:p>
            <a:pPr indent="0" marL="0">
              <a:buNone/>
            </a:pPr>
            <a:r>
              <a:rPr lang="en-US" sz="800" dirty="0">
                <a:solidFill>
                  <a:srgbClr val="8B95A5"/>
                </a:solidFill>
                <a:latin typeface="Courier New" pitchFamily="34" charset="0"/>
                <a:ea typeface="Courier New" pitchFamily="34" charset="-122"/>
                <a:cs typeface="Courier New" pitchFamily="34" charset="-120"/>
              </a:rPr>
              <a:t>after</a:t>
            </a:r>
            <a:endParaRPr lang="en-US" sz="800" dirty="0"/>
          </a:p>
        </p:txBody>
      </p:sp>
      <p:sp>
        <p:nvSpPr>
          <p:cNvPr id="12" name="Text 10"/>
          <p:cNvSpPr/>
          <p:nvPr/>
        </p:nvSpPr>
        <p:spPr>
          <a:xfrm>
            <a:off x="6222492" y="2212848"/>
            <a:ext cx="5161788" cy="420624"/>
          </a:xfrm>
          <a:prstGeom prst="rect">
            <a:avLst/>
          </a:prstGeom>
          <a:noFill/>
          <a:ln/>
        </p:spPr>
        <p:txBody>
          <a:bodyPr wrap="square" lIns="0" tIns="0" rIns="0" bIns="0" rtlCol="0" anchor="t"/>
          <a:lstStyle/>
          <a:p>
            <a:pPr indent="0" marL="0">
              <a:buNone/>
            </a:pPr>
            <a:r>
              <a:rPr lang="en-US" sz="950" dirty="0">
                <a:solidFill>
                  <a:srgbClr val="8B95A5"/>
                </a:solidFill>
                <a:latin typeface="Courier New" pitchFamily="34" charset="0"/>
                <a:ea typeface="Courier New" pitchFamily="34" charset="-122"/>
                <a:cs typeface="Courier New" pitchFamily="34" charset="-120"/>
              </a:rPr>
              <a:t>‹after›</a:t>
            </a:r>
            <a:endParaRPr lang="en-US" sz="950" dirty="0"/>
          </a:p>
        </p:txBody>
      </p:sp>
      <p:sp>
        <p:nvSpPr>
          <p:cNvPr id="13" name="Text 11"/>
          <p:cNvSpPr/>
          <p:nvPr/>
        </p:nvSpPr>
        <p:spPr>
          <a:xfrm>
            <a:off x="731520" y="2706624"/>
            <a:ext cx="10725912" cy="292608"/>
          </a:xfrm>
          <a:prstGeom prst="rect">
            <a:avLst/>
          </a:prstGeom>
          <a:noFill/>
          <a:ln/>
        </p:spPr>
        <p:txBody>
          <a:bodyPr wrap="square" lIns="0" tIns="0" rIns="0" bIns="0" rtlCol="0" anchor="ctr"/>
          <a:lstStyle/>
          <a:p>
            <a:pPr indent="0" marL="0">
              <a:buNone/>
            </a:pPr>
            <a:r>
              <a:rPr lang="en-US" sz="950" i="1" dirty="0">
                <a:solidFill>
                  <a:srgbClr val="8B95A5"/>
                </a:solidFill>
                <a:latin typeface="Arial" pitchFamily="34" charset="0"/>
                <a:ea typeface="Arial" pitchFamily="34" charset="-122"/>
                <a:cs typeface="Arial" pitchFamily="34" charset="-120"/>
              </a:rPr>
              <a:t>‹why it matters, in one sentence›</a:t>
            </a:r>
            <a:endParaRPr lang="en-US" sz="950" dirty="0"/>
          </a:p>
        </p:txBody>
      </p:sp>
      <p:sp>
        <p:nvSpPr>
          <p:cNvPr id="14" name="Shape 12"/>
          <p:cNvSpPr/>
          <p:nvPr/>
        </p:nvSpPr>
        <p:spPr>
          <a:xfrm>
            <a:off x="566928" y="3182112"/>
            <a:ext cx="11055096" cy="1463040"/>
          </a:xfrm>
          <a:prstGeom prst="roundRect">
            <a:avLst>
              <a:gd name="adj" fmla="val 5625"/>
            </a:avLst>
          </a:prstGeom>
          <a:solidFill>
            <a:srgbClr val="161D28"/>
          </a:solidFill>
          <a:ln w="12700">
            <a:solidFill>
              <a:srgbClr val="3A4353"/>
            </a:solidFill>
            <a:prstDash val="dash"/>
          </a:ln>
        </p:spPr>
      </p:sp>
      <p:sp>
        <p:nvSpPr>
          <p:cNvPr id="15" name="Text 13"/>
          <p:cNvSpPr/>
          <p:nvPr/>
        </p:nvSpPr>
        <p:spPr>
          <a:xfrm>
            <a:off x="731520" y="3255264"/>
            <a:ext cx="2011680" cy="274320"/>
          </a:xfrm>
          <a:prstGeom prst="rect">
            <a:avLst/>
          </a:prstGeom>
          <a:noFill/>
          <a:ln/>
        </p:spPr>
        <p:txBody>
          <a:bodyPr wrap="square" lIns="0" tIns="0" rIns="0" bIns="0" rtlCol="0" anchor="ctr"/>
          <a:lstStyle/>
          <a:p>
            <a:pPr indent="0" marL="0">
              <a:buNone/>
            </a:pPr>
            <a:r>
              <a:rPr lang="en-US" sz="1100" b="1" dirty="0">
                <a:solidFill>
                  <a:srgbClr val="8B95A5"/>
                </a:solidFill>
                <a:latin typeface="Courier New" pitchFamily="34" charset="0"/>
                <a:ea typeface="Courier New" pitchFamily="34" charset="-122"/>
                <a:cs typeface="Courier New" pitchFamily="34" charset="-120"/>
              </a:rPr>
              <a:t>‹kind›</a:t>
            </a:r>
            <a:endParaRPr lang="en-US" sz="1100" dirty="0"/>
          </a:p>
        </p:txBody>
      </p:sp>
      <p:sp>
        <p:nvSpPr>
          <p:cNvPr id="16" name="Text 14"/>
          <p:cNvSpPr/>
          <p:nvPr/>
        </p:nvSpPr>
        <p:spPr>
          <a:xfrm>
            <a:off x="2807208" y="3255264"/>
            <a:ext cx="8650224" cy="2743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finding, as the tool prints it›</a:t>
            </a:r>
            <a:endParaRPr lang="en-US" sz="1050" dirty="0"/>
          </a:p>
        </p:txBody>
      </p:sp>
      <p:sp>
        <p:nvSpPr>
          <p:cNvPr id="17" name="Shape 15"/>
          <p:cNvSpPr/>
          <p:nvPr/>
        </p:nvSpPr>
        <p:spPr>
          <a:xfrm>
            <a:off x="731520" y="3584448"/>
            <a:ext cx="5308092" cy="676656"/>
          </a:xfrm>
          <a:prstGeom prst="rect">
            <a:avLst/>
          </a:prstGeom>
          <a:solidFill>
            <a:srgbClr val="0D1117"/>
          </a:solidFill>
          <a:ln w="6350">
            <a:solidFill>
              <a:srgbClr val="232D3D"/>
            </a:solidFill>
            <a:prstDash val="solid"/>
          </a:ln>
        </p:spPr>
      </p:sp>
      <p:sp>
        <p:nvSpPr>
          <p:cNvPr id="18" name="Text 16"/>
          <p:cNvSpPr/>
          <p:nvPr/>
        </p:nvSpPr>
        <p:spPr>
          <a:xfrm>
            <a:off x="804672" y="3611880"/>
            <a:ext cx="5161788" cy="182880"/>
          </a:xfrm>
          <a:prstGeom prst="rect">
            <a:avLst/>
          </a:prstGeom>
          <a:noFill/>
          <a:ln/>
        </p:spPr>
        <p:txBody>
          <a:bodyPr wrap="square" lIns="0" tIns="0" rIns="0" bIns="0" rtlCol="0" anchor="ctr"/>
          <a:lstStyle/>
          <a:p>
            <a:pPr indent="0" marL="0">
              <a:buNone/>
            </a:pPr>
            <a:r>
              <a:rPr lang="en-US" sz="800" dirty="0">
                <a:solidFill>
                  <a:srgbClr val="8B95A5"/>
                </a:solidFill>
                <a:latin typeface="Courier New" pitchFamily="34" charset="0"/>
                <a:ea typeface="Courier New" pitchFamily="34" charset="-122"/>
                <a:cs typeface="Courier New" pitchFamily="34" charset="-120"/>
              </a:rPr>
              <a:t>before</a:t>
            </a:r>
            <a:endParaRPr lang="en-US" sz="800" dirty="0"/>
          </a:p>
        </p:txBody>
      </p:sp>
      <p:sp>
        <p:nvSpPr>
          <p:cNvPr id="19" name="Text 17"/>
          <p:cNvSpPr/>
          <p:nvPr/>
        </p:nvSpPr>
        <p:spPr>
          <a:xfrm>
            <a:off x="804672" y="3803904"/>
            <a:ext cx="5161788" cy="420624"/>
          </a:xfrm>
          <a:prstGeom prst="rect">
            <a:avLst/>
          </a:prstGeom>
          <a:noFill/>
          <a:ln/>
        </p:spPr>
        <p:txBody>
          <a:bodyPr wrap="square" lIns="0" tIns="0" rIns="0" bIns="0" rtlCol="0" anchor="t"/>
          <a:lstStyle/>
          <a:p>
            <a:pPr indent="0" marL="0">
              <a:buNone/>
            </a:pPr>
            <a:r>
              <a:rPr lang="en-US" sz="950" dirty="0">
                <a:solidFill>
                  <a:srgbClr val="8B95A5"/>
                </a:solidFill>
                <a:latin typeface="Courier New" pitchFamily="34" charset="0"/>
                <a:ea typeface="Courier New" pitchFamily="34" charset="-122"/>
                <a:cs typeface="Courier New" pitchFamily="34" charset="-120"/>
              </a:rPr>
              <a:t>‹before›</a:t>
            </a:r>
            <a:endParaRPr lang="en-US" sz="950" dirty="0"/>
          </a:p>
        </p:txBody>
      </p:sp>
      <p:sp>
        <p:nvSpPr>
          <p:cNvPr id="20" name="Shape 18"/>
          <p:cNvSpPr/>
          <p:nvPr/>
        </p:nvSpPr>
        <p:spPr>
          <a:xfrm>
            <a:off x="6149340" y="3584448"/>
            <a:ext cx="5308092" cy="676656"/>
          </a:xfrm>
          <a:prstGeom prst="rect">
            <a:avLst/>
          </a:prstGeom>
          <a:solidFill>
            <a:srgbClr val="0D1117"/>
          </a:solidFill>
          <a:ln w="6350">
            <a:solidFill>
              <a:srgbClr val="232D3D"/>
            </a:solidFill>
            <a:prstDash val="solid"/>
          </a:ln>
        </p:spPr>
      </p:sp>
      <p:sp>
        <p:nvSpPr>
          <p:cNvPr id="21" name="Text 19"/>
          <p:cNvSpPr/>
          <p:nvPr/>
        </p:nvSpPr>
        <p:spPr>
          <a:xfrm>
            <a:off x="6222492" y="3611880"/>
            <a:ext cx="5161788" cy="182880"/>
          </a:xfrm>
          <a:prstGeom prst="rect">
            <a:avLst/>
          </a:prstGeom>
          <a:noFill/>
          <a:ln/>
        </p:spPr>
        <p:txBody>
          <a:bodyPr wrap="square" lIns="0" tIns="0" rIns="0" bIns="0" rtlCol="0" anchor="ctr"/>
          <a:lstStyle/>
          <a:p>
            <a:pPr indent="0" marL="0">
              <a:buNone/>
            </a:pPr>
            <a:r>
              <a:rPr lang="en-US" sz="800" dirty="0">
                <a:solidFill>
                  <a:srgbClr val="8B95A5"/>
                </a:solidFill>
                <a:latin typeface="Courier New" pitchFamily="34" charset="0"/>
                <a:ea typeface="Courier New" pitchFamily="34" charset="-122"/>
                <a:cs typeface="Courier New" pitchFamily="34" charset="-120"/>
              </a:rPr>
              <a:t>after</a:t>
            </a:r>
            <a:endParaRPr lang="en-US" sz="800" dirty="0"/>
          </a:p>
        </p:txBody>
      </p:sp>
      <p:sp>
        <p:nvSpPr>
          <p:cNvPr id="22" name="Text 20"/>
          <p:cNvSpPr/>
          <p:nvPr/>
        </p:nvSpPr>
        <p:spPr>
          <a:xfrm>
            <a:off x="6222492" y="3803904"/>
            <a:ext cx="5161788" cy="420624"/>
          </a:xfrm>
          <a:prstGeom prst="rect">
            <a:avLst/>
          </a:prstGeom>
          <a:noFill/>
          <a:ln/>
        </p:spPr>
        <p:txBody>
          <a:bodyPr wrap="square" lIns="0" tIns="0" rIns="0" bIns="0" rtlCol="0" anchor="t"/>
          <a:lstStyle/>
          <a:p>
            <a:pPr indent="0" marL="0">
              <a:buNone/>
            </a:pPr>
            <a:r>
              <a:rPr lang="en-US" sz="950" dirty="0">
                <a:solidFill>
                  <a:srgbClr val="8B95A5"/>
                </a:solidFill>
                <a:latin typeface="Courier New" pitchFamily="34" charset="0"/>
                <a:ea typeface="Courier New" pitchFamily="34" charset="-122"/>
                <a:cs typeface="Courier New" pitchFamily="34" charset="-120"/>
              </a:rPr>
              <a:t>‹after›</a:t>
            </a:r>
            <a:endParaRPr lang="en-US" sz="950" dirty="0"/>
          </a:p>
        </p:txBody>
      </p:sp>
      <p:sp>
        <p:nvSpPr>
          <p:cNvPr id="23" name="Text 21"/>
          <p:cNvSpPr/>
          <p:nvPr/>
        </p:nvSpPr>
        <p:spPr>
          <a:xfrm>
            <a:off x="731520" y="4297680"/>
            <a:ext cx="10725912" cy="292608"/>
          </a:xfrm>
          <a:prstGeom prst="rect">
            <a:avLst/>
          </a:prstGeom>
          <a:noFill/>
          <a:ln/>
        </p:spPr>
        <p:txBody>
          <a:bodyPr wrap="square" lIns="0" tIns="0" rIns="0" bIns="0" rtlCol="0" anchor="ctr"/>
          <a:lstStyle/>
          <a:p>
            <a:pPr indent="0" marL="0">
              <a:buNone/>
            </a:pPr>
            <a:r>
              <a:rPr lang="en-US" sz="950" i="1" dirty="0">
                <a:solidFill>
                  <a:srgbClr val="8B95A5"/>
                </a:solidFill>
                <a:latin typeface="Arial" pitchFamily="34" charset="0"/>
                <a:ea typeface="Arial" pitchFamily="34" charset="-122"/>
                <a:cs typeface="Arial" pitchFamily="34" charset="-120"/>
              </a:rPr>
              <a:t>‹why it matters, in one sentence›</a:t>
            </a:r>
            <a:endParaRPr lang="en-US" sz="950" dirty="0"/>
          </a:p>
        </p:txBody>
      </p:sp>
      <p:sp>
        <p:nvSpPr>
          <p:cNvPr id="24" name="Shape 22"/>
          <p:cNvSpPr/>
          <p:nvPr/>
        </p:nvSpPr>
        <p:spPr>
          <a:xfrm>
            <a:off x="566928" y="4773168"/>
            <a:ext cx="11055096" cy="1463040"/>
          </a:xfrm>
          <a:prstGeom prst="roundRect">
            <a:avLst>
              <a:gd name="adj" fmla="val 5625"/>
            </a:avLst>
          </a:prstGeom>
          <a:solidFill>
            <a:srgbClr val="161D28"/>
          </a:solidFill>
          <a:ln w="12700">
            <a:solidFill>
              <a:srgbClr val="3A4353"/>
            </a:solidFill>
            <a:prstDash val="dash"/>
          </a:ln>
        </p:spPr>
      </p:sp>
      <p:sp>
        <p:nvSpPr>
          <p:cNvPr id="25" name="Text 23"/>
          <p:cNvSpPr/>
          <p:nvPr/>
        </p:nvSpPr>
        <p:spPr>
          <a:xfrm>
            <a:off x="731520" y="4846320"/>
            <a:ext cx="2011680" cy="274320"/>
          </a:xfrm>
          <a:prstGeom prst="rect">
            <a:avLst/>
          </a:prstGeom>
          <a:noFill/>
          <a:ln/>
        </p:spPr>
        <p:txBody>
          <a:bodyPr wrap="square" lIns="0" tIns="0" rIns="0" bIns="0" rtlCol="0" anchor="ctr"/>
          <a:lstStyle/>
          <a:p>
            <a:pPr indent="0" marL="0">
              <a:buNone/>
            </a:pPr>
            <a:r>
              <a:rPr lang="en-US" sz="1100" b="1" dirty="0">
                <a:solidFill>
                  <a:srgbClr val="8B95A5"/>
                </a:solidFill>
                <a:latin typeface="Courier New" pitchFamily="34" charset="0"/>
                <a:ea typeface="Courier New" pitchFamily="34" charset="-122"/>
                <a:cs typeface="Courier New" pitchFamily="34" charset="-120"/>
              </a:rPr>
              <a:t>‹kind›</a:t>
            </a:r>
            <a:endParaRPr lang="en-US" sz="1100" dirty="0"/>
          </a:p>
        </p:txBody>
      </p:sp>
      <p:sp>
        <p:nvSpPr>
          <p:cNvPr id="26" name="Text 24"/>
          <p:cNvSpPr/>
          <p:nvPr/>
        </p:nvSpPr>
        <p:spPr>
          <a:xfrm>
            <a:off x="2807208" y="4846320"/>
            <a:ext cx="8650224" cy="2743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finding, as the tool prints it›</a:t>
            </a:r>
            <a:endParaRPr lang="en-US" sz="1050" dirty="0"/>
          </a:p>
        </p:txBody>
      </p:sp>
      <p:sp>
        <p:nvSpPr>
          <p:cNvPr id="27" name="Shape 25"/>
          <p:cNvSpPr/>
          <p:nvPr/>
        </p:nvSpPr>
        <p:spPr>
          <a:xfrm>
            <a:off x="731520" y="5175504"/>
            <a:ext cx="5308092" cy="676656"/>
          </a:xfrm>
          <a:prstGeom prst="rect">
            <a:avLst/>
          </a:prstGeom>
          <a:solidFill>
            <a:srgbClr val="0D1117"/>
          </a:solidFill>
          <a:ln w="6350">
            <a:solidFill>
              <a:srgbClr val="232D3D"/>
            </a:solidFill>
            <a:prstDash val="solid"/>
          </a:ln>
        </p:spPr>
      </p:sp>
      <p:sp>
        <p:nvSpPr>
          <p:cNvPr id="28" name="Text 26"/>
          <p:cNvSpPr/>
          <p:nvPr/>
        </p:nvSpPr>
        <p:spPr>
          <a:xfrm>
            <a:off x="804672" y="5202936"/>
            <a:ext cx="5161788" cy="182880"/>
          </a:xfrm>
          <a:prstGeom prst="rect">
            <a:avLst/>
          </a:prstGeom>
          <a:noFill/>
          <a:ln/>
        </p:spPr>
        <p:txBody>
          <a:bodyPr wrap="square" lIns="0" tIns="0" rIns="0" bIns="0" rtlCol="0" anchor="ctr"/>
          <a:lstStyle/>
          <a:p>
            <a:pPr indent="0" marL="0">
              <a:buNone/>
            </a:pPr>
            <a:r>
              <a:rPr lang="en-US" sz="800" dirty="0">
                <a:solidFill>
                  <a:srgbClr val="8B95A5"/>
                </a:solidFill>
                <a:latin typeface="Courier New" pitchFamily="34" charset="0"/>
                <a:ea typeface="Courier New" pitchFamily="34" charset="-122"/>
                <a:cs typeface="Courier New" pitchFamily="34" charset="-120"/>
              </a:rPr>
              <a:t>before</a:t>
            </a:r>
            <a:endParaRPr lang="en-US" sz="800" dirty="0"/>
          </a:p>
        </p:txBody>
      </p:sp>
      <p:sp>
        <p:nvSpPr>
          <p:cNvPr id="29" name="Text 27"/>
          <p:cNvSpPr/>
          <p:nvPr/>
        </p:nvSpPr>
        <p:spPr>
          <a:xfrm>
            <a:off x="804672" y="5394960"/>
            <a:ext cx="5161788" cy="420624"/>
          </a:xfrm>
          <a:prstGeom prst="rect">
            <a:avLst/>
          </a:prstGeom>
          <a:noFill/>
          <a:ln/>
        </p:spPr>
        <p:txBody>
          <a:bodyPr wrap="square" lIns="0" tIns="0" rIns="0" bIns="0" rtlCol="0" anchor="t"/>
          <a:lstStyle/>
          <a:p>
            <a:pPr indent="0" marL="0">
              <a:buNone/>
            </a:pPr>
            <a:r>
              <a:rPr lang="en-US" sz="950" dirty="0">
                <a:solidFill>
                  <a:srgbClr val="8B95A5"/>
                </a:solidFill>
                <a:latin typeface="Courier New" pitchFamily="34" charset="0"/>
                <a:ea typeface="Courier New" pitchFamily="34" charset="-122"/>
                <a:cs typeface="Courier New" pitchFamily="34" charset="-120"/>
              </a:rPr>
              <a:t>‹before›</a:t>
            </a:r>
            <a:endParaRPr lang="en-US" sz="950" dirty="0"/>
          </a:p>
        </p:txBody>
      </p:sp>
      <p:sp>
        <p:nvSpPr>
          <p:cNvPr id="30" name="Shape 28"/>
          <p:cNvSpPr/>
          <p:nvPr/>
        </p:nvSpPr>
        <p:spPr>
          <a:xfrm>
            <a:off x="6149340" y="5175504"/>
            <a:ext cx="5308092" cy="676656"/>
          </a:xfrm>
          <a:prstGeom prst="rect">
            <a:avLst/>
          </a:prstGeom>
          <a:solidFill>
            <a:srgbClr val="0D1117"/>
          </a:solidFill>
          <a:ln w="6350">
            <a:solidFill>
              <a:srgbClr val="232D3D"/>
            </a:solidFill>
            <a:prstDash val="solid"/>
          </a:ln>
        </p:spPr>
      </p:sp>
      <p:sp>
        <p:nvSpPr>
          <p:cNvPr id="31" name="Text 29"/>
          <p:cNvSpPr/>
          <p:nvPr/>
        </p:nvSpPr>
        <p:spPr>
          <a:xfrm>
            <a:off x="6222492" y="5202936"/>
            <a:ext cx="5161788" cy="182880"/>
          </a:xfrm>
          <a:prstGeom prst="rect">
            <a:avLst/>
          </a:prstGeom>
          <a:noFill/>
          <a:ln/>
        </p:spPr>
        <p:txBody>
          <a:bodyPr wrap="square" lIns="0" tIns="0" rIns="0" bIns="0" rtlCol="0" anchor="ctr"/>
          <a:lstStyle/>
          <a:p>
            <a:pPr indent="0" marL="0">
              <a:buNone/>
            </a:pPr>
            <a:r>
              <a:rPr lang="en-US" sz="800" dirty="0">
                <a:solidFill>
                  <a:srgbClr val="8B95A5"/>
                </a:solidFill>
                <a:latin typeface="Courier New" pitchFamily="34" charset="0"/>
                <a:ea typeface="Courier New" pitchFamily="34" charset="-122"/>
                <a:cs typeface="Courier New" pitchFamily="34" charset="-120"/>
              </a:rPr>
              <a:t>after</a:t>
            </a:r>
            <a:endParaRPr lang="en-US" sz="800" dirty="0"/>
          </a:p>
        </p:txBody>
      </p:sp>
      <p:sp>
        <p:nvSpPr>
          <p:cNvPr id="32" name="Text 30"/>
          <p:cNvSpPr/>
          <p:nvPr/>
        </p:nvSpPr>
        <p:spPr>
          <a:xfrm>
            <a:off x="6222492" y="5394960"/>
            <a:ext cx="5161788" cy="420624"/>
          </a:xfrm>
          <a:prstGeom prst="rect">
            <a:avLst/>
          </a:prstGeom>
          <a:noFill/>
          <a:ln/>
        </p:spPr>
        <p:txBody>
          <a:bodyPr wrap="square" lIns="0" tIns="0" rIns="0" bIns="0" rtlCol="0" anchor="t"/>
          <a:lstStyle/>
          <a:p>
            <a:pPr indent="0" marL="0">
              <a:buNone/>
            </a:pPr>
            <a:r>
              <a:rPr lang="en-US" sz="950" dirty="0">
                <a:solidFill>
                  <a:srgbClr val="8B95A5"/>
                </a:solidFill>
                <a:latin typeface="Courier New" pitchFamily="34" charset="0"/>
                <a:ea typeface="Courier New" pitchFamily="34" charset="-122"/>
                <a:cs typeface="Courier New" pitchFamily="34" charset="-120"/>
              </a:rPr>
              <a:t>‹after›</a:t>
            </a:r>
            <a:endParaRPr lang="en-US" sz="950" dirty="0"/>
          </a:p>
        </p:txBody>
      </p:sp>
      <p:sp>
        <p:nvSpPr>
          <p:cNvPr id="33" name="Text 31"/>
          <p:cNvSpPr/>
          <p:nvPr/>
        </p:nvSpPr>
        <p:spPr>
          <a:xfrm>
            <a:off x="731520" y="5888736"/>
            <a:ext cx="10725912" cy="292608"/>
          </a:xfrm>
          <a:prstGeom prst="rect">
            <a:avLst/>
          </a:prstGeom>
          <a:noFill/>
          <a:ln/>
        </p:spPr>
        <p:txBody>
          <a:bodyPr wrap="square" lIns="0" tIns="0" rIns="0" bIns="0" rtlCol="0" anchor="ctr"/>
          <a:lstStyle/>
          <a:p>
            <a:pPr indent="0" marL="0">
              <a:buNone/>
            </a:pPr>
            <a:r>
              <a:rPr lang="en-US" sz="950" i="1" dirty="0">
                <a:solidFill>
                  <a:srgbClr val="8B95A5"/>
                </a:solidFill>
                <a:latin typeface="Arial" pitchFamily="34" charset="0"/>
                <a:ea typeface="Arial" pitchFamily="34" charset="-122"/>
                <a:cs typeface="Arial" pitchFamily="34" charset="-120"/>
              </a:rPr>
              <a:t>‹why it matters, in one sentence›</a:t>
            </a:r>
            <a:endParaRPr lang="en-US" sz="950" dirty="0"/>
          </a:p>
        </p:txBody>
      </p:sp>
      <p:sp>
        <p:nvSpPr>
          <p:cNvPr id="34" name="Shape 32"/>
          <p:cNvSpPr/>
          <p:nvPr/>
        </p:nvSpPr>
        <p:spPr>
          <a:xfrm>
            <a:off x="9793224" y="347472"/>
            <a:ext cx="1828800" cy="329184"/>
          </a:xfrm>
          <a:prstGeom prst="roundRect">
            <a:avLst>
              <a:gd name="adj" fmla="val 16667"/>
            </a:avLst>
          </a:prstGeom>
          <a:solidFill>
            <a:srgbClr val="1B2432"/>
          </a:solidFill>
          <a:ln w="9525">
            <a:solidFill>
              <a:srgbClr val="F2B84B"/>
            </a:solidFill>
            <a:prstDash val="solid"/>
          </a:ln>
        </p:spPr>
      </p:sp>
      <p:sp>
        <p:nvSpPr>
          <p:cNvPr id="35" name="Text 33"/>
          <p:cNvSpPr/>
          <p:nvPr/>
        </p:nvSpPr>
        <p:spPr>
          <a:xfrm>
            <a:off x="9848088" y="347472"/>
            <a:ext cx="1719072" cy="329184"/>
          </a:xfrm>
          <a:prstGeom prst="rect">
            <a:avLst/>
          </a:prstGeom>
          <a:noFill/>
          <a:ln/>
        </p:spPr>
        <p:txBody>
          <a:bodyPr wrap="square" lIns="508" tIns="508" rIns="508" bIns="508" rtlCol="0" anchor="ctr"/>
          <a:lstStyle/>
          <a:p>
            <a:pPr indent="0" marL="0">
              <a:buNone/>
            </a:pPr>
            <a:r>
              <a:rPr lang="en-US" sz="1200" dirty="0">
                <a:solidFill>
                  <a:srgbClr val="F2B84B"/>
                </a:solidFill>
                <a:latin typeface="Courier New" pitchFamily="34" charset="0"/>
                <a:ea typeface="Courier New" pitchFamily="34" charset="-122"/>
                <a:cs typeface="Courier New" pitchFamily="34" charset="-120"/>
              </a:rPr>
              <a:t>PLACEHOLDER</a:t>
            </a:r>
            <a:endParaRPr lang="en-US" sz="1200" dirty="0"/>
          </a:p>
        </p:txBody>
      </p:sp>
      <p:sp>
        <p:nvSpPr>
          <p:cNvPr id="36" name="Text 3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placeholder: the examples arrive as data (QD_EXAMPLES, top of the generator) once docs/QUALITY_DELTA_CATALOG.md lands</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built for the agent's seat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One command wires it into your agent</a:t>
            </a:r>
            <a:endParaRPr lang="en-US" sz="3200" dirty="0"/>
          </a:p>
        </p:txBody>
      </p:sp>
      <p:sp>
        <p:nvSpPr>
          <p:cNvPr id="4" name="Shape 2"/>
          <p:cNvSpPr/>
          <p:nvPr/>
        </p:nvSpPr>
        <p:spPr>
          <a:xfrm>
            <a:off x="566928" y="1783080"/>
            <a:ext cx="3977640" cy="502920"/>
          </a:xfrm>
          <a:prstGeom prst="roundRect">
            <a:avLst>
              <a:gd name="adj" fmla="val 10909"/>
            </a:avLst>
          </a:prstGeom>
          <a:solidFill>
            <a:srgbClr val="1B2432"/>
          </a:solidFill>
          <a:ln w="9525">
            <a:solidFill>
              <a:srgbClr val="2A3547"/>
            </a:solidFill>
            <a:prstDash val="solid"/>
          </a:ln>
        </p:spPr>
      </p:sp>
      <p:sp>
        <p:nvSpPr>
          <p:cNvPr id="5" name="Text 3"/>
          <p:cNvSpPr/>
          <p:nvPr/>
        </p:nvSpPr>
        <p:spPr>
          <a:xfrm>
            <a:off x="621792" y="1783080"/>
            <a:ext cx="3867912" cy="502920"/>
          </a:xfrm>
          <a:prstGeom prst="rect">
            <a:avLst/>
          </a:prstGeom>
          <a:noFill/>
          <a:ln/>
        </p:spPr>
        <p:txBody>
          <a:bodyPr wrap="square" lIns="508" tIns="508" rIns="508" bIns="508" rtlCol="0" anchor="ctr"/>
          <a:lstStyle/>
          <a:p>
            <a:pPr indent="0" marL="0">
              <a:buNone/>
            </a:pPr>
            <a:r>
              <a:rPr lang="en-US" sz="1400" dirty="0">
                <a:solidFill>
                  <a:srgbClr val="4AC26B"/>
                </a:solidFill>
                <a:latin typeface="Courier New" pitchFamily="34" charset="0"/>
                <a:ea typeface="Courier New" pitchFamily="34" charset="-122"/>
                <a:cs typeface="Courier New" pitchFamily="34" charset="-120"/>
              </a:rPr>
              <a:t>$ ripwire wrap claude</a:t>
            </a:r>
            <a:endParaRPr lang="en-US" sz="1400" dirty="0"/>
          </a:p>
        </p:txBody>
      </p:sp>
      <p:sp>
        <p:nvSpPr>
          <p:cNvPr id="6" name="Text 4"/>
          <p:cNvSpPr/>
          <p:nvPr/>
        </p:nvSpPr>
        <p:spPr>
          <a:xfrm>
            <a:off x="4754880" y="1783080"/>
            <a:ext cx="6766560" cy="502920"/>
          </a:xfrm>
          <a:prstGeom prst="rect">
            <a:avLst/>
          </a:prstGeom>
          <a:noFill/>
          <a:ln/>
        </p:spPr>
        <p:txBody>
          <a:bodyPr wrap="square" lIns="0" tIns="0" rIns="0" bIns="0" rtlCol="0" anchor="ctr"/>
          <a:lstStyle/>
          <a:p>
            <a:pPr indent="0" marL="0">
              <a:buNone/>
            </a:pPr>
            <a:r>
              <a:rPr lang="en-US" sz="1200" dirty="0">
                <a:solidFill>
                  <a:srgbClr val="8B95A5"/>
                </a:solidFill>
                <a:latin typeface="Arial" pitchFamily="34" charset="0"/>
                <a:ea typeface="Arial" pitchFamily="34" charset="-122"/>
                <a:cs typeface="Arial" pitchFamily="34" charset="-120"/>
              </a:rPr>
              <a:t>claude · cursor · codex · windsurf · gemini · aider — or --all to detect every one you have installed</a:t>
            </a:r>
            <a:endParaRPr lang="en-US" sz="1200" dirty="0"/>
          </a:p>
        </p:txBody>
      </p:sp>
      <p:sp>
        <p:nvSpPr>
          <p:cNvPr id="7" name="Shape 5"/>
          <p:cNvSpPr/>
          <p:nvPr/>
        </p:nvSpPr>
        <p:spPr>
          <a:xfrm>
            <a:off x="566928" y="2542032"/>
            <a:ext cx="5440680" cy="1481328"/>
          </a:xfrm>
          <a:prstGeom prst="roundRect">
            <a:avLst>
              <a:gd name="adj" fmla="val 5556"/>
            </a:avLst>
          </a:prstGeom>
          <a:solidFill>
            <a:srgbClr val="161D28"/>
          </a:solidFill>
          <a:ln w="9525">
            <a:solidFill>
              <a:srgbClr val="232D3D"/>
            </a:solidFill>
            <a:prstDash val="solid"/>
          </a:ln>
        </p:spPr>
      </p:sp>
      <p:sp>
        <p:nvSpPr>
          <p:cNvPr id="8" name="Text 6"/>
          <p:cNvSpPr/>
          <p:nvPr/>
        </p:nvSpPr>
        <p:spPr>
          <a:xfrm>
            <a:off x="749808" y="265176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31 MCP verbs</a:t>
            </a:r>
            <a:endParaRPr lang="en-US" sz="1400" dirty="0"/>
          </a:p>
        </p:txBody>
      </p:sp>
      <p:sp>
        <p:nvSpPr>
          <p:cNvPr id="9" name="Text 7"/>
          <p:cNvSpPr/>
          <p:nvPr/>
        </p:nvSpPr>
        <p:spPr>
          <a:xfrm>
            <a:off x="749808" y="304495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16 read verbs mirroring the CLI, 12 flagship reflexes (impact, uses, edit_check, from_trace, connect …), 3 span-addressed edit verbs with a safety contract</a:t>
            </a:r>
            <a:endParaRPr lang="en-US" sz="1150" dirty="0"/>
          </a:p>
        </p:txBody>
      </p:sp>
      <p:sp>
        <p:nvSpPr>
          <p:cNvPr id="10" name="Shape 8"/>
          <p:cNvSpPr/>
          <p:nvPr/>
        </p:nvSpPr>
        <p:spPr>
          <a:xfrm>
            <a:off x="6181344" y="2542032"/>
            <a:ext cx="5440680" cy="1481328"/>
          </a:xfrm>
          <a:prstGeom prst="roundRect">
            <a:avLst>
              <a:gd name="adj" fmla="val 5556"/>
            </a:avLst>
          </a:prstGeom>
          <a:solidFill>
            <a:srgbClr val="161D28"/>
          </a:solidFill>
          <a:ln w="9525">
            <a:solidFill>
              <a:srgbClr val="232D3D"/>
            </a:solidFill>
            <a:prstDash val="solid"/>
          </a:ln>
        </p:spPr>
      </p:sp>
      <p:sp>
        <p:nvSpPr>
          <p:cNvPr id="11" name="Text 9"/>
          <p:cNvSpPr/>
          <p:nvPr/>
        </p:nvSpPr>
        <p:spPr>
          <a:xfrm>
            <a:off x="6364224" y="265176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lazy-body handles</a:t>
            </a:r>
            <a:endParaRPr lang="en-US" sz="1400" dirty="0"/>
          </a:p>
        </p:txBody>
      </p:sp>
      <p:sp>
        <p:nvSpPr>
          <p:cNvPr id="12" name="Text 10"/>
          <p:cNvSpPr/>
          <p:nvPr/>
        </p:nvSpPr>
        <p:spPr>
          <a:xfrm>
            <a:off x="6364224" y="304495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read verbs return signatures and a stable handle; the agent fetches a body only when it decides it needs one — names by default, bytes on request</a:t>
            </a:r>
            <a:endParaRPr lang="en-US" sz="1150" dirty="0"/>
          </a:p>
        </p:txBody>
      </p:sp>
      <p:sp>
        <p:nvSpPr>
          <p:cNvPr id="13" name="Shape 11"/>
          <p:cNvSpPr/>
          <p:nvPr/>
        </p:nvSpPr>
        <p:spPr>
          <a:xfrm>
            <a:off x="566928" y="4187952"/>
            <a:ext cx="5440680" cy="1481328"/>
          </a:xfrm>
          <a:prstGeom prst="roundRect">
            <a:avLst>
              <a:gd name="adj" fmla="val 5556"/>
            </a:avLst>
          </a:prstGeom>
          <a:solidFill>
            <a:srgbClr val="161D28"/>
          </a:solidFill>
          <a:ln w="9525">
            <a:solidFill>
              <a:srgbClr val="232D3D"/>
            </a:solidFill>
            <a:prstDash val="solid"/>
          </a:ln>
        </p:spPr>
      </p:sp>
      <p:sp>
        <p:nvSpPr>
          <p:cNvPr id="14" name="Text 12"/>
          <p:cNvSpPr/>
          <p:nvPr/>
        </p:nvSpPr>
        <p:spPr>
          <a:xfrm>
            <a:off x="749808" y="429768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18 agent skills</a:t>
            </a:r>
            <a:endParaRPr lang="en-US" sz="1400" dirty="0"/>
          </a:p>
        </p:txBody>
      </p:sp>
      <p:sp>
        <p:nvSpPr>
          <p:cNvPr id="15" name="Text 13"/>
          <p:cNvSpPr/>
          <p:nvPr/>
        </p:nvSpPr>
        <p:spPr>
          <a:xfrm>
            <a:off x="749808" y="469087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moment-matched workflows (orient, navigate, change-check, quality-bar …) — wrap prints the recipe, skills/install.sh installs them</a:t>
            </a:r>
            <a:endParaRPr lang="en-US" sz="1150" dirty="0"/>
          </a:p>
        </p:txBody>
      </p:sp>
      <p:sp>
        <p:nvSpPr>
          <p:cNvPr id="16" name="Shape 14"/>
          <p:cNvSpPr/>
          <p:nvPr/>
        </p:nvSpPr>
        <p:spPr>
          <a:xfrm>
            <a:off x="6181344" y="4187952"/>
            <a:ext cx="5440680" cy="1481328"/>
          </a:xfrm>
          <a:prstGeom prst="roundRect">
            <a:avLst>
              <a:gd name="adj" fmla="val 5556"/>
            </a:avLst>
          </a:prstGeom>
          <a:solidFill>
            <a:srgbClr val="161D28"/>
          </a:solidFill>
          <a:ln w="9525">
            <a:solidFill>
              <a:srgbClr val="232D3D"/>
            </a:solidFill>
            <a:prstDash val="solid"/>
          </a:ln>
        </p:spPr>
      </p:sp>
      <p:sp>
        <p:nvSpPr>
          <p:cNvPr id="17" name="Text 15"/>
          <p:cNvSpPr/>
          <p:nvPr/>
        </p:nvSpPr>
        <p:spPr>
          <a:xfrm>
            <a:off x="6364224" y="429768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11 orchestrator loops</a:t>
            </a:r>
            <a:endParaRPr lang="en-US" sz="1400" dirty="0"/>
          </a:p>
        </p:txBody>
      </p:sp>
      <p:sp>
        <p:nvSpPr>
          <p:cNvPr id="18" name="Text 16"/>
          <p:cNvSpPr/>
          <p:nvPr/>
        </p:nvSpPr>
        <p:spPr>
          <a:xfrm>
            <a:off x="6364224" y="469087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copy-paste prompts in prompts/: run the same audit, eval and head-to-head machinery that built this tool, on your own repository</a:t>
            </a:r>
            <a:endParaRPr lang="en-US" sz="1150" dirty="0"/>
          </a:p>
        </p:txBody>
      </p:sp>
      <p:sp>
        <p:nvSpPr>
          <p:cNvPr id="19" name="Shape 17"/>
          <p:cNvSpPr/>
          <p:nvPr/>
        </p:nvSpPr>
        <p:spPr>
          <a:xfrm>
            <a:off x="566928" y="5760720"/>
            <a:ext cx="11055096" cy="566928"/>
          </a:xfrm>
          <a:prstGeom prst="roundRect">
            <a:avLst>
              <a:gd name="adj" fmla="val 14516"/>
            </a:avLst>
          </a:prstGeom>
          <a:solidFill>
            <a:srgbClr val="1B2432"/>
          </a:solidFill>
          <a:ln w="9525">
            <a:solidFill>
              <a:srgbClr val="232D3D"/>
            </a:solidFill>
            <a:prstDash val="solid"/>
          </a:ln>
        </p:spPr>
      </p:sp>
      <p:sp>
        <p:nvSpPr>
          <p:cNvPr id="20" name="Text 18"/>
          <p:cNvSpPr/>
          <p:nvPr/>
        </p:nvSpPr>
        <p:spPr>
          <a:xfrm>
            <a:off x="795528" y="5843016"/>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wrap does not just print JSON: </a:t>
            </a:r>
            <a:pPr indent="0" marL="0">
              <a:buNone/>
            </a:pPr>
            <a:r>
              <a:rPr lang="en-US" sz="1100" dirty="0">
                <a:solidFill>
                  <a:srgbClr val="8B95A5"/>
                </a:solidFill>
                <a:latin typeface="Arial" pitchFamily="34" charset="0"/>
                <a:ea typeface="Arial" pitchFamily="34" charset="-122"/>
                <a:cs typeface="Arial" pitchFamily="34" charset="-120"/>
              </a:rPr>
              <a:t>it probes what that agent already has, emits the config in that agent's own shape, and includes a use-when blurb so the agent knows which verb fires at which moment — not just that a server exists.</a:t>
            </a:r>
            <a:endParaRPr lang="en-US" sz="1100" dirty="0"/>
          </a:p>
        </p:txBody>
      </p:sp>
      <p:sp>
        <p:nvSpPr>
          <p:cNvPr id="21" name="Text 1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MCP server exposes the same deterministic engine — one index, shared with the CLI, staleness-checked</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it does not only read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Span-addressed edits: the map writes back</a:t>
            </a:r>
            <a:endParaRPr lang="en-US" sz="3200" dirty="0"/>
          </a:p>
        </p:txBody>
      </p:sp>
      <p:sp>
        <p:nvSpPr>
          <p:cNvPr id="4" name="Shape 2"/>
          <p:cNvSpPr/>
          <p:nvPr/>
        </p:nvSpPr>
        <p:spPr>
          <a:xfrm>
            <a:off x="566928" y="1536192"/>
            <a:ext cx="5577840" cy="2212848"/>
          </a:xfrm>
          <a:prstGeom prst="roundRect">
            <a:avLst>
              <a:gd name="adj" fmla="val 3719"/>
            </a:avLst>
          </a:prstGeom>
          <a:solidFill>
            <a:srgbClr val="161D28"/>
          </a:solidFill>
          <a:ln w="9525">
            <a:solidFill>
              <a:srgbClr val="232D3D"/>
            </a:solidFill>
            <a:prstDash val="solid"/>
          </a:ln>
        </p:spPr>
      </p:sp>
      <p:sp>
        <p:nvSpPr>
          <p:cNvPr id="5" name="Text 3"/>
          <p:cNvSpPr/>
          <p:nvPr/>
        </p:nvSpPr>
        <p:spPr>
          <a:xfrm>
            <a:off x="749808" y="1645920"/>
            <a:ext cx="5212080" cy="310896"/>
          </a:xfrm>
          <a:prstGeom prst="rect">
            <a:avLst/>
          </a:prstGeom>
          <a:noFill/>
          <a:ln/>
        </p:spPr>
        <p:txBody>
          <a:bodyPr wrap="square" lIns="0" tIns="0" rIns="0" bIns="0" rtlCol="0" anchor="ctr"/>
          <a:lstStyle/>
          <a:p>
            <a:pPr indent="0" marL="0">
              <a:buNone/>
            </a:pPr>
            <a:r>
              <a:rPr lang="en-US" sz="1400" b="1" dirty="0">
                <a:solidFill>
                  <a:srgbClr val="56D6E8"/>
                </a:solidFill>
                <a:latin typeface="Arial" pitchFamily="34" charset="0"/>
                <a:ea typeface="Arial" pitchFamily="34" charset="-122"/>
                <a:cs typeface="Arial" pitchFamily="34" charset="-120"/>
              </a:rPr>
              <a:t>Three verbs, one resolved span</a:t>
            </a:r>
            <a:endParaRPr lang="en-US" sz="1400" dirty="0"/>
          </a:p>
        </p:txBody>
      </p:sp>
      <p:sp>
        <p:nvSpPr>
          <p:cNvPr id="6" name="Text 4"/>
          <p:cNvSpPr/>
          <p:nvPr/>
        </p:nvSpPr>
        <p:spPr>
          <a:xfrm>
            <a:off x="749808" y="1993392"/>
            <a:ext cx="5212080" cy="1005840"/>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--replace-symbol-body=TARGET
--insert-before-symbol=TARGET
--insert-after-symbol=TARGET
</a:t>
            </a:r>
            <a:pPr indent="0" marL="0">
              <a:buNone/>
            </a:pPr>
            <a:r>
              <a:rPr lang="en-US" sz="1150" dirty="0">
                <a:solidFill>
                  <a:srgbClr val="8B95A5"/>
                </a:solidFill>
                <a:latin typeface="Courier New" pitchFamily="34" charset="0"/>
                <a:ea typeface="Courier New" pitchFamily="34" charset="-122"/>
                <a:cs typeface="Courier New" pitchFamily="34" charset="-120"/>
              </a:rPr>
              <a:t>  --edit-payload=FILE|-</a:t>
            </a:r>
            <a:endParaRPr lang="en-US" sz="1150" dirty="0"/>
          </a:p>
        </p:txBody>
      </p:sp>
      <p:sp>
        <p:nvSpPr>
          <p:cNvPr id="7" name="Text 5"/>
          <p:cNvSpPr/>
          <p:nvPr/>
        </p:nvSpPr>
        <p:spPr>
          <a:xfrm>
            <a:off x="749808" y="2962656"/>
            <a:ext cx="5212080" cy="713232"/>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TARGET is a name, an @FILE:LINE seed — paste the location out of a diff hunk or a compiler error and it binds the innermost enclosing definition — or a freshness-pinned handle from --grep --handles. No line numbers to keep in your head, and no whole-file rewrite.</a:t>
            </a:r>
            <a:endParaRPr lang="en-US" sz="1050" dirty="0"/>
          </a:p>
        </p:txBody>
      </p:sp>
      <p:sp>
        <p:nvSpPr>
          <p:cNvPr id="8" name="Shape 6"/>
          <p:cNvSpPr/>
          <p:nvPr/>
        </p:nvSpPr>
        <p:spPr>
          <a:xfrm>
            <a:off x="6400800" y="1536192"/>
            <a:ext cx="5138928" cy="2212848"/>
          </a:xfrm>
          <a:prstGeom prst="roundRect">
            <a:avLst>
              <a:gd name="adj" fmla="val 3719"/>
            </a:avLst>
          </a:prstGeom>
          <a:solidFill>
            <a:srgbClr val="1B2432"/>
          </a:solidFill>
          <a:ln w="9525">
            <a:solidFill>
              <a:srgbClr val="232D3D"/>
            </a:solidFill>
            <a:prstDash val="solid"/>
          </a:ln>
        </p:spPr>
      </p:sp>
      <p:sp>
        <p:nvSpPr>
          <p:cNvPr id="9" name="Text 7"/>
          <p:cNvSpPr/>
          <p:nvPr/>
        </p:nvSpPr>
        <p:spPr>
          <a:xfrm>
            <a:off x="6583680" y="1645920"/>
            <a:ext cx="4773168" cy="310896"/>
          </a:xfrm>
          <a:prstGeom prst="rect">
            <a:avLst/>
          </a:prstGeom>
          <a:noFill/>
          <a:ln/>
        </p:spPr>
        <p:txBody>
          <a:bodyPr wrap="square" lIns="0" tIns="0" rIns="0" bIns="0" rtlCol="0" anchor="ctr"/>
          <a:lstStyle/>
          <a:p>
            <a:pPr indent="0" marL="0">
              <a:buNone/>
            </a:pPr>
            <a:r>
              <a:rPr lang="en-US" sz="1400" b="1" dirty="0">
                <a:solidFill>
                  <a:srgbClr val="F2B84B"/>
                </a:solidFill>
                <a:latin typeface="Arial" pitchFamily="34" charset="0"/>
                <a:ea typeface="Arial" pitchFamily="34" charset="-122"/>
                <a:cs typeface="Arial" pitchFamily="34" charset="-120"/>
              </a:rPr>
              <a:t>The refusals are the feature</a:t>
            </a:r>
            <a:endParaRPr lang="en-US" sz="1400" dirty="0"/>
          </a:p>
        </p:txBody>
      </p:sp>
      <p:sp>
        <p:nvSpPr>
          <p:cNvPr id="10" name="Text 8"/>
          <p:cNvSpPr/>
          <p:nvPr/>
        </p:nvSpPr>
        <p:spPr>
          <a:xfrm>
            <a:off x="6583680" y="1993392"/>
            <a:ext cx="4773168" cy="168249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Freshness hash, lock, a re-check immediately before the rename, fsync, mode preserved, atomic rename. A target that resolves to more than one definition refuses. An empty payload refuses rather than being read as a deletion. Every refusal leaves the file byte-identical, and every success prints a JSON receipt whose span is the POST-EDIT byte range — where the payload now sits, not where it was aimed.</a:t>
            </a:r>
            <a:endParaRPr lang="en-US" sz="1050" dirty="0"/>
          </a:p>
        </p:txBody>
      </p:sp>
      <p:sp>
        <p:nvSpPr>
          <p:cNvPr id="11" name="Shape 9"/>
          <p:cNvSpPr/>
          <p:nvPr/>
        </p:nvSpPr>
        <p:spPr>
          <a:xfrm>
            <a:off x="566928" y="3895344"/>
            <a:ext cx="5577840" cy="1755648"/>
          </a:xfrm>
          <a:prstGeom prst="roundRect">
            <a:avLst>
              <a:gd name="adj" fmla="val 4688"/>
            </a:avLst>
          </a:prstGeom>
          <a:solidFill>
            <a:srgbClr val="161D28"/>
          </a:solidFill>
          <a:ln w="9525">
            <a:solidFill>
              <a:srgbClr val="232D3D"/>
            </a:solidFill>
            <a:prstDash val="solid"/>
          </a:ln>
        </p:spPr>
      </p:sp>
      <p:sp>
        <p:nvSpPr>
          <p:cNvPr id="12" name="Text 10"/>
          <p:cNvSpPr/>
          <p:nvPr/>
        </p:nvSpPr>
        <p:spPr>
          <a:xfrm>
            <a:off x="749808" y="4005072"/>
            <a:ext cx="5212080" cy="310896"/>
          </a:xfrm>
          <a:prstGeom prst="rect">
            <a:avLst/>
          </a:prstGeom>
          <a:noFill/>
          <a:ln/>
        </p:spPr>
        <p:txBody>
          <a:bodyPr wrap="square" lIns="0" tIns="0" rIns="0" bIns="0" rtlCol="0" anchor="ctr"/>
          <a:lstStyle/>
          <a:p>
            <a:pPr indent="0" marL="0">
              <a:buNone/>
            </a:pPr>
            <a:r>
              <a:rPr lang="en-US" sz="1400" b="1" dirty="0">
                <a:solidFill>
                  <a:srgbClr val="4AC26B"/>
                </a:solidFill>
                <a:latin typeface="Arial" pitchFamily="34" charset="0"/>
                <a:ea typeface="Arial" pitchFamily="34" charset="-122"/>
                <a:cs typeface="Arial" pitchFamily="34" charset="-120"/>
              </a:rPr>
              <a:t>Preview the bytes before they exist</a:t>
            </a:r>
            <a:endParaRPr lang="en-US" sz="1400" dirty="0"/>
          </a:p>
        </p:txBody>
      </p:sp>
      <p:sp>
        <p:nvSpPr>
          <p:cNvPr id="13" name="Text 11"/>
          <p:cNvSpPr/>
          <p:nvPr/>
        </p:nvSpPr>
        <p:spPr>
          <a:xfrm>
            <a:off x="749808" y="4352544"/>
            <a:ext cx="5212080" cy="11887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--edit-check=SYM --edit-payload=- --dry-run splices the payload over the span IN MEMORY, re-parses that one file, rebuilds the call graph over the re-derived tree, and answers the contract question about bytes nobody has written: did the signature change, and which callers does it break? Preview, then apply — no Read of the file in between.</a:t>
            </a:r>
            <a:endParaRPr lang="en-US" sz="1050" dirty="0"/>
          </a:p>
        </p:txBody>
      </p:sp>
      <p:sp>
        <p:nvSpPr>
          <p:cNvPr id="14" name="Shape 12"/>
          <p:cNvSpPr/>
          <p:nvPr/>
        </p:nvSpPr>
        <p:spPr>
          <a:xfrm>
            <a:off x="6400800" y="3895344"/>
            <a:ext cx="5138928" cy="1755648"/>
          </a:xfrm>
          <a:prstGeom prst="roundRect">
            <a:avLst>
              <a:gd name="adj" fmla="val 4688"/>
            </a:avLst>
          </a:prstGeom>
          <a:solidFill>
            <a:srgbClr val="161D28"/>
          </a:solidFill>
          <a:ln w="9525">
            <a:solidFill>
              <a:srgbClr val="232D3D"/>
            </a:solidFill>
            <a:prstDash val="solid"/>
          </a:ln>
        </p:spPr>
      </p:sp>
      <p:sp>
        <p:nvSpPr>
          <p:cNvPr id="15" name="Text 13"/>
          <p:cNvSpPr/>
          <p:nvPr/>
        </p:nvSpPr>
        <p:spPr>
          <a:xfrm>
            <a:off x="6583680" y="4005072"/>
            <a:ext cx="4773168" cy="310896"/>
          </a:xfrm>
          <a:prstGeom prst="rect">
            <a:avLst/>
          </a:prstGeom>
          <a:noFill/>
          <a:ln/>
        </p:spPr>
        <p:txBody>
          <a:bodyPr wrap="square" lIns="0" tIns="0" rIns="0" bIns="0" rtlCol="0" anchor="ctr"/>
          <a:lstStyle/>
          <a:p>
            <a:pPr indent="0" marL="0">
              <a:buNone/>
            </a:pPr>
            <a:r>
              <a:rPr lang="en-US" sz="1400" b="1" dirty="0">
                <a:solidFill>
                  <a:srgbClr val="56D6E8"/>
                </a:solidFill>
                <a:latin typeface="Arial" pitchFamily="34" charset="0"/>
                <a:ea typeface="Arial" pitchFamily="34" charset="-122"/>
                <a:cs typeface="Arial" pitchFamily="34" charset="-120"/>
              </a:rPr>
              <a:t>Several edits, one transaction</a:t>
            </a:r>
            <a:endParaRPr lang="en-US" sz="1400" dirty="0"/>
          </a:p>
        </p:txBody>
      </p:sp>
      <p:sp>
        <p:nvSpPr>
          <p:cNvPr id="16" name="Text 14"/>
          <p:cNvSpPr/>
          <p:nvPr/>
        </p:nvSpPr>
        <p:spPr>
          <a:xfrm>
            <a:off x="6583680" y="4352544"/>
            <a:ext cx="4773168" cy="11887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--edit-plan=FILE is a versioned JSON multi-edit plan and its mode is EXPLICIT: exactly one of --dry-run or --apply, and neither is not a default. Every target, payload and span is preflighted before any write; overlapping edits refuse; payload paths are confined to the plan's own directory, so an absolute path or a '..' escape refuses and names what it resolved to.</a:t>
            </a:r>
            <a:endParaRPr lang="en-US" sz="1050" dirty="0"/>
          </a:p>
        </p:txBody>
      </p:sp>
      <p:sp>
        <p:nvSpPr>
          <p:cNvPr id="17" name="Shape 15"/>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18" name="Text 16"/>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Same engine on both seats: </a:t>
            </a:r>
            <a:pPr indent="0" marL="0">
              <a:buNone/>
            </a:pPr>
            <a:r>
              <a:rPr lang="en-US" sz="1100" dirty="0">
                <a:solidFill>
                  <a:srgbClr val="8B95A5"/>
                </a:solidFill>
                <a:latin typeface="Arial" pitchFamily="34" charset="0"/>
                <a:ea typeface="Arial" pitchFamily="34" charset="-122"/>
                <a:cs typeface="Arial" pitchFamily="34" charset="-120"/>
              </a:rPr>
              <a:t>the three MCP edit verbs are these three flags, and the navigation the deck has no room for is the same story — --graph-query, --whereis, --stray-content, --at, --arch, --owners, --export, --help-task all sit in docs/COMMANDS.md with a recorded invocation and its output.</a:t>
            </a:r>
            <a:endParaRPr lang="en-US" sz="1100" dirty="0"/>
          </a:p>
        </p:txBody>
      </p:sp>
      <p:sp>
        <p:nvSpPr>
          <p:cNvPr id="19" name="Text 17"/>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claim on this slide is stated by `ripwire --help` and captured in docs/COMMANDS.md — test/deckcheck.sh proves each flag named here exists in the shipped binary</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standing on giants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research inside — classic and current</a:t>
            </a:r>
            <a:endParaRPr lang="en-US" sz="3400" dirty="0"/>
          </a:p>
        </p:txBody>
      </p:sp>
      <p:sp>
        <p:nvSpPr>
          <p:cNvPr id="4" name="Text 2"/>
          <p:cNvSpPr/>
          <p:nvPr/>
        </p:nvSpPr>
        <p:spPr>
          <a:xfrm>
            <a:off x="566928" y="1444752"/>
            <a:ext cx="10972800"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49 repositories + 70 papers folded</a:t>
            </a:r>
            <a:pPr indent="0" marL="0">
              <a:buNone/>
            </a:pPr>
            <a:r>
              <a:rPr lang="en-US" sz="1300" dirty="0">
                <a:solidFill>
                  <a:srgbClr val="8B95A5"/>
                </a:solidFill>
                <a:latin typeface="Arial" pitchFamily="34" charset="0"/>
                <a:ea typeface="Arial" pitchFamily="34" charset="-122"/>
                <a:cs typeface="Arial" pitchFamily="34" charset="-120"/>
              </a:rPr>
              <a:t>  ·  and a labelled survey of 237 tools that contributed nothing, which says so — every row with the lesson taken and where it lives: docs/LINEAGE.md</a:t>
            </a:r>
            <a:endParaRPr lang="en-US" sz="1300" dirty="0"/>
          </a:p>
        </p:txBody>
      </p:sp>
      <p:sp>
        <p:nvSpPr>
          <p:cNvPr id="5" name="Shape 3"/>
          <p:cNvSpPr/>
          <p:nvPr/>
        </p:nvSpPr>
        <p:spPr>
          <a:xfrm>
            <a:off x="566928" y="1874520"/>
            <a:ext cx="5577840" cy="566928"/>
          </a:xfrm>
          <a:prstGeom prst="roundRect">
            <a:avLst>
              <a:gd name="adj" fmla="val 14516"/>
            </a:avLst>
          </a:prstGeom>
          <a:solidFill>
            <a:srgbClr val="161D28"/>
          </a:solidFill>
          <a:ln w="9525">
            <a:solidFill>
              <a:srgbClr val="232D3D"/>
            </a:solidFill>
            <a:prstDash val="solid"/>
          </a:ln>
        </p:spPr>
      </p:sp>
      <p:sp>
        <p:nvSpPr>
          <p:cNvPr id="6" name="Text 4"/>
          <p:cNvSpPr/>
          <p:nvPr/>
        </p:nvSpPr>
        <p:spPr>
          <a:xfrm>
            <a:off x="713232" y="191109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1976</a:t>
            </a:r>
            <a:endParaRPr lang="en-US" sz="1200" dirty="0"/>
          </a:p>
        </p:txBody>
      </p:sp>
      <p:sp>
        <p:nvSpPr>
          <p:cNvPr id="7" name="Text 5"/>
          <p:cNvSpPr/>
          <p:nvPr/>
        </p:nvSpPr>
        <p:spPr>
          <a:xfrm>
            <a:off x="1481328" y="191109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Cyclomatic complexity — McCabe
</a:t>
            </a:r>
            <a:pPr indent="0" marL="0">
              <a:buNone/>
            </a:pPr>
            <a:r>
              <a:rPr lang="en-US" sz="950" dirty="0">
                <a:solidFill>
                  <a:srgbClr val="8B95A5"/>
                </a:solidFill>
                <a:latin typeface="Arial" pitchFamily="34" charset="0"/>
                <a:ea typeface="Arial" pitchFamily="34" charset="-122"/>
                <a:cs typeface="Arial" pitchFamily="34" charset="-120"/>
              </a:rPr>
              <a:t>the metric behind --hotspots</a:t>
            </a:r>
            <a:endParaRPr lang="en-US" sz="1100" dirty="0"/>
          </a:p>
        </p:txBody>
      </p:sp>
      <p:sp>
        <p:nvSpPr>
          <p:cNvPr id="8" name="Shape 6"/>
          <p:cNvSpPr/>
          <p:nvPr/>
        </p:nvSpPr>
        <p:spPr>
          <a:xfrm>
            <a:off x="566928" y="2514600"/>
            <a:ext cx="5577840" cy="566928"/>
          </a:xfrm>
          <a:prstGeom prst="roundRect">
            <a:avLst>
              <a:gd name="adj" fmla="val 14516"/>
            </a:avLst>
          </a:prstGeom>
          <a:solidFill>
            <a:srgbClr val="161D28"/>
          </a:solidFill>
          <a:ln w="9525">
            <a:solidFill>
              <a:srgbClr val="232D3D"/>
            </a:solidFill>
            <a:prstDash val="solid"/>
          </a:ln>
        </p:spPr>
      </p:sp>
      <p:sp>
        <p:nvSpPr>
          <p:cNvPr id="9" name="Text 7"/>
          <p:cNvSpPr/>
          <p:nvPr/>
        </p:nvSpPr>
        <p:spPr>
          <a:xfrm>
            <a:off x="713232" y="255117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1994</a:t>
            </a:r>
            <a:endParaRPr lang="en-US" sz="1200" dirty="0"/>
          </a:p>
        </p:txBody>
      </p:sp>
      <p:sp>
        <p:nvSpPr>
          <p:cNvPr id="10" name="Text 8"/>
          <p:cNvSpPr/>
          <p:nvPr/>
        </p:nvSpPr>
        <p:spPr>
          <a:xfrm>
            <a:off x="1481328" y="255117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Okapi BM25 — Robertson · Spärck Jones
</a:t>
            </a:r>
            <a:pPr indent="0" marL="0">
              <a:buNone/>
            </a:pPr>
            <a:r>
              <a:rPr lang="en-US" sz="950" dirty="0">
                <a:solidFill>
                  <a:srgbClr val="8B95A5"/>
                </a:solidFill>
                <a:latin typeface="Arial" pitchFamily="34" charset="0"/>
                <a:ea typeface="Arial" pitchFamily="34" charset="-122"/>
                <a:cs typeface="Arial" pitchFamily="34" charset="-120"/>
              </a:rPr>
              <a:t>the lexical ranker (twice: subtoken+body, whole-name)</a:t>
            </a:r>
            <a:endParaRPr lang="en-US" sz="1100" dirty="0"/>
          </a:p>
        </p:txBody>
      </p:sp>
      <p:sp>
        <p:nvSpPr>
          <p:cNvPr id="11" name="Shape 9"/>
          <p:cNvSpPr/>
          <p:nvPr/>
        </p:nvSpPr>
        <p:spPr>
          <a:xfrm>
            <a:off x="566928" y="3154680"/>
            <a:ext cx="5577840" cy="566928"/>
          </a:xfrm>
          <a:prstGeom prst="roundRect">
            <a:avLst>
              <a:gd name="adj" fmla="val 14516"/>
            </a:avLst>
          </a:prstGeom>
          <a:solidFill>
            <a:srgbClr val="161D28"/>
          </a:solidFill>
          <a:ln w="9525">
            <a:solidFill>
              <a:srgbClr val="232D3D"/>
            </a:solidFill>
            <a:prstDash val="solid"/>
          </a:ln>
        </p:spPr>
      </p:sp>
      <p:sp>
        <p:nvSpPr>
          <p:cNvPr id="12" name="Text 10"/>
          <p:cNvSpPr/>
          <p:nvPr/>
        </p:nvSpPr>
        <p:spPr>
          <a:xfrm>
            <a:off x="713232" y="319125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1998</a:t>
            </a:r>
            <a:endParaRPr lang="en-US" sz="1200" dirty="0"/>
          </a:p>
        </p:txBody>
      </p:sp>
      <p:sp>
        <p:nvSpPr>
          <p:cNvPr id="13" name="Text 11"/>
          <p:cNvSpPr/>
          <p:nvPr/>
        </p:nvSpPr>
        <p:spPr>
          <a:xfrm>
            <a:off x="1481328" y="319125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Personalized PageRank — Page · Brin
</a:t>
            </a:r>
            <a:pPr indent="0" marL="0">
              <a:buNone/>
            </a:pPr>
            <a:r>
              <a:rPr lang="en-US" sz="950" dirty="0">
                <a:solidFill>
                  <a:srgbClr val="8B95A5"/>
                </a:solidFill>
                <a:latin typeface="Arial" pitchFamily="34" charset="0"/>
                <a:ea typeface="Arial" pitchFamily="34" charset="-122"/>
                <a:cs typeface="Arial" pitchFamily="34" charset="-120"/>
              </a:rPr>
              <a:t>the headline importance signal</a:t>
            </a:r>
            <a:endParaRPr lang="en-US" sz="1100" dirty="0"/>
          </a:p>
        </p:txBody>
      </p:sp>
      <p:sp>
        <p:nvSpPr>
          <p:cNvPr id="14" name="Shape 12"/>
          <p:cNvSpPr/>
          <p:nvPr/>
        </p:nvSpPr>
        <p:spPr>
          <a:xfrm>
            <a:off x="566928" y="3794760"/>
            <a:ext cx="5577840" cy="566928"/>
          </a:xfrm>
          <a:prstGeom prst="roundRect">
            <a:avLst>
              <a:gd name="adj" fmla="val 14516"/>
            </a:avLst>
          </a:prstGeom>
          <a:solidFill>
            <a:srgbClr val="161D28"/>
          </a:solidFill>
          <a:ln w="9525">
            <a:solidFill>
              <a:srgbClr val="232D3D"/>
            </a:solidFill>
            <a:prstDash val="solid"/>
          </a:ln>
        </p:spPr>
      </p:sp>
      <p:sp>
        <p:nvSpPr>
          <p:cNvPr id="15" name="Text 13"/>
          <p:cNvSpPr/>
          <p:nvPr/>
        </p:nvSpPr>
        <p:spPr>
          <a:xfrm>
            <a:off x="713232" y="383133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2008</a:t>
            </a:r>
            <a:endParaRPr lang="en-US" sz="1200" dirty="0"/>
          </a:p>
        </p:txBody>
      </p:sp>
      <p:sp>
        <p:nvSpPr>
          <p:cNvPr id="16" name="Text 14"/>
          <p:cNvSpPr/>
          <p:nvPr/>
        </p:nvSpPr>
        <p:spPr>
          <a:xfrm>
            <a:off x="1481328" y="383133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Louvain modularity — Blondel et al.
</a:t>
            </a:r>
            <a:pPr indent="0" marL="0">
              <a:buNone/>
            </a:pPr>
            <a:r>
              <a:rPr lang="en-US" sz="950" dirty="0">
                <a:solidFill>
                  <a:srgbClr val="8B95A5"/>
                </a:solidFill>
                <a:latin typeface="Arial" pitchFamily="34" charset="0"/>
                <a:ea typeface="Arial" pitchFamily="34" charset="-122"/>
                <a:cs typeface="Arial" pitchFamily="34" charset="-120"/>
              </a:rPr>
              <a:t>the module / community map</a:t>
            </a:r>
            <a:endParaRPr lang="en-US" sz="1100" dirty="0"/>
          </a:p>
        </p:txBody>
      </p:sp>
      <p:sp>
        <p:nvSpPr>
          <p:cNvPr id="17" name="Shape 15"/>
          <p:cNvSpPr/>
          <p:nvPr/>
        </p:nvSpPr>
        <p:spPr>
          <a:xfrm>
            <a:off x="566928" y="4434840"/>
            <a:ext cx="5577840" cy="566928"/>
          </a:xfrm>
          <a:prstGeom prst="roundRect">
            <a:avLst>
              <a:gd name="adj" fmla="val 14516"/>
            </a:avLst>
          </a:prstGeom>
          <a:solidFill>
            <a:srgbClr val="161D28"/>
          </a:solidFill>
          <a:ln w="9525">
            <a:solidFill>
              <a:srgbClr val="232D3D"/>
            </a:solidFill>
            <a:prstDash val="solid"/>
          </a:ln>
        </p:spPr>
      </p:sp>
      <p:sp>
        <p:nvSpPr>
          <p:cNvPr id="18" name="Text 16"/>
          <p:cNvSpPr/>
          <p:nvPr/>
        </p:nvSpPr>
        <p:spPr>
          <a:xfrm>
            <a:off x="713232" y="447141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2009</a:t>
            </a:r>
            <a:endParaRPr lang="en-US" sz="1200" dirty="0"/>
          </a:p>
        </p:txBody>
      </p:sp>
      <p:sp>
        <p:nvSpPr>
          <p:cNvPr id="19" name="Text 17"/>
          <p:cNvSpPr/>
          <p:nvPr/>
        </p:nvSpPr>
        <p:spPr>
          <a:xfrm>
            <a:off x="1481328" y="447141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Reciprocal Rank Fusion — Cormack et al.
</a:t>
            </a:r>
            <a:pPr indent="0" marL="0">
              <a:buNone/>
            </a:pPr>
            <a:r>
              <a:rPr lang="en-US" sz="950" dirty="0">
                <a:solidFill>
                  <a:srgbClr val="8B95A5"/>
                </a:solidFill>
                <a:latin typeface="Arial" pitchFamily="34" charset="0"/>
                <a:ea typeface="Arial" pitchFamily="34" charset="-122"/>
                <a:cs typeface="Arial" pitchFamily="34" charset="-120"/>
              </a:rPr>
              <a:t>deterministic signal fusion (--rank-by=rrf)</a:t>
            </a:r>
            <a:endParaRPr lang="en-US" sz="1100" dirty="0"/>
          </a:p>
        </p:txBody>
      </p:sp>
      <p:sp>
        <p:nvSpPr>
          <p:cNvPr id="20" name="Shape 18"/>
          <p:cNvSpPr/>
          <p:nvPr/>
        </p:nvSpPr>
        <p:spPr>
          <a:xfrm>
            <a:off x="566928" y="5074920"/>
            <a:ext cx="5577840" cy="566928"/>
          </a:xfrm>
          <a:prstGeom prst="roundRect">
            <a:avLst>
              <a:gd name="adj" fmla="val 14516"/>
            </a:avLst>
          </a:prstGeom>
          <a:solidFill>
            <a:srgbClr val="161D28"/>
          </a:solidFill>
          <a:ln w="9525">
            <a:solidFill>
              <a:srgbClr val="232D3D"/>
            </a:solidFill>
            <a:prstDash val="solid"/>
          </a:ln>
        </p:spPr>
      </p:sp>
      <p:sp>
        <p:nvSpPr>
          <p:cNvPr id="21" name="Text 19"/>
          <p:cNvSpPr/>
          <p:nvPr/>
        </p:nvSpPr>
        <p:spPr>
          <a:xfrm>
            <a:off x="713232" y="511149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2011</a:t>
            </a:r>
            <a:endParaRPr lang="en-US" sz="1200" dirty="0"/>
          </a:p>
        </p:txBody>
      </p:sp>
      <p:sp>
        <p:nvSpPr>
          <p:cNvPr id="22" name="Text 20"/>
          <p:cNvSpPr/>
          <p:nvPr/>
        </p:nvSpPr>
        <p:spPr>
          <a:xfrm>
            <a:off x="1481328" y="511149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Readability model — Posnett · Hindle · Devanbu
</a:t>
            </a:r>
            <a:pPr indent="0" marL="0">
              <a:buNone/>
            </a:pPr>
            <a:r>
              <a:rPr lang="en-US" sz="950" dirty="0">
                <a:solidFill>
                  <a:srgbClr val="8B95A5"/>
                </a:solidFill>
                <a:latin typeface="Arial" pitchFamily="34" charset="0"/>
                <a:ea typeface="Arial" pitchFamily="34" charset="-122"/>
                <a:cs typeface="Arial" pitchFamily="34" charset="-120"/>
              </a:rPr>
              <a:t>the lexical family of the quality panel</a:t>
            </a:r>
            <a:endParaRPr lang="en-US" sz="1100" dirty="0"/>
          </a:p>
        </p:txBody>
      </p:sp>
      <p:sp>
        <p:nvSpPr>
          <p:cNvPr id="23" name="Shape 21"/>
          <p:cNvSpPr/>
          <p:nvPr/>
        </p:nvSpPr>
        <p:spPr>
          <a:xfrm>
            <a:off x="566928" y="5715000"/>
            <a:ext cx="5577840" cy="566928"/>
          </a:xfrm>
          <a:prstGeom prst="roundRect">
            <a:avLst>
              <a:gd name="adj" fmla="val 14516"/>
            </a:avLst>
          </a:prstGeom>
          <a:solidFill>
            <a:srgbClr val="161D28"/>
          </a:solidFill>
          <a:ln w="9525">
            <a:solidFill>
              <a:srgbClr val="232D3D"/>
            </a:solidFill>
            <a:prstDash val="solid"/>
          </a:ln>
        </p:spPr>
      </p:sp>
      <p:sp>
        <p:nvSpPr>
          <p:cNvPr id="24" name="Text 22"/>
          <p:cNvSpPr/>
          <p:nvPr/>
        </p:nvSpPr>
        <p:spPr>
          <a:xfrm>
            <a:off x="713232" y="575157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2019</a:t>
            </a:r>
            <a:endParaRPr lang="en-US" sz="1200" dirty="0"/>
          </a:p>
        </p:txBody>
      </p:sp>
      <p:sp>
        <p:nvSpPr>
          <p:cNvPr id="25" name="Text 23"/>
          <p:cNvSpPr/>
          <p:nvPr/>
        </p:nvSpPr>
        <p:spPr>
          <a:xfrm>
            <a:off x="1481328" y="575157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Delta Maintainability Model — di Biase et al.
</a:t>
            </a:r>
            <a:pPr indent="0" marL="0">
              <a:buNone/>
            </a:pPr>
            <a:r>
              <a:rPr lang="en-US" sz="950" dirty="0">
                <a:solidFill>
                  <a:srgbClr val="8B95A5"/>
                </a:solidFill>
                <a:latin typeface="Arial" pitchFamily="34" charset="0"/>
                <a:ea typeface="Arial" pitchFamily="34" charset="-122"/>
                <a:cs typeface="Arial" pitchFamily="34" charset="-120"/>
              </a:rPr>
              <a:t>--dmm: one comparable number per change</a:t>
            </a:r>
            <a:endParaRPr lang="en-US" sz="1100" dirty="0"/>
          </a:p>
        </p:txBody>
      </p:sp>
      <p:sp>
        <p:nvSpPr>
          <p:cNvPr id="26" name="Shape 24"/>
          <p:cNvSpPr/>
          <p:nvPr/>
        </p:nvSpPr>
        <p:spPr>
          <a:xfrm>
            <a:off x="6400800" y="1874520"/>
            <a:ext cx="5120640" cy="822960"/>
          </a:xfrm>
          <a:prstGeom prst="roundRect">
            <a:avLst>
              <a:gd name="adj" fmla="val 10000"/>
            </a:avLst>
          </a:prstGeom>
          <a:solidFill>
            <a:srgbClr val="1B2432"/>
          </a:solidFill>
          <a:ln w="9525">
            <a:solidFill>
              <a:srgbClr val="232D3D"/>
            </a:solidFill>
            <a:prstDash val="solid"/>
          </a:ln>
        </p:spPr>
      </p:sp>
      <p:sp>
        <p:nvSpPr>
          <p:cNvPr id="27" name="Text 25"/>
          <p:cNvSpPr/>
          <p:nvPr/>
        </p:nvSpPr>
        <p:spPr>
          <a:xfrm>
            <a:off x="6583680" y="1929384"/>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TDAD · arXiv 2603.17973</a:t>
            </a:r>
            <a:endParaRPr lang="en-US" sz="1100" dirty="0"/>
          </a:p>
        </p:txBody>
      </p:sp>
      <p:sp>
        <p:nvSpPr>
          <p:cNvPr id="28" name="Text 26"/>
          <p:cNvSpPr/>
          <p:nvPr/>
        </p:nvSpPr>
        <p:spPr>
          <a:xfrm>
            <a:off x="6583680" y="2203704"/>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static test-map cut agent-caused regressions 6.08% → 1.82%; prose TDD instructions alone made agents WORSE → the shape of --test-gate</a:t>
            </a:r>
            <a:endParaRPr lang="en-US" sz="950" dirty="0"/>
          </a:p>
        </p:txBody>
      </p:sp>
      <p:sp>
        <p:nvSpPr>
          <p:cNvPr id="29" name="Shape 27"/>
          <p:cNvSpPr/>
          <p:nvPr/>
        </p:nvSpPr>
        <p:spPr>
          <a:xfrm>
            <a:off x="6400800" y="2761488"/>
            <a:ext cx="5120640" cy="822960"/>
          </a:xfrm>
          <a:prstGeom prst="roundRect">
            <a:avLst>
              <a:gd name="adj" fmla="val 10000"/>
            </a:avLst>
          </a:prstGeom>
          <a:solidFill>
            <a:srgbClr val="1B2432"/>
          </a:solidFill>
          <a:ln w="9525">
            <a:solidFill>
              <a:srgbClr val="232D3D"/>
            </a:solidFill>
            <a:prstDash val="solid"/>
          </a:ln>
        </p:spPr>
      </p:sp>
      <p:sp>
        <p:nvSpPr>
          <p:cNvPr id="30" name="Text 28"/>
          <p:cNvSpPr/>
          <p:nvPr/>
        </p:nvSpPr>
        <p:spPr>
          <a:xfrm>
            <a:off x="6583680" y="2816352"/>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What-to-Retrieve · arXiv 2503.20589</a:t>
            </a:r>
            <a:endParaRPr lang="en-US" sz="1100" dirty="0"/>
          </a:p>
        </p:txBody>
      </p:sp>
      <p:sp>
        <p:nvSpPr>
          <p:cNvPr id="31" name="Text 29"/>
          <p:cNvSpPr/>
          <p:nvPr/>
        </p:nvSpPr>
        <p:spPr>
          <a:xfrm>
            <a:off x="6583680" y="3090672"/>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retrieval selection beats retrieval volume for coding agents → the selection-over-dumping thesis</a:t>
            </a:r>
            <a:endParaRPr lang="en-US" sz="950" dirty="0"/>
          </a:p>
        </p:txBody>
      </p:sp>
      <p:sp>
        <p:nvSpPr>
          <p:cNvPr id="32" name="Shape 30"/>
          <p:cNvSpPr/>
          <p:nvPr/>
        </p:nvSpPr>
        <p:spPr>
          <a:xfrm>
            <a:off x="6400800" y="3648456"/>
            <a:ext cx="5120640" cy="822960"/>
          </a:xfrm>
          <a:prstGeom prst="roundRect">
            <a:avLst>
              <a:gd name="adj" fmla="val 10000"/>
            </a:avLst>
          </a:prstGeom>
          <a:solidFill>
            <a:srgbClr val="1B2432"/>
          </a:solidFill>
          <a:ln w="9525">
            <a:solidFill>
              <a:srgbClr val="232D3D"/>
            </a:solidFill>
            <a:prstDash val="solid"/>
          </a:ln>
        </p:spPr>
      </p:sp>
      <p:sp>
        <p:nvSpPr>
          <p:cNvPr id="33" name="Text 31"/>
          <p:cNvSpPr/>
          <p:nvPr/>
        </p:nvSpPr>
        <p:spPr>
          <a:xfrm>
            <a:off x="6583680" y="3703320"/>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LocAgent / Loc-Bench (2025)</a:t>
            </a:r>
            <a:endParaRPr lang="en-US" sz="1100" dirty="0"/>
          </a:p>
        </p:txBody>
      </p:sp>
      <p:sp>
        <p:nvSpPr>
          <p:cNvPr id="34" name="Text 32"/>
          <p:cNvSpPr/>
          <p:nvPr/>
        </p:nvSpPr>
        <p:spPr>
          <a:xfrm>
            <a:off x="6583680" y="3977640"/>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localization metric (strict Acc@k) and the frozen 560-instance dataset every accuracy number here is scored on</a:t>
            </a:r>
            <a:endParaRPr lang="en-US" sz="950" dirty="0"/>
          </a:p>
        </p:txBody>
      </p:sp>
      <p:sp>
        <p:nvSpPr>
          <p:cNvPr id="35" name="Shape 33"/>
          <p:cNvSpPr/>
          <p:nvPr/>
        </p:nvSpPr>
        <p:spPr>
          <a:xfrm>
            <a:off x="6400800" y="4535424"/>
            <a:ext cx="5120640" cy="822960"/>
          </a:xfrm>
          <a:prstGeom prst="roundRect">
            <a:avLst>
              <a:gd name="adj" fmla="val 10000"/>
            </a:avLst>
          </a:prstGeom>
          <a:solidFill>
            <a:srgbClr val="1B2432"/>
          </a:solidFill>
          <a:ln w="9525">
            <a:solidFill>
              <a:srgbClr val="232D3D"/>
            </a:solidFill>
            <a:prstDash val="solid"/>
          </a:ln>
        </p:spPr>
      </p:sp>
      <p:sp>
        <p:nvSpPr>
          <p:cNvPr id="36" name="Text 34"/>
          <p:cNvSpPr/>
          <p:nvPr/>
        </p:nvSpPr>
        <p:spPr>
          <a:xfrm>
            <a:off x="6583680" y="4590288"/>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scip-clang · Serena / clangd</a:t>
            </a:r>
            <a:endParaRPr lang="en-US" sz="1100" dirty="0"/>
          </a:p>
        </p:txBody>
      </p:sp>
      <p:sp>
        <p:nvSpPr>
          <p:cNvPr id="37" name="Text 35"/>
          <p:cNvSpPr/>
          <p:nvPr/>
        </p:nvSpPr>
        <p:spPr>
          <a:xfrm>
            <a:off x="6583680" y="4864608"/>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compiler-grade oracle round 9 graded both tools against — an outside referee, not a rival</a:t>
            </a:r>
            <a:endParaRPr lang="en-US" sz="950" dirty="0"/>
          </a:p>
        </p:txBody>
      </p:sp>
      <p:sp>
        <p:nvSpPr>
          <p:cNvPr id="38" name="Shape 36"/>
          <p:cNvSpPr/>
          <p:nvPr/>
        </p:nvSpPr>
        <p:spPr>
          <a:xfrm>
            <a:off x="6400800" y="5422392"/>
            <a:ext cx="5120640" cy="822960"/>
          </a:xfrm>
          <a:prstGeom prst="roundRect">
            <a:avLst>
              <a:gd name="adj" fmla="val 10000"/>
            </a:avLst>
          </a:prstGeom>
          <a:solidFill>
            <a:srgbClr val="1B2432"/>
          </a:solidFill>
          <a:ln w="9525">
            <a:solidFill>
              <a:srgbClr val="232D3D"/>
            </a:solidFill>
            <a:prstDash val="solid"/>
          </a:ln>
        </p:spPr>
      </p:sp>
      <p:sp>
        <p:nvSpPr>
          <p:cNvPr id="39" name="Text 37"/>
          <p:cNvSpPr/>
          <p:nvPr/>
        </p:nvSpPr>
        <p:spPr>
          <a:xfrm>
            <a:off x="6583680" y="5477256"/>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tree-sitter</a:t>
            </a:r>
            <a:endParaRPr lang="en-US" sz="1100" dirty="0"/>
          </a:p>
        </p:txBody>
      </p:sp>
      <p:sp>
        <p:nvSpPr>
          <p:cNvPr id="40" name="Text 38"/>
          <p:cNvSpPr/>
          <p:nvPr/>
        </p:nvSpPr>
        <p:spPr>
          <a:xfrm>
            <a:off x="6583680" y="5751576"/>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incremental GLR parsing substrate — 23 grammars vendored, one parser per thread</a:t>
            </a:r>
            <a:endParaRPr lang="en-US" sz="950" dirty="0"/>
          </a:p>
        </p:txBody>
      </p:sp>
      <p:sp>
        <p:nvSpPr>
          <p:cNvPr id="41" name="Text 3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counts gated in-repo: readmedriftcheck arm E derives them from LINEAGE.md's own tables — the lineage is the design rationale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do not take any of it on trust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Every claim, and the command that re-derives it</a:t>
            </a:r>
            <a:endParaRPr lang="en-US" sz="3400" dirty="0"/>
          </a:p>
        </p:txBody>
      </p:sp>
      <p:sp>
        <p:nvSpPr>
          <p:cNvPr id="4" name="Shape 2"/>
          <p:cNvSpPr/>
          <p:nvPr/>
        </p:nvSpPr>
        <p:spPr>
          <a:xfrm>
            <a:off x="566928" y="1554480"/>
            <a:ext cx="11055096" cy="457200"/>
          </a:xfrm>
          <a:prstGeom prst="roundRect">
            <a:avLst>
              <a:gd name="adj" fmla="val 18000"/>
            </a:avLst>
          </a:prstGeom>
          <a:solidFill>
            <a:srgbClr val="161D28"/>
          </a:solidFill>
          <a:ln w="9525">
            <a:solidFill>
              <a:srgbClr val="232D3D"/>
            </a:solidFill>
            <a:prstDash val="solid"/>
          </a:ln>
        </p:spPr>
      </p:sp>
      <p:sp>
        <p:nvSpPr>
          <p:cNvPr id="5" name="Text 3"/>
          <p:cNvSpPr/>
          <p:nvPr/>
        </p:nvSpPr>
        <p:spPr>
          <a:xfrm>
            <a:off x="731520" y="158191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179 long flags · 33 slides</a:t>
            </a:r>
            <a:endParaRPr lang="en-US" sz="1200" dirty="0"/>
          </a:p>
        </p:txBody>
      </p:sp>
      <p:sp>
        <p:nvSpPr>
          <p:cNvPr id="6" name="Text 4"/>
          <p:cNvSpPr/>
          <p:nvPr/>
        </p:nvSpPr>
        <p:spPr>
          <a:xfrm>
            <a:off x="5687568" y="158191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test/deckclaimcheck.sh</a:t>
            </a:r>
            <a:endParaRPr lang="en-US" sz="1150" dirty="0"/>
          </a:p>
        </p:txBody>
      </p:sp>
      <p:sp>
        <p:nvSpPr>
          <p:cNvPr id="7" name="Shape 5"/>
          <p:cNvSpPr/>
          <p:nvPr/>
        </p:nvSpPr>
        <p:spPr>
          <a:xfrm>
            <a:off x="566928" y="2080260"/>
            <a:ext cx="11055096" cy="457200"/>
          </a:xfrm>
          <a:prstGeom prst="roundRect">
            <a:avLst>
              <a:gd name="adj" fmla="val 18000"/>
            </a:avLst>
          </a:prstGeom>
          <a:solidFill>
            <a:srgbClr val="161D28"/>
          </a:solidFill>
          <a:ln w="9525">
            <a:solidFill>
              <a:srgbClr val="232D3D"/>
            </a:solidFill>
            <a:prstDash val="solid"/>
          </a:ln>
        </p:spPr>
      </p:sp>
      <p:sp>
        <p:nvSpPr>
          <p:cNvPr id="8" name="Text 6"/>
          <p:cNvSpPr/>
          <p:nvPr/>
        </p:nvSpPr>
        <p:spPr>
          <a:xfrm>
            <a:off x="731520" y="210769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every --flag named here exists</a:t>
            </a:r>
            <a:endParaRPr lang="en-US" sz="1200" dirty="0"/>
          </a:p>
        </p:txBody>
      </p:sp>
      <p:sp>
        <p:nvSpPr>
          <p:cNvPr id="9" name="Text 7"/>
          <p:cNvSpPr/>
          <p:nvPr/>
        </p:nvSpPr>
        <p:spPr>
          <a:xfrm>
            <a:off x="5687568" y="210769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test/deckcheck.sh</a:t>
            </a:r>
            <a:endParaRPr lang="en-US" sz="1150" dirty="0"/>
          </a:p>
        </p:txBody>
      </p:sp>
      <p:sp>
        <p:nvSpPr>
          <p:cNvPr id="10" name="Shape 8"/>
          <p:cNvSpPr/>
          <p:nvPr/>
        </p:nvSpPr>
        <p:spPr>
          <a:xfrm>
            <a:off x="566928" y="2606040"/>
            <a:ext cx="11055096" cy="457200"/>
          </a:xfrm>
          <a:prstGeom prst="roundRect">
            <a:avLst>
              <a:gd name="adj" fmla="val 18000"/>
            </a:avLst>
          </a:prstGeom>
          <a:solidFill>
            <a:srgbClr val="161D28"/>
          </a:solidFill>
          <a:ln w="9525">
            <a:solidFill>
              <a:srgbClr val="232D3D"/>
            </a:solidFill>
            <a:prstDash val="solid"/>
          </a:ln>
        </p:spPr>
      </p:sp>
      <p:sp>
        <p:nvSpPr>
          <p:cNvPr id="11" name="Text 9"/>
          <p:cNvSpPr/>
          <p:nvPr/>
        </p:nvSpPr>
        <p:spPr>
          <a:xfrm>
            <a:off x="731520" y="263347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74.7% fewer element bytes</a:t>
            </a:r>
            <a:endParaRPr lang="en-US" sz="1200" dirty="0"/>
          </a:p>
        </p:txBody>
      </p:sp>
      <p:sp>
        <p:nvSpPr>
          <p:cNvPr id="12" name="Text 10"/>
          <p:cNvSpPr/>
          <p:nvPr/>
        </p:nvSpPr>
        <p:spPr>
          <a:xfrm>
            <a:off x="5687568" y="263347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test/showcasecapturecheck.sh</a:t>
            </a:r>
            <a:endParaRPr lang="en-US" sz="1150" dirty="0"/>
          </a:p>
        </p:txBody>
      </p:sp>
      <p:sp>
        <p:nvSpPr>
          <p:cNvPr id="13" name="Shape 11"/>
          <p:cNvSpPr/>
          <p:nvPr/>
        </p:nvSpPr>
        <p:spPr>
          <a:xfrm>
            <a:off x="566928" y="3131820"/>
            <a:ext cx="11055096" cy="457200"/>
          </a:xfrm>
          <a:prstGeom prst="roundRect">
            <a:avLst>
              <a:gd name="adj" fmla="val 18000"/>
            </a:avLst>
          </a:prstGeom>
          <a:solidFill>
            <a:srgbClr val="161D28"/>
          </a:solidFill>
          <a:ln w="9525">
            <a:solidFill>
              <a:srgbClr val="232D3D"/>
            </a:solidFill>
            <a:prstDash val="solid"/>
          </a:ln>
        </p:spPr>
      </p:sp>
      <p:sp>
        <p:nvSpPr>
          <p:cNvPr id="14" name="Text 12"/>
          <p:cNvSpPr/>
          <p:nvPr/>
        </p:nvSpPr>
        <p:spPr>
          <a:xfrm>
            <a:off x="731520" y="315925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598 gate scripts</a:t>
            </a:r>
            <a:endParaRPr lang="en-US" sz="1200" dirty="0"/>
          </a:p>
        </p:txBody>
      </p:sp>
      <p:sp>
        <p:nvSpPr>
          <p:cNvPr id="15" name="Text 13"/>
          <p:cNvSpPr/>
          <p:nvPr/>
        </p:nvSpPr>
        <p:spPr>
          <a:xfrm>
            <a:off x="5687568" y="315925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test/manifestcheck.sh</a:t>
            </a:r>
            <a:endParaRPr lang="en-US" sz="1150" dirty="0"/>
          </a:p>
        </p:txBody>
      </p:sp>
      <p:sp>
        <p:nvSpPr>
          <p:cNvPr id="16" name="Shape 14"/>
          <p:cNvSpPr/>
          <p:nvPr/>
        </p:nvSpPr>
        <p:spPr>
          <a:xfrm>
            <a:off x="566928" y="3657600"/>
            <a:ext cx="11055096" cy="457200"/>
          </a:xfrm>
          <a:prstGeom prst="roundRect">
            <a:avLst>
              <a:gd name="adj" fmla="val 18000"/>
            </a:avLst>
          </a:prstGeom>
          <a:solidFill>
            <a:srgbClr val="161D28"/>
          </a:solidFill>
          <a:ln w="9525">
            <a:solidFill>
              <a:srgbClr val="232D3D"/>
            </a:solidFill>
            <a:prstDash val="solid"/>
          </a:ln>
        </p:spPr>
      </p:sp>
      <p:sp>
        <p:nvSpPr>
          <p:cNvPr id="17" name="Text 15"/>
          <p:cNvSpPr/>
          <p:nvPr/>
        </p:nvSpPr>
        <p:spPr>
          <a:xfrm>
            <a:off x="731520" y="368503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49 repos · 70 papers · 237 surveyed</a:t>
            </a:r>
            <a:endParaRPr lang="en-US" sz="1200" dirty="0"/>
          </a:p>
        </p:txBody>
      </p:sp>
      <p:sp>
        <p:nvSpPr>
          <p:cNvPr id="18" name="Text 16"/>
          <p:cNvSpPr/>
          <p:nvPr/>
        </p:nvSpPr>
        <p:spPr>
          <a:xfrm>
            <a:off x="5687568" y="368503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test/readmedriftcheck.sh</a:t>
            </a:r>
            <a:endParaRPr lang="en-US" sz="1150" dirty="0"/>
          </a:p>
        </p:txBody>
      </p:sp>
      <p:sp>
        <p:nvSpPr>
          <p:cNvPr id="19" name="Shape 17"/>
          <p:cNvSpPr/>
          <p:nvPr/>
        </p:nvSpPr>
        <p:spPr>
          <a:xfrm>
            <a:off x="566928" y="4183380"/>
            <a:ext cx="11055096" cy="457200"/>
          </a:xfrm>
          <a:prstGeom prst="roundRect">
            <a:avLst>
              <a:gd name="adj" fmla="val 18000"/>
            </a:avLst>
          </a:prstGeom>
          <a:solidFill>
            <a:srgbClr val="161D28"/>
          </a:solidFill>
          <a:ln w="9525">
            <a:solidFill>
              <a:srgbClr val="232D3D"/>
            </a:solidFill>
            <a:prstDash val="solid"/>
          </a:ln>
        </p:spPr>
      </p:sp>
      <p:sp>
        <p:nvSpPr>
          <p:cNvPr id="20" name="Text 18"/>
          <p:cNvSpPr/>
          <p:nvPr/>
        </p:nvSpPr>
        <p:spPr>
          <a:xfrm>
            <a:off x="731520" y="421081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ten moments, any row</a:t>
            </a:r>
            <a:endParaRPr lang="en-US" sz="1200" dirty="0"/>
          </a:p>
        </p:txBody>
      </p:sp>
      <p:sp>
        <p:nvSpPr>
          <p:cNvPr id="21" name="Text 19"/>
          <p:cNvSpPr/>
          <p:nvPr/>
        </p:nvSpPr>
        <p:spPr>
          <a:xfrm>
            <a:off x="5687568" y="421081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ripwire . --callers=SYM | wc -c</a:t>
            </a:r>
            <a:endParaRPr lang="en-US" sz="1150" dirty="0"/>
          </a:p>
        </p:txBody>
      </p:sp>
      <p:sp>
        <p:nvSpPr>
          <p:cNvPr id="22" name="Shape 20"/>
          <p:cNvSpPr/>
          <p:nvPr/>
        </p:nvSpPr>
        <p:spPr>
          <a:xfrm>
            <a:off x="566928" y="4709160"/>
            <a:ext cx="11055096" cy="457200"/>
          </a:xfrm>
          <a:prstGeom prst="roundRect">
            <a:avLst>
              <a:gd name="adj" fmla="val 18000"/>
            </a:avLst>
          </a:prstGeom>
          <a:solidFill>
            <a:srgbClr val="161D28"/>
          </a:solidFill>
          <a:ln w="9525">
            <a:solidFill>
              <a:srgbClr val="232D3D"/>
            </a:solidFill>
            <a:prstDash val="solid"/>
          </a:ln>
        </p:spPr>
      </p:sp>
      <p:sp>
        <p:nvSpPr>
          <p:cNvPr id="23" name="Text 21"/>
          <p:cNvSpPr/>
          <p:nvPr/>
        </p:nvSpPr>
        <p:spPr>
          <a:xfrm>
            <a:off x="731520" y="473659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head-to-head table</a:t>
            </a:r>
            <a:endParaRPr lang="en-US" sz="1200" dirty="0"/>
          </a:p>
        </p:txBody>
      </p:sp>
      <p:sp>
        <p:nvSpPr>
          <p:cNvPr id="24" name="Text 22"/>
          <p:cNvSpPr/>
          <p:nvPr/>
        </p:nvSpPr>
        <p:spPr>
          <a:xfrm>
            <a:off x="5687568" y="473659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bench/headtohead/r4-2026-08-06/</a:t>
            </a:r>
            <a:endParaRPr lang="en-US" sz="1150" dirty="0"/>
          </a:p>
        </p:txBody>
      </p:sp>
      <p:sp>
        <p:nvSpPr>
          <p:cNvPr id="25" name="Shape 23"/>
          <p:cNvSpPr/>
          <p:nvPr/>
        </p:nvSpPr>
        <p:spPr>
          <a:xfrm>
            <a:off x="566928" y="5234940"/>
            <a:ext cx="11055096" cy="457200"/>
          </a:xfrm>
          <a:prstGeom prst="roundRect">
            <a:avLst>
              <a:gd name="adj" fmla="val 18000"/>
            </a:avLst>
          </a:prstGeom>
          <a:solidFill>
            <a:srgbClr val="161D28"/>
          </a:solidFill>
          <a:ln w="9525">
            <a:solidFill>
              <a:srgbClr val="232D3D"/>
            </a:solidFill>
            <a:prstDash val="solid"/>
          </a:ln>
        </p:spPr>
      </p:sp>
      <p:sp>
        <p:nvSpPr>
          <p:cNvPr id="26" name="Text 24"/>
          <p:cNvSpPr/>
          <p:nvPr/>
        </p:nvSpPr>
        <p:spPr>
          <a:xfrm>
            <a:off x="731520" y="526237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oracle round</a:t>
            </a:r>
            <a:endParaRPr lang="en-US" sz="1200" dirty="0"/>
          </a:p>
        </p:txBody>
      </p:sp>
      <p:sp>
        <p:nvSpPr>
          <p:cNvPr id="27" name="Text 25"/>
          <p:cNvSpPr/>
          <p:nvPr/>
        </p:nvSpPr>
        <p:spPr>
          <a:xfrm>
            <a:off x="5687568" y="526237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bench/headtohead/r9-2026-08-09/RESULTS.md</a:t>
            </a:r>
            <a:endParaRPr lang="en-US" sz="1150" dirty="0"/>
          </a:p>
        </p:txBody>
      </p:sp>
      <p:sp>
        <p:nvSpPr>
          <p:cNvPr id="28" name="Shape 26"/>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29" name="Text 27"/>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The deck is generated, and the generator is gated. </a:t>
            </a:r>
            <a:pPr indent="0" marL="0">
              <a:buNone/>
            </a:pPr>
            <a:r>
              <a:rPr lang="en-US" sz="1100" dirty="0">
                <a:solidFill>
                  <a:srgbClr val="8B95A5"/>
                </a:solidFill>
                <a:latin typeface="Arial" pitchFamily="34" charset="0"/>
                <a:ea typeface="Arial" pitchFamily="34" charset="-122"/>
                <a:cs typeface="Arial" pitchFamily="34" charset="-120"/>
              </a:rPr>
              <a:t>present/deck5_ripwire_build.js is scanned for fabricated flags and its slide count is derived from its own addSlide() calls — a deck that drifts from the binary fails the suite.</a:t>
            </a:r>
            <a:endParaRPr lang="en-US" sz="1100" dirty="0"/>
          </a:p>
        </p:txBody>
      </p:sp>
      <p:sp>
        <p:nvSpPr>
          <p:cNvPr id="30" name="Text 28"/>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is the source of truth; §7 is the counterexamples, §8 the claims this project refuses to make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sixty seconds to the first ranked map</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Quickstart</a:t>
            </a:r>
            <a:endParaRPr lang="en-US" sz="3400" dirty="0"/>
          </a:p>
        </p:txBody>
      </p:sp>
      <p:sp>
        <p:nvSpPr>
          <p:cNvPr id="4" name="Shape 2"/>
          <p:cNvSpPr/>
          <p:nvPr/>
        </p:nvSpPr>
        <p:spPr>
          <a:xfrm>
            <a:off x="566928" y="1783080"/>
            <a:ext cx="11055096" cy="1417320"/>
          </a:xfrm>
          <a:prstGeom prst="roundRect">
            <a:avLst>
              <a:gd name="adj" fmla="val 5806"/>
            </a:avLst>
          </a:prstGeom>
          <a:solidFill>
            <a:srgbClr val="1B2432"/>
          </a:solidFill>
          <a:ln w="9525">
            <a:solidFill>
              <a:srgbClr val="232D3D"/>
            </a:solidFill>
            <a:prstDash val="solid"/>
          </a:ln>
        </p:spPr>
      </p:sp>
      <p:sp>
        <p:nvSpPr>
          <p:cNvPr id="5" name="Text 3"/>
          <p:cNvSpPr/>
          <p:nvPr/>
        </p:nvSpPr>
        <p:spPr>
          <a:xfrm>
            <a:off x="795528" y="1938528"/>
            <a:ext cx="10607040" cy="1143000"/>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git clone &lt;repo&gt; &amp;&amp; cd ripwire</a:t>
            </a:r>
            <a:endParaRPr lang="en-US" sz="1350" dirty="0"/>
          </a:p>
          <a:p>
            <a:pPr indent="0" marL="0">
              <a:buNone/>
            </a:pPr>
            <a:r>
              <a:rPr lang="en-US" sz="1350" dirty="0">
                <a:solidFill>
                  <a:srgbClr val="E6EDF3"/>
                </a:solidFill>
                <a:latin typeface="Courier New" pitchFamily="34" charset="0"/>
                <a:ea typeface="Courier New" pitchFamily="34" charset="-122"/>
                <a:cs typeface="Courier New" pitchFamily="34" charset="-120"/>
              </a:rPr>
              <a:t>cmake -S . -B build &amp;&amp; cmake --build build -j     # hermetic: works with the network off</a:t>
            </a:r>
            <a:endParaRPr lang="en-US" sz="1350" dirty="0"/>
          </a:p>
          <a:p>
            <a:pPr indent="0" marL="0">
              <a:buNone/>
            </a:pPr>
            <a:r>
              <a:rPr lang="en-US" sz="1350" dirty="0">
                <a:solidFill>
                  <a:srgbClr val="E6EDF3"/>
                </a:solidFill>
                <a:latin typeface="Courier New" pitchFamily="34" charset="0"/>
                <a:ea typeface="Courier New" pitchFamily="34" charset="-122"/>
                <a:cs typeface="Courier New" pitchFamily="34" charset="-120"/>
              </a:rPr>
              <a:t>./build/ripwire --help</a:t>
            </a:r>
            <a:endParaRPr lang="en-US" sz="1350" dirty="0"/>
          </a:p>
        </p:txBody>
      </p:sp>
      <p:sp>
        <p:nvSpPr>
          <p:cNvPr id="6" name="Shape 4"/>
          <p:cNvSpPr/>
          <p:nvPr/>
        </p:nvSpPr>
        <p:spPr>
          <a:xfrm>
            <a:off x="566928" y="3401568"/>
            <a:ext cx="5212080" cy="420624"/>
          </a:xfrm>
          <a:prstGeom prst="roundRect">
            <a:avLst>
              <a:gd name="adj" fmla="val 13043"/>
            </a:avLst>
          </a:prstGeom>
          <a:solidFill>
            <a:srgbClr val="1B2432"/>
          </a:solidFill>
          <a:ln w="9525">
            <a:solidFill>
              <a:srgbClr val="2A3547"/>
            </a:solidFill>
            <a:prstDash val="solid"/>
          </a:ln>
        </p:spPr>
      </p:sp>
      <p:sp>
        <p:nvSpPr>
          <p:cNvPr id="7" name="Text 5"/>
          <p:cNvSpPr/>
          <p:nvPr/>
        </p:nvSpPr>
        <p:spPr>
          <a:xfrm>
            <a:off x="621792" y="3401568"/>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a:t>
            </a:r>
            <a:endParaRPr lang="en-US" sz="1200" dirty="0"/>
          </a:p>
        </p:txBody>
      </p:sp>
      <p:sp>
        <p:nvSpPr>
          <p:cNvPr id="8" name="Text 6"/>
          <p:cNvSpPr/>
          <p:nvPr/>
        </p:nvSpPr>
        <p:spPr>
          <a:xfrm>
            <a:off x="5989320" y="3401568"/>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ranked map — start here on any unfamiliar repo</a:t>
            </a:r>
            <a:endParaRPr lang="en-US" sz="1150" dirty="0"/>
          </a:p>
        </p:txBody>
      </p:sp>
      <p:sp>
        <p:nvSpPr>
          <p:cNvPr id="9" name="Shape 7"/>
          <p:cNvSpPr/>
          <p:nvPr/>
        </p:nvSpPr>
        <p:spPr>
          <a:xfrm>
            <a:off x="566928" y="3895344"/>
            <a:ext cx="5212080" cy="420624"/>
          </a:xfrm>
          <a:prstGeom prst="roundRect">
            <a:avLst>
              <a:gd name="adj" fmla="val 13043"/>
            </a:avLst>
          </a:prstGeom>
          <a:solidFill>
            <a:srgbClr val="1B2432"/>
          </a:solidFill>
          <a:ln w="9525">
            <a:solidFill>
              <a:srgbClr val="2A3547"/>
            </a:solidFill>
            <a:prstDash val="solid"/>
          </a:ln>
        </p:spPr>
      </p:sp>
      <p:sp>
        <p:nvSpPr>
          <p:cNvPr id="10" name="Text 8"/>
          <p:cNvSpPr/>
          <p:nvPr/>
        </p:nvSpPr>
        <p:spPr>
          <a:xfrm>
            <a:off x="621792" y="3895344"/>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--for="cache invalidation"</a:t>
            </a:r>
            <a:endParaRPr lang="en-US" sz="1200" dirty="0"/>
          </a:p>
        </p:txBody>
      </p:sp>
      <p:sp>
        <p:nvSpPr>
          <p:cNvPr id="11" name="Text 9"/>
          <p:cNvSpPr/>
          <p:nvPr/>
        </p:nvSpPr>
        <p:spPr>
          <a:xfrm>
            <a:off x="5989320" y="3895344"/>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task lens: what to touch, ranked</a:t>
            </a:r>
            <a:endParaRPr lang="en-US" sz="1150" dirty="0"/>
          </a:p>
        </p:txBody>
      </p:sp>
      <p:sp>
        <p:nvSpPr>
          <p:cNvPr id="12" name="Shape 10"/>
          <p:cNvSpPr/>
          <p:nvPr/>
        </p:nvSpPr>
        <p:spPr>
          <a:xfrm>
            <a:off x="566928" y="4389120"/>
            <a:ext cx="5212080" cy="420624"/>
          </a:xfrm>
          <a:prstGeom prst="roundRect">
            <a:avLst>
              <a:gd name="adj" fmla="val 13043"/>
            </a:avLst>
          </a:prstGeom>
          <a:solidFill>
            <a:srgbClr val="1B2432"/>
          </a:solidFill>
          <a:ln w="9525">
            <a:solidFill>
              <a:srgbClr val="2A3547"/>
            </a:solidFill>
            <a:prstDash val="solid"/>
          </a:ln>
        </p:spPr>
      </p:sp>
      <p:sp>
        <p:nvSpPr>
          <p:cNvPr id="13" name="Text 11"/>
          <p:cNvSpPr/>
          <p:nvPr/>
        </p:nvSpPr>
        <p:spPr>
          <a:xfrm>
            <a:off x="621792" y="4389120"/>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--callers=someFunction</a:t>
            </a:r>
            <a:endParaRPr lang="en-US" sz="1200" dirty="0"/>
          </a:p>
        </p:txBody>
      </p:sp>
      <p:sp>
        <p:nvSpPr>
          <p:cNvPr id="14" name="Text 12"/>
          <p:cNvSpPr/>
          <p:nvPr/>
        </p:nvSpPr>
        <p:spPr>
          <a:xfrm>
            <a:off x="5989320" y="4389120"/>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who calls it — with the honesty marker attached</a:t>
            </a:r>
            <a:endParaRPr lang="en-US" sz="1150" dirty="0"/>
          </a:p>
        </p:txBody>
      </p:sp>
      <p:sp>
        <p:nvSpPr>
          <p:cNvPr id="15" name="Shape 13"/>
          <p:cNvSpPr/>
          <p:nvPr/>
        </p:nvSpPr>
        <p:spPr>
          <a:xfrm>
            <a:off x="566928" y="4882896"/>
            <a:ext cx="5212080" cy="420624"/>
          </a:xfrm>
          <a:prstGeom prst="roundRect">
            <a:avLst>
              <a:gd name="adj" fmla="val 13043"/>
            </a:avLst>
          </a:prstGeom>
          <a:solidFill>
            <a:srgbClr val="1B2432"/>
          </a:solidFill>
          <a:ln w="9525">
            <a:solidFill>
              <a:srgbClr val="2A3547"/>
            </a:solidFill>
            <a:prstDash val="solid"/>
          </a:ln>
        </p:spPr>
      </p:sp>
      <p:sp>
        <p:nvSpPr>
          <p:cNvPr id="16" name="Text 14"/>
          <p:cNvSpPr/>
          <p:nvPr/>
        </p:nvSpPr>
        <p:spPr>
          <a:xfrm>
            <a:off x="621792" y="4882896"/>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--quality-panel</a:t>
            </a:r>
            <a:endParaRPr lang="en-US" sz="1200" dirty="0"/>
          </a:p>
        </p:txBody>
      </p:sp>
      <p:sp>
        <p:nvSpPr>
          <p:cNvPr id="17" name="Text 15"/>
          <p:cNvSpPr/>
          <p:nvPr/>
        </p:nvSpPr>
        <p:spPr>
          <a:xfrm>
            <a:off x="5989320" y="4882896"/>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is this code actually rotten? six families, one shortlist</a:t>
            </a:r>
            <a:endParaRPr lang="en-US" sz="1150" dirty="0"/>
          </a:p>
        </p:txBody>
      </p:sp>
      <p:sp>
        <p:nvSpPr>
          <p:cNvPr id="18" name="Shape 16"/>
          <p:cNvSpPr/>
          <p:nvPr/>
        </p:nvSpPr>
        <p:spPr>
          <a:xfrm>
            <a:off x="566928" y="5376672"/>
            <a:ext cx="5212080" cy="420624"/>
          </a:xfrm>
          <a:prstGeom prst="roundRect">
            <a:avLst>
              <a:gd name="adj" fmla="val 13043"/>
            </a:avLst>
          </a:prstGeom>
          <a:solidFill>
            <a:srgbClr val="1B2432"/>
          </a:solidFill>
          <a:ln w="9525">
            <a:solidFill>
              <a:srgbClr val="2A3547"/>
            </a:solidFill>
            <a:prstDash val="solid"/>
          </a:ln>
        </p:spPr>
      </p:sp>
      <p:sp>
        <p:nvSpPr>
          <p:cNvPr id="19" name="Text 17"/>
          <p:cNvSpPr/>
          <p:nvPr/>
        </p:nvSpPr>
        <p:spPr>
          <a:xfrm>
            <a:off x="621792" y="5376672"/>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--test-gate</a:t>
            </a:r>
            <a:endParaRPr lang="en-US" sz="1200" dirty="0"/>
          </a:p>
        </p:txBody>
      </p:sp>
      <p:sp>
        <p:nvSpPr>
          <p:cNvPr id="20" name="Text 18"/>
          <p:cNvSpPr/>
          <p:nvPr/>
        </p:nvSpPr>
        <p:spPr>
          <a:xfrm>
            <a:off x="5989320" y="5376672"/>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before you commit: exactly which tests must run</a:t>
            </a:r>
            <a:endParaRPr lang="en-US" sz="1150" dirty="0"/>
          </a:p>
        </p:txBody>
      </p:sp>
      <p:sp>
        <p:nvSpPr>
          <p:cNvPr id="21" name="Shape 19"/>
          <p:cNvSpPr/>
          <p:nvPr/>
        </p:nvSpPr>
        <p:spPr>
          <a:xfrm>
            <a:off x="566928" y="5870448"/>
            <a:ext cx="5212080" cy="420624"/>
          </a:xfrm>
          <a:prstGeom prst="roundRect">
            <a:avLst>
              <a:gd name="adj" fmla="val 13043"/>
            </a:avLst>
          </a:prstGeom>
          <a:solidFill>
            <a:srgbClr val="1B2432"/>
          </a:solidFill>
          <a:ln w="9525">
            <a:solidFill>
              <a:srgbClr val="2A3547"/>
            </a:solidFill>
            <a:prstDash val="solid"/>
          </a:ln>
        </p:spPr>
      </p:sp>
      <p:sp>
        <p:nvSpPr>
          <p:cNvPr id="22" name="Text 20"/>
          <p:cNvSpPr/>
          <p:nvPr/>
        </p:nvSpPr>
        <p:spPr>
          <a:xfrm>
            <a:off x="621792" y="5870448"/>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wrap claude</a:t>
            </a:r>
            <a:endParaRPr lang="en-US" sz="1200" dirty="0"/>
          </a:p>
        </p:txBody>
      </p:sp>
      <p:sp>
        <p:nvSpPr>
          <p:cNvPr id="23" name="Text 21"/>
          <p:cNvSpPr/>
          <p:nvPr/>
        </p:nvSpPr>
        <p:spPr>
          <a:xfrm>
            <a:off x="5989320" y="5870448"/>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wire it into your agent, in that agent's own config shape</a:t>
            </a:r>
            <a:endParaRPr lang="en-US" sz="1150" dirty="0"/>
          </a:p>
        </p:txBody>
      </p:sp>
      <p:sp>
        <p:nvSpPr>
          <p:cNvPr id="24" name="Text 22"/>
          <p:cNvSpPr/>
          <p:nvPr/>
        </p:nvSpPr>
        <p:spPr>
          <a:xfrm>
            <a:off x="566928" y="6400800"/>
            <a:ext cx="10972800" cy="411480"/>
          </a:xfrm>
          <a:prstGeom prst="rect">
            <a:avLst/>
          </a:prstGeom>
          <a:noFill/>
          <a:ln/>
        </p:spPr>
        <p:txBody>
          <a:bodyPr wrap="square" lIns="0" tIns="0" rIns="0" bIns="0" rtlCol="0" anchor="ctr"/>
          <a:lstStyle/>
          <a:p>
            <a:pPr indent="0" marL="0">
              <a:buNone/>
            </a:pPr>
            <a:r>
              <a:rPr lang="en-US" sz="1600" b="1" dirty="0">
                <a:solidFill>
                  <a:srgbClr val="56D6E8"/>
                </a:solidFill>
                <a:latin typeface="Arial" pitchFamily="34" charset="0"/>
                <a:ea typeface="Arial" pitchFamily="34" charset="-122"/>
                <a:cs typeface="Arial" pitchFamily="34" charset="-120"/>
              </a:rPr>
              <a:t>ripgrep</a:t>
            </a:r>
            <a:pPr indent="0" marL="0">
              <a:buNone/>
            </a:pPr>
            <a:r>
              <a:rPr lang="en-US" sz="1600" dirty="0">
                <a:solidFill>
                  <a:srgbClr val="E6EDF3"/>
                </a:solidFill>
                <a:latin typeface="Arial" pitchFamily="34" charset="0"/>
                <a:ea typeface="Arial" pitchFamily="34" charset="-122"/>
                <a:cs typeface="Arial" pitchFamily="34" charset="-120"/>
              </a:rPr>
              <a:t> for the speed. </a:t>
            </a:r>
            <a:pPr indent="0" marL="0">
              <a:buNone/>
            </a:pPr>
            <a:r>
              <a:rPr lang="en-US" sz="1600" b="1" dirty="0">
                <a:solidFill>
                  <a:srgbClr val="F2B84B"/>
                </a:solidFill>
                <a:latin typeface="Arial" pitchFamily="34" charset="0"/>
                <a:ea typeface="Arial" pitchFamily="34" charset="-122"/>
                <a:cs typeface="Arial" pitchFamily="34" charset="-120"/>
              </a:rPr>
              <a:t>tripwire</a:t>
            </a:r>
            <a:pPr indent="0" marL="0">
              <a:buNone/>
            </a:pPr>
            <a:r>
              <a:rPr lang="en-US" sz="1600" dirty="0">
                <a:solidFill>
                  <a:srgbClr val="E6EDF3"/>
                </a:solidFill>
                <a:latin typeface="Arial" pitchFamily="34" charset="0"/>
                <a:ea typeface="Arial" pitchFamily="34" charset="-122"/>
                <a:cs typeface="Arial" pitchFamily="34" charset="-120"/>
              </a:rPr>
              <a:t> for the honesty. Apache-2.0.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2026-09-11T11:04:12Z</dcterms:created>
  <dcterms:modified xsi:type="dcterms:W3CDTF">2026-09-11T11:04:12Z</dcterms:modified>
</cp:coreProperties>
</file>