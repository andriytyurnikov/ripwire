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pending merge: #126, which vendors the Kotlin grammar (PR #126 body: "vendored fwcd/tree-sitter-kotlin grammar"). Without #126 the count is 23.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pending merge: #126 (PR body: "Adds Kotlin (.kt) language support: vendored fwcd/tree-sitter-kotlin grammar"). Without #126: 23 (commit 680a0a3d) and no Kotlin.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766913d0. Merge dates read with gh: #83 2026-09-09, #92 2026-09-10, #106 (merge commit 6f91fed2) 2026-09-10, #127 and #134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pending merge: #126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pending with it.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PENDING MERGE: #135, #136, #126. This whole slide comes from its own commit. Keep it only once all three PRs have landed (or drop the card whose PR missed the release), and re-check every figure below against the merged PR.
ONE MISSING SEMICOLON — pending merge: #135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22% DECLINED IN SILENCE — pending merge: #136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 NEW LANGUAGE MUST NOT CHANGE OLD ANSWERS — pending merge: #126 (Kotlin; PR author xCatG):
- Commit 201ca038: “the PR #126 review found the decline on retrofit, where Response.body's callers fell from 279 to 5 once same-named Kotlin body() methods were indexed. That number belongs to #126's Kotlin binary.”
- The draft 0.6.0 CHANGELOG, from the coordinator's brief on the maintainer fixes: “retrofit, a mixed Java and Kotlin tree: Response.java:body keeps its 279 callers”; “a call reaches the other JVM language only when its own language has no candidate”; “Gate: test/kotlincheck.sh, written red first: 28 of its 48 arms fail on main.”
- The coordinator's brief for this deck: “fixed back to 279, with the invariant that adding .kt never changes a Java-only edge”.
- PR #126 body: “a JVM interop bridge that resolves Kotlin↔Java calls bidirectionally”.
- CAVEAT: PR #126's head (1e21943a) body does not carry the 279 figures or the 28-of-48 count; re-verify them on the merged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 no example is shown on purpose.
The examples come from docs/QUALITY_DELTA_CATALOG.md, which a separate lane is writing with real, reproduced findings. It is not in the tree as of main 766913d0.
To fill: add 3 to 6 { kind, finding, before, after, why } entries to QD_EXAMPLES at the top of present/deck5_ripwire_build.js, copied from the catalog, then rebuild. The notes list each entry against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pending merge: #126 (PR body: "vendored fwcd/tree-sitter-kotlin grammar"). Without #126 the count is 23 (commit 680a0a3d).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Users/qgames/AppDevelopLocal/project2/ripwire/.claude/worktrees/agent-a667d452e2d8f5276/present/assets/paddle-out.png">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101 hits over 625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14 of the 31 rules that fired contribute ZERO shown rows — 368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Linux binaries now need an x86-64-v3 (AVX2-class) CPU, RHEL 10's own floor; arm64 uses NEON (#127)</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Rip'n Fast, at scale — llvm-project, 182,555 files, as the instrument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Kotlin gate was written red first.</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 28 of 48 arms red on main</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per-instance JSONL and recipe committed · replaces the two non-comparable tables r1 and r2 needed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files=153 symbols=5122 edges=14182 ambiguous=5982 unresolved=1598.</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598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598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examples from docs/QUALITY_DELTA_CATALOG.md — each one reproduced, none invented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--quality-delta catches</a:t>
            </a:r>
            <a:endParaRPr lang="en-US" sz="3200" dirty="0"/>
          </a:p>
        </p:txBody>
      </p:sp>
      <p:sp>
        <p:nvSpPr>
          <p:cNvPr id="4" name="Shape 2"/>
          <p:cNvSpPr/>
          <p:nvPr/>
        </p:nvSpPr>
        <p:spPr>
          <a:xfrm>
            <a:off x="566928" y="1591056"/>
            <a:ext cx="11055096" cy="1463040"/>
          </a:xfrm>
          <a:prstGeom prst="roundRect">
            <a:avLst>
              <a:gd name="adj" fmla="val 5625"/>
            </a:avLst>
          </a:prstGeom>
          <a:solidFill>
            <a:srgbClr val="161D28"/>
          </a:solidFill>
          <a:ln w="12700">
            <a:solidFill>
              <a:srgbClr val="3A4353"/>
            </a:solidFill>
            <a:prstDash val="dash"/>
          </a:ln>
        </p:spPr>
      </p:sp>
      <p:sp>
        <p:nvSpPr>
          <p:cNvPr id="5" name="Text 3"/>
          <p:cNvSpPr/>
          <p:nvPr/>
        </p:nvSpPr>
        <p:spPr>
          <a:xfrm>
            <a:off x="731520" y="1664208"/>
            <a:ext cx="2011680" cy="274320"/>
          </a:xfrm>
          <a:prstGeom prst="rect">
            <a:avLst/>
          </a:prstGeom>
          <a:noFill/>
          <a:ln/>
        </p:spPr>
        <p:txBody>
          <a:bodyPr wrap="square" lIns="0" tIns="0" rIns="0" bIns="0" rtlCol="0" anchor="ctr"/>
          <a:lstStyle/>
          <a:p>
            <a:pPr indent="0" marL="0">
              <a:buNone/>
            </a:pPr>
            <a:r>
              <a:rPr lang="en-US" sz="1100" b="1" dirty="0">
                <a:solidFill>
                  <a:srgbClr val="8B95A5"/>
                </a:solidFill>
                <a:latin typeface="Courier New" pitchFamily="34" charset="0"/>
                <a:ea typeface="Courier New" pitchFamily="34" charset="-122"/>
                <a:cs typeface="Courier New" pitchFamily="34" charset="-120"/>
              </a:rPr>
              <a:t>‹kind›</a:t>
            </a:r>
            <a:endParaRPr lang="en-US" sz="1100" dirty="0"/>
          </a:p>
        </p:txBody>
      </p:sp>
      <p:sp>
        <p:nvSpPr>
          <p:cNvPr id="6" name="Text 4"/>
          <p:cNvSpPr/>
          <p:nvPr/>
        </p:nvSpPr>
        <p:spPr>
          <a:xfrm>
            <a:off x="2807208" y="1664208"/>
            <a:ext cx="8650224" cy="2743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finding, as the tool prints it›</a:t>
            </a:r>
            <a:endParaRPr lang="en-US" sz="1050" dirty="0"/>
          </a:p>
        </p:txBody>
      </p:sp>
      <p:sp>
        <p:nvSpPr>
          <p:cNvPr id="7" name="Shape 5"/>
          <p:cNvSpPr/>
          <p:nvPr/>
        </p:nvSpPr>
        <p:spPr>
          <a:xfrm>
            <a:off x="731520" y="1993392"/>
            <a:ext cx="5308092" cy="676656"/>
          </a:xfrm>
          <a:prstGeom prst="rect">
            <a:avLst/>
          </a:prstGeom>
          <a:solidFill>
            <a:srgbClr val="0D1117"/>
          </a:solidFill>
          <a:ln w="6350">
            <a:solidFill>
              <a:srgbClr val="232D3D"/>
            </a:solidFill>
            <a:prstDash val="solid"/>
          </a:ln>
        </p:spPr>
      </p:sp>
      <p:sp>
        <p:nvSpPr>
          <p:cNvPr id="8" name="Text 6"/>
          <p:cNvSpPr/>
          <p:nvPr/>
        </p:nvSpPr>
        <p:spPr>
          <a:xfrm>
            <a:off x="804672" y="2020824"/>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before</a:t>
            </a:r>
            <a:endParaRPr lang="en-US" sz="800" dirty="0"/>
          </a:p>
        </p:txBody>
      </p:sp>
      <p:sp>
        <p:nvSpPr>
          <p:cNvPr id="9" name="Text 7"/>
          <p:cNvSpPr/>
          <p:nvPr/>
        </p:nvSpPr>
        <p:spPr>
          <a:xfrm>
            <a:off x="804672" y="2212848"/>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‹before›</a:t>
            </a:r>
            <a:endParaRPr lang="en-US" sz="950" dirty="0"/>
          </a:p>
        </p:txBody>
      </p:sp>
      <p:sp>
        <p:nvSpPr>
          <p:cNvPr id="10" name="Shape 8"/>
          <p:cNvSpPr/>
          <p:nvPr/>
        </p:nvSpPr>
        <p:spPr>
          <a:xfrm>
            <a:off x="6149340" y="1993392"/>
            <a:ext cx="5308092" cy="676656"/>
          </a:xfrm>
          <a:prstGeom prst="rect">
            <a:avLst/>
          </a:prstGeom>
          <a:solidFill>
            <a:srgbClr val="0D1117"/>
          </a:solidFill>
          <a:ln w="6350">
            <a:solidFill>
              <a:srgbClr val="232D3D"/>
            </a:solidFill>
            <a:prstDash val="solid"/>
          </a:ln>
        </p:spPr>
      </p:sp>
      <p:sp>
        <p:nvSpPr>
          <p:cNvPr id="11" name="Text 9"/>
          <p:cNvSpPr/>
          <p:nvPr/>
        </p:nvSpPr>
        <p:spPr>
          <a:xfrm>
            <a:off x="6222492" y="2020824"/>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after</a:t>
            </a:r>
            <a:endParaRPr lang="en-US" sz="800" dirty="0"/>
          </a:p>
        </p:txBody>
      </p:sp>
      <p:sp>
        <p:nvSpPr>
          <p:cNvPr id="12" name="Text 10"/>
          <p:cNvSpPr/>
          <p:nvPr/>
        </p:nvSpPr>
        <p:spPr>
          <a:xfrm>
            <a:off x="6222492" y="2212848"/>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‹after›</a:t>
            </a:r>
            <a:endParaRPr lang="en-US" sz="950" dirty="0"/>
          </a:p>
        </p:txBody>
      </p:sp>
      <p:sp>
        <p:nvSpPr>
          <p:cNvPr id="13" name="Text 11"/>
          <p:cNvSpPr/>
          <p:nvPr/>
        </p:nvSpPr>
        <p:spPr>
          <a:xfrm>
            <a:off x="731520" y="2706624"/>
            <a:ext cx="10725912" cy="292608"/>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‹why it matters, in one sentence›</a:t>
            </a:r>
            <a:endParaRPr lang="en-US" sz="950" dirty="0"/>
          </a:p>
        </p:txBody>
      </p:sp>
      <p:sp>
        <p:nvSpPr>
          <p:cNvPr id="14" name="Shape 12"/>
          <p:cNvSpPr/>
          <p:nvPr/>
        </p:nvSpPr>
        <p:spPr>
          <a:xfrm>
            <a:off x="566928" y="3182112"/>
            <a:ext cx="11055096" cy="1463040"/>
          </a:xfrm>
          <a:prstGeom prst="roundRect">
            <a:avLst>
              <a:gd name="adj" fmla="val 5625"/>
            </a:avLst>
          </a:prstGeom>
          <a:solidFill>
            <a:srgbClr val="161D28"/>
          </a:solidFill>
          <a:ln w="12700">
            <a:solidFill>
              <a:srgbClr val="3A4353"/>
            </a:solidFill>
            <a:prstDash val="dash"/>
          </a:ln>
        </p:spPr>
      </p:sp>
      <p:sp>
        <p:nvSpPr>
          <p:cNvPr id="15" name="Text 13"/>
          <p:cNvSpPr/>
          <p:nvPr/>
        </p:nvSpPr>
        <p:spPr>
          <a:xfrm>
            <a:off x="731520" y="3255264"/>
            <a:ext cx="2011680" cy="274320"/>
          </a:xfrm>
          <a:prstGeom prst="rect">
            <a:avLst/>
          </a:prstGeom>
          <a:noFill/>
          <a:ln/>
        </p:spPr>
        <p:txBody>
          <a:bodyPr wrap="square" lIns="0" tIns="0" rIns="0" bIns="0" rtlCol="0" anchor="ctr"/>
          <a:lstStyle/>
          <a:p>
            <a:pPr indent="0" marL="0">
              <a:buNone/>
            </a:pPr>
            <a:r>
              <a:rPr lang="en-US" sz="1100" b="1" dirty="0">
                <a:solidFill>
                  <a:srgbClr val="8B95A5"/>
                </a:solidFill>
                <a:latin typeface="Courier New" pitchFamily="34" charset="0"/>
                <a:ea typeface="Courier New" pitchFamily="34" charset="-122"/>
                <a:cs typeface="Courier New" pitchFamily="34" charset="-120"/>
              </a:rPr>
              <a:t>‹kind›</a:t>
            </a:r>
            <a:endParaRPr lang="en-US" sz="1100" dirty="0"/>
          </a:p>
        </p:txBody>
      </p:sp>
      <p:sp>
        <p:nvSpPr>
          <p:cNvPr id="16" name="Text 14"/>
          <p:cNvSpPr/>
          <p:nvPr/>
        </p:nvSpPr>
        <p:spPr>
          <a:xfrm>
            <a:off x="2807208" y="3255264"/>
            <a:ext cx="8650224" cy="2743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finding, as the tool prints it›</a:t>
            </a:r>
            <a:endParaRPr lang="en-US" sz="1050" dirty="0"/>
          </a:p>
        </p:txBody>
      </p:sp>
      <p:sp>
        <p:nvSpPr>
          <p:cNvPr id="17" name="Shape 15"/>
          <p:cNvSpPr/>
          <p:nvPr/>
        </p:nvSpPr>
        <p:spPr>
          <a:xfrm>
            <a:off x="731520" y="3584448"/>
            <a:ext cx="5308092" cy="676656"/>
          </a:xfrm>
          <a:prstGeom prst="rect">
            <a:avLst/>
          </a:prstGeom>
          <a:solidFill>
            <a:srgbClr val="0D1117"/>
          </a:solidFill>
          <a:ln w="6350">
            <a:solidFill>
              <a:srgbClr val="232D3D"/>
            </a:solidFill>
            <a:prstDash val="solid"/>
          </a:ln>
        </p:spPr>
      </p:sp>
      <p:sp>
        <p:nvSpPr>
          <p:cNvPr id="18" name="Text 16"/>
          <p:cNvSpPr/>
          <p:nvPr/>
        </p:nvSpPr>
        <p:spPr>
          <a:xfrm>
            <a:off x="804672" y="3611880"/>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before</a:t>
            </a:r>
            <a:endParaRPr lang="en-US" sz="800" dirty="0"/>
          </a:p>
        </p:txBody>
      </p:sp>
      <p:sp>
        <p:nvSpPr>
          <p:cNvPr id="19" name="Text 17"/>
          <p:cNvSpPr/>
          <p:nvPr/>
        </p:nvSpPr>
        <p:spPr>
          <a:xfrm>
            <a:off x="804672" y="3803904"/>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‹before›</a:t>
            </a:r>
            <a:endParaRPr lang="en-US" sz="950" dirty="0"/>
          </a:p>
        </p:txBody>
      </p:sp>
      <p:sp>
        <p:nvSpPr>
          <p:cNvPr id="20" name="Shape 18"/>
          <p:cNvSpPr/>
          <p:nvPr/>
        </p:nvSpPr>
        <p:spPr>
          <a:xfrm>
            <a:off x="6149340" y="3584448"/>
            <a:ext cx="5308092" cy="676656"/>
          </a:xfrm>
          <a:prstGeom prst="rect">
            <a:avLst/>
          </a:prstGeom>
          <a:solidFill>
            <a:srgbClr val="0D1117"/>
          </a:solidFill>
          <a:ln w="6350">
            <a:solidFill>
              <a:srgbClr val="232D3D"/>
            </a:solidFill>
            <a:prstDash val="solid"/>
          </a:ln>
        </p:spPr>
      </p:sp>
      <p:sp>
        <p:nvSpPr>
          <p:cNvPr id="21" name="Text 19"/>
          <p:cNvSpPr/>
          <p:nvPr/>
        </p:nvSpPr>
        <p:spPr>
          <a:xfrm>
            <a:off x="6222492" y="3611880"/>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after</a:t>
            </a:r>
            <a:endParaRPr lang="en-US" sz="800" dirty="0"/>
          </a:p>
        </p:txBody>
      </p:sp>
      <p:sp>
        <p:nvSpPr>
          <p:cNvPr id="22" name="Text 20"/>
          <p:cNvSpPr/>
          <p:nvPr/>
        </p:nvSpPr>
        <p:spPr>
          <a:xfrm>
            <a:off x="6222492" y="3803904"/>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‹after›</a:t>
            </a:r>
            <a:endParaRPr lang="en-US" sz="950" dirty="0"/>
          </a:p>
        </p:txBody>
      </p:sp>
      <p:sp>
        <p:nvSpPr>
          <p:cNvPr id="23" name="Text 21"/>
          <p:cNvSpPr/>
          <p:nvPr/>
        </p:nvSpPr>
        <p:spPr>
          <a:xfrm>
            <a:off x="731520" y="4297680"/>
            <a:ext cx="10725912" cy="292608"/>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‹why it matters, in one sentence›</a:t>
            </a:r>
            <a:endParaRPr lang="en-US" sz="950" dirty="0"/>
          </a:p>
        </p:txBody>
      </p:sp>
      <p:sp>
        <p:nvSpPr>
          <p:cNvPr id="24" name="Shape 22"/>
          <p:cNvSpPr/>
          <p:nvPr/>
        </p:nvSpPr>
        <p:spPr>
          <a:xfrm>
            <a:off x="566928" y="4773168"/>
            <a:ext cx="11055096" cy="1463040"/>
          </a:xfrm>
          <a:prstGeom prst="roundRect">
            <a:avLst>
              <a:gd name="adj" fmla="val 5625"/>
            </a:avLst>
          </a:prstGeom>
          <a:solidFill>
            <a:srgbClr val="161D28"/>
          </a:solidFill>
          <a:ln w="12700">
            <a:solidFill>
              <a:srgbClr val="3A4353"/>
            </a:solidFill>
            <a:prstDash val="dash"/>
          </a:ln>
        </p:spPr>
      </p:sp>
      <p:sp>
        <p:nvSpPr>
          <p:cNvPr id="25" name="Text 23"/>
          <p:cNvSpPr/>
          <p:nvPr/>
        </p:nvSpPr>
        <p:spPr>
          <a:xfrm>
            <a:off x="731520" y="4846320"/>
            <a:ext cx="2011680" cy="274320"/>
          </a:xfrm>
          <a:prstGeom prst="rect">
            <a:avLst/>
          </a:prstGeom>
          <a:noFill/>
          <a:ln/>
        </p:spPr>
        <p:txBody>
          <a:bodyPr wrap="square" lIns="0" tIns="0" rIns="0" bIns="0" rtlCol="0" anchor="ctr"/>
          <a:lstStyle/>
          <a:p>
            <a:pPr indent="0" marL="0">
              <a:buNone/>
            </a:pPr>
            <a:r>
              <a:rPr lang="en-US" sz="1100" b="1" dirty="0">
                <a:solidFill>
                  <a:srgbClr val="8B95A5"/>
                </a:solidFill>
                <a:latin typeface="Courier New" pitchFamily="34" charset="0"/>
                <a:ea typeface="Courier New" pitchFamily="34" charset="-122"/>
                <a:cs typeface="Courier New" pitchFamily="34" charset="-120"/>
              </a:rPr>
              <a:t>‹kind›</a:t>
            </a:r>
            <a:endParaRPr lang="en-US" sz="1100" dirty="0"/>
          </a:p>
        </p:txBody>
      </p:sp>
      <p:sp>
        <p:nvSpPr>
          <p:cNvPr id="26" name="Text 24"/>
          <p:cNvSpPr/>
          <p:nvPr/>
        </p:nvSpPr>
        <p:spPr>
          <a:xfrm>
            <a:off x="2807208" y="4846320"/>
            <a:ext cx="8650224" cy="2743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finding, as the tool prints it›</a:t>
            </a:r>
            <a:endParaRPr lang="en-US" sz="1050" dirty="0"/>
          </a:p>
        </p:txBody>
      </p:sp>
      <p:sp>
        <p:nvSpPr>
          <p:cNvPr id="27" name="Shape 25"/>
          <p:cNvSpPr/>
          <p:nvPr/>
        </p:nvSpPr>
        <p:spPr>
          <a:xfrm>
            <a:off x="731520" y="5175504"/>
            <a:ext cx="5308092" cy="676656"/>
          </a:xfrm>
          <a:prstGeom prst="rect">
            <a:avLst/>
          </a:prstGeom>
          <a:solidFill>
            <a:srgbClr val="0D1117"/>
          </a:solidFill>
          <a:ln w="6350">
            <a:solidFill>
              <a:srgbClr val="232D3D"/>
            </a:solidFill>
            <a:prstDash val="solid"/>
          </a:ln>
        </p:spPr>
      </p:sp>
      <p:sp>
        <p:nvSpPr>
          <p:cNvPr id="28" name="Text 26"/>
          <p:cNvSpPr/>
          <p:nvPr/>
        </p:nvSpPr>
        <p:spPr>
          <a:xfrm>
            <a:off x="804672" y="5202936"/>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before</a:t>
            </a:r>
            <a:endParaRPr lang="en-US" sz="800" dirty="0"/>
          </a:p>
        </p:txBody>
      </p:sp>
      <p:sp>
        <p:nvSpPr>
          <p:cNvPr id="29" name="Text 27"/>
          <p:cNvSpPr/>
          <p:nvPr/>
        </p:nvSpPr>
        <p:spPr>
          <a:xfrm>
            <a:off x="804672" y="5394960"/>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‹before›</a:t>
            </a:r>
            <a:endParaRPr lang="en-US" sz="950" dirty="0"/>
          </a:p>
        </p:txBody>
      </p:sp>
      <p:sp>
        <p:nvSpPr>
          <p:cNvPr id="30" name="Shape 28"/>
          <p:cNvSpPr/>
          <p:nvPr/>
        </p:nvSpPr>
        <p:spPr>
          <a:xfrm>
            <a:off x="6149340" y="5175504"/>
            <a:ext cx="5308092" cy="676656"/>
          </a:xfrm>
          <a:prstGeom prst="rect">
            <a:avLst/>
          </a:prstGeom>
          <a:solidFill>
            <a:srgbClr val="0D1117"/>
          </a:solidFill>
          <a:ln w="6350">
            <a:solidFill>
              <a:srgbClr val="232D3D"/>
            </a:solidFill>
            <a:prstDash val="solid"/>
          </a:ln>
        </p:spPr>
      </p:sp>
      <p:sp>
        <p:nvSpPr>
          <p:cNvPr id="31" name="Text 29"/>
          <p:cNvSpPr/>
          <p:nvPr/>
        </p:nvSpPr>
        <p:spPr>
          <a:xfrm>
            <a:off x="6222492" y="5202936"/>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after</a:t>
            </a:r>
            <a:endParaRPr lang="en-US" sz="800" dirty="0"/>
          </a:p>
        </p:txBody>
      </p:sp>
      <p:sp>
        <p:nvSpPr>
          <p:cNvPr id="32" name="Text 30"/>
          <p:cNvSpPr/>
          <p:nvPr/>
        </p:nvSpPr>
        <p:spPr>
          <a:xfrm>
            <a:off x="6222492" y="5394960"/>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‹after›</a:t>
            </a:r>
            <a:endParaRPr lang="en-US" sz="950" dirty="0"/>
          </a:p>
        </p:txBody>
      </p:sp>
      <p:sp>
        <p:nvSpPr>
          <p:cNvPr id="33" name="Text 31"/>
          <p:cNvSpPr/>
          <p:nvPr/>
        </p:nvSpPr>
        <p:spPr>
          <a:xfrm>
            <a:off x="731520" y="5888736"/>
            <a:ext cx="10725912" cy="292608"/>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‹why it matters, in one sentence›</a:t>
            </a:r>
            <a:endParaRPr lang="en-US" sz="950" dirty="0"/>
          </a:p>
        </p:txBody>
      </p:sp>
      <p:sp>
        <p:nvSpPr>
          <p:cNvPr id="34" name="Shape 32"/>
          <p:cNvSpPr/>
          <p:nvPr/>
        </p:nvSpPr>
        <p:spPr>
          <a:xfrm>
            <a:off x="9793224" y="347472"/>
            <a:ext cx="1828800" cy="329184"/>
          </a:xfrm>
          <a:prstGeom prst="roundRect">
            <a:avLst>
              <a:gd name="adj" fmla="val 16667"/>
            </a:avLst>
          </a:prstGeom>
          <a:solidFill>
            <a:srgbClr val="1B2432"/>
          </a:solidFill>
          <a:ln w="9525">
            <a:solidFill>
              <a:srgbClr val="F2B84B"/>
            </a:solidFill>
            <a:prstDash val="solid"/>
          </a:ln>
        </p:spPr>
      </p:sp>
      <p:sp>
        <p:nvSpPr>
          <p:cNvPr id="35" name="Text 33"/>
          <p:cNvSpPr/>
          <p:nvPr/>
        </p:nvSpPr>
        <p:spPr>
          <a:xfrm>
            <a:off x="9848088" y="347472"/>
            <a:ext cx="1719072" cy="329184"/>
          </a:xfrm>
          <a:prstGeom prst="rect">
            <a:avLst/>
          </a:prstGeom>
          <a:noFill/>
          <a:ln/>
        </p:spPr>
        <p:txBody>
          <a:bodyPr wrap="square" lIns="508" tIns="508" rIns="508" bIns="508" rtlCol="0" anchor="ctr"/>
          <a:lstStyle/>
          <a:p>
            <a:pPr indent="0" marL="0">
              <a:buNone/>
            </a:pPr>
            <a:r>
              <a:rPr lang="en-US" sz="1200" dirty="0">
                <a:solidFill>
                  <a:srgbClr val="F2B84B"/>
                </a:solidFill>
                <a:latin typeface="Courier New" pitchFamily="34" charset="0"/>
                <a:ea typeface="Courier New" pitchFamily="34" charset="-122"/>
                <a:cs typeface="Courier New" pitchFamily="34" charset="-120"/>
              </a:rPr>
              <a:t>PLACEHOLDER</a:t>
            </a:r>
            <a:endParaRPr lang="en-US" sz="120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placeholder: the examples arrive as data (QD_EXAMPLES, top of the generator) once docs/QUALITY_DELTA_CATALOG.md lands</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11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598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2026-09-11T11:05:45Z</dcterms:created>
  <dcterms:modified xsi:type="dcterms:W3CDTF">2026-09-11T11:05:45Z</dcterms:modified>
</cp:coreProperties>
</file>